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68" r:id="rId3"/>
    <p:sldId id="257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92" r:id="rId27"/>
    <p:sldId id="293" r:id="rId28"/>
    <p:sldId id="294" r:id="rId29"/>
    <p:sldId id="26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305E6E-EFAD-40B8-B5CF-FE77AB0CD039}" type="datetimeFigureOut">
              <a:rPr lang="en-US" smtClean="0"/>
              <a:t>10/25/2013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B17F9-3E82-4D06-BF03-62817CE263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071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microsoft.com/download/en/details.aspx?id=3138" TargetMode="External"/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B17F9-3E82-4D06-BF03-62817CE2635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181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684DED-5266-4B57-9C66-2CD0E5997321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914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8551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867264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734279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10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1859132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262367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12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731538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13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471567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 dirty="0" smtClean="0"/>
          </a:p>
          <a:p>
            <a:r>
              <a:rPr lang="nl-BE" dirty="0" smtClean="0"/>
              <a:t>Feature of SSRS</a:t>
            </a:r>
            <a:r>
              <a:rPr lang="nl-BE" baseline="0" dirty="0" smtClean="0"/>
              <a:t> , not a feature from SharePoint</a:t>
            </a:r>
            <a:endParaRPr lang="nl-BE" dirty="0" smtClean="0"/>
          </a:p>
          <a:p>
            <a:r>
              <a:rPr lang="nl-BE" dirty="0" smtClean="0"/>
              <a:t>Who has worked with SharePoint 2013 in combination</a:t>
            </a:r>
            <a:r>
              <a:rPr lang="nl-BE" baseline="0" dirty="0" smtClean="0"/>
              <a:t> with Reporting services ?</a:t>
            </a:r>
            <a:endParaRPr lang="nl-BE" dirty="0" smtClean="0"/>
          </a:p>
          <a:p>
            <a:r>
              <a:rPr lang="nl-BE" dirty="0" smtClean="0"/>
              <a:t>Who</a:t>
            </a:r>
            <a:r>
              <a:rPr lang="nl-BE" baseline="0" dirty="0" smtClean="0"/>
              <a:t> has worked with SharePoint 2010  in combination with Reporting services ?</a:t>
            </a:r>
          </a:p>
          <a:p>
            <a:r>
              <a:rPr lang="nl-BE" baseline="0" dirty="0" smtClean="0"/>
              <a:t>Who has used the Data driven subscription feature ?</a:t>
            </a:r>
          </a:p>
          <a:p>
            <a:r>
              <a:rPr lang="nl-BE" baseline="0" dirty="0" smtClean="0"/>
              <a:t>Who has worked with sql server data tools in visual studio 2012 ?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646965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24700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12854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854065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19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784187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20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54563493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21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355871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order to render the Reporting Services reports, we will need to call the Reporting Services web service from a SSIS Script task. In order to do that, we’ll need to use a proxy class. We can just generate one using the WSDL.EXE generation tool available from </a:t>
            </a:r>
            <a:r>
              <a:rPr lang="en-US" dirty="0" smtClean="0">
                <a:hlinkClick r:id="rId3"/>
              </a:rPr>
              <a:t> </a:t>
            </a:r>
            <a:r>
              <a:rPr lang="en-US" dirty="0" err="1" smtClean="0">
                <a:hlinkClick r:id="rId3"/>
              </a:rPr>
              <a:t>.Net</a:t>
            </a:r>
            <a:r>
              <a:rPr lang="en-US" dirty="0" smtClean="0">
                <a:hlinkClick r:id="rId3"/>
              </a:rPr>
              <a:t> 3.5 SDK</a:t>
            </a:r>
            <a:r>
              <a:rPr lang="en-US" dirty="0" smtClean="0"/>
              <a:t>. </a:t>
            </a:r>
            <a:endParaRPr lang="nl-B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23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646829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24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7067064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26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5365581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5E7984-4F72-476A-A8F0-EC85B7D06E06}" type="slidenum">
              <a:rPr lang="sv-SE" smtClean="0"/>
              <a:t>27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6045999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7B17F9-3E82-4D06-BF03-62817CE2635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351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7547"/>
            <a:ext cx="9143999" cy="675860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8408" y="516685"/>
            <a:ext cx="8203153" cy="1470025"/>
          </a:xfrm>
        </p:spPr>
        <p:txBody>
          <a:bodyPr>
            <a:normAutofit/>
          </a:bodyPr>
          <a:lstStyle>
            <a:lvl1pPr algn="l"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8408" y="1907341"/>
            <a:ext cx="7925349" cy="1752600"/>
          </a:xfrm>
        </p:spPr>
        <p:txBody>
          <a:bodyPr>
            <a:normAutofit/>
          </a:bodyPr>
          <a:lstStyle>
            <a:lvl1pPr marL="0" indent="0" algn="l">
              <a:buNone/>
              <a:defRPr sz="30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199" y="6197614"/>
            <a:ext cx="773079" cy="36512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10/25/2013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50847" y="6197614"/>
            <a:ext cx="2895600" cy="365125"/>
          </a:xfrm>
        </p:spPr>
        <p:txBody>
          <a:bodyPr/>
          <a:lstStyle>
            <a:lvl1pPr algn="l">
              <a:defRPr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pic>
        <p:nvPicPr>
          <p:cNvPr id="2050" name="Picture 2" descr="C:\Users\dpetev\AppData\Local\Microsoft\Windows\Temporary Internet Files\Content.Outlook\BVKCXYVX\sqlsat199_web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5649926"/>
            <a:ext cx="2247900" cy="1095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0730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2900" indent="-342900">
              <a:buFont typeface="Wingdings" charset="2"/>
              <a:buChar char="§"/>
              <a:defRPr>
                <a:solidFill>
                  <a:schemeClr val="tx2"/>
                </a:solidFill>
              </a:defRPr>
            </a:lvl1pPr>
            <a:lvl2pPr marL="742950" indent="-285750">
              <a:buFont typeface="Wingdings" charset="2"/>
              <a:buChar char="§"/>
              <a:defRPr>
                <a:solidFill>
                  <a:srgbClr val="474947"/>
                </a:solidFill>
              </a:defRPr>
            </a:lvl2pPr>
            <a:lvl3pPr marL="11430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3pPr>
            <a:lvl4pPr marL="16002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4pPr>
            <a:lvl5pPr marL="2057400" indent="-228600">
              <a:buFont typeface="Wingdings" charset="2"/>
              <a:buChar char="§"/>
              <a:defRPr>
                <a:solidFill>
                  <a:srgbClr val="4749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10/25/2013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cxnSp>
        <p:nvCxnSpPr>
          <p:cNvPr id="17" name="Straight Connector 16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5140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0" i="0" cap="all">
                <a:latin typeface="Arial"/>
                <a:cs typeface="Arial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10/25/2013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96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10/25/2013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cxnSp>
        <p:nvCxnSpPr>
          <p:cNvPr id="19" name="Straight Connector 18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2983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10/25/2013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cxnSp>
        <p:nvCxnSpPr>
          <p:cNvPr id="18" name="Straight Connector 17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1226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10/25/2013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215377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10/25/2013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986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000"/>
            </a:lvl1pPr>
            <a:lvl2pPr>
              <a:defRPr sz="2600"/>
            </a:lvl2pPr>
            <a:lvl3pPr>
              <a:defRPr sz="22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10/25/2013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09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10/25/2013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1243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42B21B-2ADA-A040-A652-A7305E1B99FE}" type="datetimeFigureOut">
              <a:rPr lang="en-US" smtClean="0"/>
              <a:t>10/25/2013</a:t>
            </a:fld>
            <a:endParaRPr lang="en-US"/>
          </a:p>
        </p:txBody>
      </p:sp>
      <p:sp>
        <p:nvSpPr>
          <p:cNvPr id="12" name="Date Placeholder 3"/>
          <p:cNvSpPr txBox="1">
            <a:spLocks/>
          </p:cNvSpPr>
          <p:nvPr userDrawn="1"/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10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942B21B-2ADA-A040-A652-A7305E1B99FE}" type="datetimeFigureOut">
              <a:rPr lang="en-US" smtClean="0"/>
              <a:pPr/>
              <a:t>10/25/2013</a:t>
            </a:fld>
            <a:r>
              <a:rPr lang="en-US" smtClean="0"/>
              <a:t>  |</a:t>
            </a: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536576" y="1299672"/>
            <a:ext cx="8686800" cy="0"/>
          </a:xfrm>
          <a:prstGeom prst="line">
            <a:avLst/>
          </a:prstGeom>
          <a:ln w="12700">
            <a:solidFill>
              <a:schemeClr val="accent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17353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2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10/25/2013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7540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457200" y="685800"/>
            <a:ext cx="8229600" cy="609600"/>
          </a:xfrm>
        </p:spPr>
        <p:txBody>
          <a:bodyPr/>
          <a:lstStyle>
            <a:lvl1pPr marL="0" indent="0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722643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56307-8688-4F03-A7E4-E55529BF0399}" type="datetimeFigureOut">
              <a:rPr lang="en-US" smtClean="0"/>
              <a:t>10/25/2013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6A29-C246-47C4-99F6-30C7F8B97B0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87624" y="4101077"/>
            <a:ext cx="7772400" cy="672073"/>
          </a:xfrm>
        </p:spPr>
        <p:txBody>
          <a:bodyPr anchor="b">
            <a:noAutofit/>
          </a:bodyPr>
          <a:lstStyle>
            <a:lvl1pPr marL="0" indent="0" algn="l">
              <a:buNone/>
              <a:defRPr sz="2800" b="0">
                <a:solidFill>
                  <a:srgbClr val="E2161C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subtitle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22313" y="3332991"/>
            <a:ext cx="7772400" cy="1056117"/>
          </a:xfrm>
        </p:spPr>
        <p:txBody>
          <a:bodyPr anchor="t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7019" y="4312449"/>
            <a:ext cx="32015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600" b="1" dirty="0" smtClean="0">
                <a:solidFill>
                  <a:srgbClr val="31ACE1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4049726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e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56307-8688-4F03-A7E4-E55529BF0399}" type="datetimeFigureOut">
              <a:rPr lang="en-US" smtClean="0"/>
              <a:t>10/25/2013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CD6A29-C246-47C4-99F6-30C7F8B97B0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87624" y="4101077"/>
            <a:ext cx="7772400" cy="672073"/>
          </a:xfrm>
        </p:spPr>
        <p:txBody>
          <a:bodyPr anchor="b">
            <a:noAutofit/>
          </a:bodyPr>
          <a:lstStyle>
            <a:lvl1pPr marL="0" indent="0" algn="l">
              <a:buNone/>
              <a:defRPr sz="2800" b="0">
                <a:solidFill>
                  <a:srgbClr val="E2161C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 smtClean="0"/>
              <a:t>subtitle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722313" y="3332991"/>
            <a:ext cx="7772400" cy="1056117"/>
          </a:xfrm>
        </p:spPr>
        <p:txBody>
          <a:bodyPr anchor="t">
            <a:noAutofit/>
          </a:bodyPr>
          <a:lstStyle>
            <a:lvl1pPr algn="l">
              <a:defRPr sz="4400" b="0" cap="none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7019" y="4312449"/>
            <a:ext cx="274626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600" b="1" dirty="0" smtClean="0">
                <a:solidFill>
                  <a:srgbClr val="31ACE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3969061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6728" y="6072791"/>
            <a:ext cx="9143995" cy="79513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06329" y="6286903"/>
            <a:ext cx="8513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fld id="{5942B21B-2ADA-A040-A652-A7305E1B99FE}" type="datetimeFigureOut">
              <a:rPr lang="en-US" smtClean="0"/>
              <a:pPr/>
              <a:t>10/25/2013</a:t>
            </a:fld>
            <a:r>
              <a:rPr lang="en-US" dirty="0" smtClean="0"/>
              <a:t>  |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20114" y="6286903"/>
            <a:ext cx="31537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28193" y="6286903"/>
            <a:ext cx="5277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rgbClr val="FFFFFF"/>
                </a:solidFill>
              </a:defRPr>
            </a:lvl1pPr>
          </a:lstStyle>
          <a:p>
            <a:fld id="{87FD5303-69AD-2E4D-B18B-E5EED0F0A60B}" type="slidenum">
              <a:rPr lang="en-US" smtClean="0"/>
              <a:pPr/>
              <a:t>‹#›</a:t>
            </a:fld>
            <a:r>
              <a:rPr lang="en-US" dirty="0" smtClean="0"/>
              <a:t>  |  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60044" y="1220302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1026" name="Picture 2" descr="C:\Users\dpetev\AppData\Local\Microsoft\Windows\Temporary Internet Files\Content.Outlook\BVKCXYVX\sqlsat199_web.png"/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5976767"/>
            <a:ext cx="1828800" cy="89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77666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charset="2"/>
        <a:buChar char="§"/>
        <a:defRPr sz="30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Wingdings" charset="2"/>
        <a:buChar char="§"/>
        <a:defRPr sz="2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charset="2"/>
        <a:buChar char="§"/>
        <a:defRPr sz="22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Wingdings" charset="2"/>
        <a:buChar char="§"/>
        <a:defRPr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Wingdings" charset="2"/>
        <a:buChar char="§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jpeg"/><Relationship Id="rId12" Type="http://schemas.openxmlformats.org/officeDocument/2006/relationships/image" Target="../media/image13.png"/><Relationship Id="rId17" Type="http://schemas.openxmlformats.org/officeDocument/2006/relationships/image" Target="../media/image18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7.pn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gif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jpeg"/><Relationship Id="rId9" Type="http://schemas.openxmlformats.org/officeDocument/2006/relationships/image" Target="../media/image30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://sp2013/sites/bi/_vti_bin/ReportServer/ReportExecution2005.asmx?wsdl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hyperlink" Target="http://sqlsrvintegrationsrv.codeplex.com/releases/view/17652" TargetMode="External"/><Relationship Id="rId3" Type="http://schemas.openxmlformats.org/officeDocument/2006/relationships/hyperlink" Target="http://technet.microsoft.com/library/cc645993(SQL.110).aspx" TargetMode="External"/><Relationship Id="rId7" Type="http://schemas.openxmlformats.org/officeDocument/2006/relationships/hyperlink" Target="http://vsteamsystemcentral.com/cs21/blogs/steve_fibich/archive/2009/04/27/ssis-and-reporting-services-web-services.aspx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ktskumar.wordpress.com/2009/03/03/upload-document-from-local-machine-to-sharepoint-library/" TargetMode="External"/><Relationship Id="rId5" Type="http://schemas.openxmlformats.org/officeDocument/2006/relationships/hyperlink" Target="http://social.msdn.microsoft.com/Forums/en-US/sqldenreportingservices/thread/05ea6525-dc32-408a-9b46-d2330e8ad4ad" TargetMode="External"/><Relationship Id="rId4" Type="http://schemas.openxmlformats.org/officeDocument/2006/relationships/hyperlink" Target="http://msdn.microsoft.com/en-us/library/ff793463(v=sql.105).aspx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jpe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jpeg"/><Relationship Id="rId12" Type="http://schemas.openxmlformats.org/officeDocument/2006/relationships/image" Target="../media/image13.png"/><Relationship Id="rId17" Type="http://schemas.openxmlformats.org/officeDocument/2006/relationships/image" Target="../media/image18.jpe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7.png"/><Relationship Id="rId20" Type="http://schemas.openxmlformats.org/officeDocument/2006/relationships/image" Target="../media/image2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gif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jpe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BE" dirty="0"/>
              <a:t>Data-driven Subscription using SSIS and SharePoint</a:t>
            </a:r>
            <a:endParaRPr lang="en-US" dirty="0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nl-BE" dirty="0" smtClean="0"/>
          </a:p>
          <a:p>
            <a:r>
              <a:rPr lang="nl-BE" dirty="0" smtClean="0"/>
              <a:t>David Smeets</a:t>
            </a:r>
          </a:p>
          <a:p>
            <a:r>
              <a:rPr lang="nl-BE" dirty="0" smtClean="0"/>
              <a:t>26/10/2013</a:t>
            </a:r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3260678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Sponsors</a:t>
            </a:r>
            <a:endParaRPr lang="pt-BR" dirty="0"/>
          </a:p>
        </p:txBody>
      </p:sp>
      <p:pic>
        <p:nvPicPr>
          <p:cNvPr id="1026" name="Picture 2" descr="C:\Users\Public\Pictures\SQLSaturday\MS\MSFT_logo_rgb_C-Gra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320" y="3984910"/>
            <a:ext cx="2344750" cy="86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Public\Pictures\SQLSaturday\hp_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242" y="1726792"/>
            <a:ext cx="1121881" cy="112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Public\Pictures\SQLSaturday\cozyroc-big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881" y="4797535"/>
            <a:ext cx="1405439" cy="46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mmateev\Pictures\IG Logo\Infragistics-logo170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805" y="3228239"/>
            <a:ext cx="3513545" cy="59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Public\Pictures\SQLSaturday\ICB_G+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86" y="3309603"/>
            <a:ext cx="3017519" cy="41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Public\Pictures\SQLSaturday\sqlmalogo170x60pxv_2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815" y="4588833"/>
            <a:ext cx="2526056" cy="89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51" y="1595812"/>
            <a:ext cx="1634275" cy="1405626"/>
          </a:xfrm>
          <a:prstGeom prst="rect">
            <a:avLst/>
          </a:prstGeom>
        </p:spPr>
      </p:pic>
      <p:pic>
        <p:nvPicPr>
          <p:cNvPr id="1030" name="Picture 6" descr="http://media.infragistics.com/community/SQLSaturday/icn-logo-170x60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932" y="3151540"/>
            <a:ext cx="1934845" cy="68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Лого на SuperHosting.B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934" y="2211183"/>
            <a:ext cx="3385875" cy="23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http://media.infragistics.com/community/SQLSaturday/isdc-logo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843" y="4808557"/>
            <a:ext cx="1179607" cy="44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://www.sharepointsaturday.biz/spsofia/images/sofia/sponsors/Virtual-Affairs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86448"/>
            <a:ext cx="2033002" cy="45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://www.sqlmasteracademy.com/files/image/sqlmalogo170x60pxv_2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0432" y="9862252"/>
            <a:ext cx="1619250" cy="57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://media.infragistics.com/community/SQLSaturday/mentormate-logo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091" y="4051585"/>
            <a:ext cx="1863560" cy="6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ttp://www.red-gate.com/assets/images/common/logo.pn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99" y="5367147"/>
            <a:ext cx="899945" cy="41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://s.pluralsight.com/mn/img/logo/pluralsight-fullcolor-175x39-v1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125" y="5458501"/>
            <a:ext cx="1348032" cy="30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http://media.infragistics.com/community/SQLSaturday/httpool_logo_small.jp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568" y="5436699"/>
            <a:ext cx="789232" cy="32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566" y="4082864"/>
            <a:ext cx="1757234" cy="620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694" y="5301238"/>
            <a:ext cx="1614980" cy="6374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698" y="5367147"/>
            <a:ext cx="1334500" cy="466016"/>
          </a:xfrm>
          <a:prstGeom prst="rect">
            <a:avLst/>
          </a:prstGeom>
        </p:spPr>
      </p:pic>
      <p:pic>
        <p:nvPicPr>
          <p:cNvPr id="22" name="Picture 2" descr="http://www.xsql.com/images/xSQLSoftware.png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582" y="5447057"/>
            <a:ext cx="1051433" cy="2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5938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2035" y="1"/>
            <a:ext cx="861965" cy="1292948"/>
          </a:xfrm>
          <a:prstGeom prst="rect">
            <a:avLst/>
          </a:prstGeom>
        </p:spPr>
      </p:pic>
      <p:pic>
        <p:nvPicPr>
          <p:cNvPr id="6" name="Picture 3" descr="C:\Users\BI229\Desktop\sql_ug_log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631" y="5141315"/>
            <a:ext cx="2857500" cy="523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C:\Users\BI229\Desktop\logo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8788" y="5353317"/>
            <a:ext cx="1119187" cy="257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C:\Users\BI229\Desktop\Logo_transparent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929" y="4243323"/>
            <a:ext cx="1421867" cy="1421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110" y="2903733"/>
            <a:ext cx="1169503" cy="116950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10332"/>
            <a:ext cx="4762500" cy="1647825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495655" y="1417638"/>
            <a:ext cx="1756938" cy="1345418"/>
          </a:xfrm>
          <a:prstGeom prst="roundRect">
            <a:avLst/>
          </a:prstGeom>
          <a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000" b="-17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2" name="Rounded Rectangle 11"/>
          <p:cNvSpPr/>
          <p:nvPr/>
        </p:nvSpPr>
        <p:spPr>
          <a:xfrm>
            <a:off x="1572796" y="1503964"/>
            <a:ext cx="2469268" cy="1738000"/>
          </a:xfrm>
          <a:prstGeom prst="roundRect">
            <a:avLst/>
          </a:prstGeom>
          <a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000" r="-18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880213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Agenda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nl-BE" dirty="0" smtClean="0"/>
              <a:t>Quick Poll</a:t>
            </a:r>
            <a:endParaRPr lang="nl-BE" dirty="0"/>
          </a:p>
          <a:p>
            <a:r>
              <a:rPr lang="nl-BE" dirty="0" smtClean="0"/>
              <a:t>Report Subscriptions</a:t>
            </a:r>
          </a:p>
          <a:p>
            <a:r>
              <a:rPr lang="nl-BE" dirty="0" smtClean="0"/>
              <a:t>Solution </a:t>
            </a:r>
            <a:r>
              <a:rPr lang="nl-BE" dirty="0"/>
              <a:t>customer </a:t>
            </a:r>
            <a:r>
              <a:rPr lang="nl-BE" dirty="0" smtClean="0"/>
              <a:t>case</a:t>
            </a:r>
          </a:p>
          <a:p>
            <a:r>
              <a:rPr lang="nl-BE" dirty="0" smtClean="0"/>
              <a:t>Demo </a:t>
            </a:r>
          </a:p>
          <a:p>
            <a:r>
              <a:rPr lang="nl-BE" dirty="0" smtClean="0"/>
              <a:t>Q&amp;A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1911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Poll</a:t>
            </a:r>
            <a:endParaRPr lang="en-US" dirty="0"/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488826" y="1196752"/>
            <a:ext cx="8229600" cy="5211763"/>
          </a:xfrm>
        </p:spPr>
        <p:txBody>
          <a:bodyPr>
            <a:normAutofit fontScale="62500" lnSpcReduction="20000"/>
          </a:bodyPr>
          <a:lstStyle/>
          <a:p>
            <a:pPr lvl="0"/>
            <a:r>
              <a:rPr lang="en-US" dirty="0" smtClean="0"/>
              <a:t>SharePoint Version</a:t>
            </a:r>
          </a:p>
          <a:p>
            <a:pPr lvl="1"/>
            <a:r>
              <a:rPr lang="en-US" dirty="0" smtClean="0"/>
              <a:t>2007 </a:t>
            </a:r>
            <a:endParaRPr lang="en-US" dirty="0"/>
          </a:p>
          <a:p>
            <a:pPr lvl="1"/>
            <a:r>
              <a:rPr lang="en-US" dirty="0" smtClean="0"/>
              <a:t>2010 </a:t>
            </a:r>
          </a:p>
          <a:p>
            <a:pPr lvl="1"/>
            <a:r>
              <a:rPr lang="en-US" dirty="0"/>
              <a:t>2013</a:t>
            </a:r>
          </a:p>
          <a:p>
            <a:r>
              <a:rPr lang="en-US" dirty="0" smtClean="0"/>
              <a:t>SQL Version</a:t>
            </a:r>
          </a:p>
          <a:p>
            <a:pPr lvl="1"/>
            <a:r>
              <a:rPr lang="en-US" dirty="0" smtClean="0"/>
              <a:t>2005</a:t>
            </a:r>
          </a:p>
          <a:p>
            <a:pPr lvl="1"/>
            <a:r>
              <a:rPr lang="en-US" dirty="0" smtClean="0"/>
              <a:t>2008</a:t>
            </a:r>
          </a:p>
          <a:p>
            <a:pPr lvl="1"/>
            <a:r>
              <a:rPr lang="en-US" dirty="0" smtClean="0"/>
              <a:t>2008 R2</a:t>
            </a:r>
          </a:p>
          <a:p>
            <a:pPr lvl="1"/>
            <a:r>
              <a:rPr lang="en-US" dirty="0" smtClean="0"/>
              <a:t>2012</a:t>
            </a:r>
            <a:endParaRPr lang="en-US" dirty="0"/>
          </a:p>
          <a:p>
            <a:pPr marL="0" indent="0">
              <a:buNone/>
            </a:pPr>
            <a:endParaRPr lang="en-US" sz="1500" dirty="0"/>
          </a:p>
          <a:p>
            <a:r>
              <a:rPr lang="en-US" dirty="0" smtClean="0"/>
              <a:t>Currently using Reporting Services</a:t>
            </a:r>
          </a:p>
          <a:p>
            <a:pPr lvl="1"/>
            <a:r>
              <a:rPr lang="en-US" dirty="0"/>
              <a:t>Native</a:t>
            </a:r>
          </a:p>
          <a:p>
            <a:pPr lvl="1"/>
            <a:r>
              <a:rPr lang="en-US" dirty="0" smtClean="0"/>
              <a:t>Integrated</a:t>
            </a:r>
          </a:p>
          <a:p>
            <a:pPr marL="0" indent="0">
              <a:buNone/>
            </a:pPr>
            <a:endParaRPr lang="en-US" sz="1300" dirty="0"/>
          </a:p>
          <a:p>
            <a:pPr lvl="0"/>
            <a:r>
              <a:rPr lang="en-US" dirty="0" smtClean="0"/>
              <a:t>Work Roles</a:t>
            </a:r>
            <a:endParaRPr lang="en-US" dirty="0"/>
          </a:p>
          <a:p>
            <a:pPr lvl="1"/>
            <a:r>
              <a:rPr lang="en-US" dirty="0" smtClean="0"/>
              <a:t>SharePoint Administrator</a:t>
            </a:r>
          </a:p>
          <a:p>
            <a:pPr lvl="1"/>
            <a:r>
              <a:rPr lang="en-US" dirty="0" smtClean="0"/>
              <a:t>SharePoint Developer</a:t>
            </a:r>
          </a:p>
          <a:p>
            <a:pPr lvl="1"/>
            <a:r>
              <a:rPr lang="en-US" dirty="0" smtClean="0"/>
              <a:t>BI Developer</a:t>
            </a:r>
          </a:p>
          <a:p>
            <a:pPr lvl="1"/>
            <a:r>
              <a:rPr lang="en-US" dirty="0" smtClean="0"/>
              <a:t>DBA</a:t>
            </a:r>
          </a:p>
          <a:p>
            <a:pPr lvl="1"/>
            <a:r>
              <a:rPr lang="en-US" dirty="0" smtClean="0"/>
              <a:t>….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039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1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1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19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Report Subscriptions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In SharePoint normal or data-driven and $$$$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1184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Subscriptions in SharePoint</a:t>
            </a:r>
            <a:endParaRPr lang="nl-BE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328" y="1417638"/>
            <a:ext cx="6878782" cy="4376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879428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Standard vs Enterprise (and BI) 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80" y="1590675"/>
            <a:ext cx="7797967" cy="1770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980" y="3577016"/>
            <a:ext cx="7797967" cy="22983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2270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Normal subscription</a:t>
            </a:r>
            <a:endParaRPr lang="nl-BE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10464"/>
            <a:ext cx="6970796" cy="4350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29675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Data-Driven Subscription (1)</a:t>
            </a:r>
            <a:endParaRPr lang="nl-BE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17638"/>
            <a:ext cx="8055643" cy="4257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2999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Data-Driven Subscription </a:t>
            </a:r>
            <a:r>
              <a:rPr lang="nl-BE" dirty="0" smtClean="0"/>
              <a:t>(2)</a:t>
            </a:r>
            <a:endParaRPr lang="nl-BE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421" y="1733802"/>
            <a:ext cx="8364454" cy="3397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25939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Data-Driven Subscription </a:t>
            </a:r>
            <a:r>
              <a:rPr lang="nl-BE" dirty="0" smtClean="0"/>
              <a:t>(3)</a:t>
            </a:r>
            <a:endParaRPr lang="nl-BE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381125"/>
            <a:ext cx="8448675" cy="36141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15821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Data-Driven Subscription </a:t>
            </a:r>
            <a:r>
              <a:rPr lang="nl-BE" dirty="0" smtClean="0"/>
              <a:t>(4)</a:t>
            </a:r>
            <a:endParaRPr lang="nl-BE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0" y="1633539"/>
            <a:ext cx="8210550" cy="39512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804852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Data Driven Report Subscription Feature</a:t>
            </a:r>
            <a:endParaRPr lang="en-US" dirty="0"/>
          </a:p>
        </p:txBody>
      </p:sp>
      <p:pic>
        <p:nvPicPr>
          <p:cNvPr id="7" name="Picture 2" descr="C:\Users\dsmeets\Desktop\sqlsat196_web\reporting services feature data drive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183" y="1417639"/>
            <a:ext cx="7290954" cy="4020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C:\Users\dsmeets\Desktop\money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2220" y="4485859"/>
            <a:ext cx="2324517" cy="154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708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Solution customer case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My todo list to manage it with standard licenses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247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TODO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8025063" cy="4186989"/>
          </a:xfrm>
        </p:spPr>
        <p:txBody>
          <a:bodyPr/>
          <a:lstStyle/>
          <a:p>
            <a:r>
              <a:rPr lang="nl-BE" dirty="0" smtClean="0"/>
              <a:t>Create Report (RDL) with SSRS</a:t>
            </a:r>
          </a:p>
          <a:p>
            <a:r>
              <a:rPr lang="nl-BE" dirty="0" smtClean="0"/>
              <a:t>Create report library in SharePoint</a:t>
            </a:r>
          </a:p>
          <a:p>
            <a:r>
              <a:rPr lang="nl-BE" dirty="0" smtClean="0"/>
              <a:t>Create subscription list in SharePoint</a:t>
            </a:r>
          </a:p>
          <a:p>
            <a:r>
              <a:rPr lang="nl-BE" dirty="0"/>
              <a:t>Connect to SharePoint from </a:t>
            </a:r>
            <a:r>
              <a:rPr lang="nl-BE" dirty="0" smtClean="0"/>
              <a:t>SSIS</a:t>
            </a:r>
          </a:p>
          <a:p>
            <a:r>
              <a:rPr lang="nl-BE" dirty="0" smtClean="0"/>
              <a:t>Use the webservices of SSRS</a:t>
            </a:r>
          </a:p>
          <a:p>
            <a:r>
              <a:rPr lang="nl-BE" dirty="0" smtClean="0"/>
              <a:t>Create the SSIS package with script component</a:t>
            </a:r>
            <a:endParaRPr lang="nl-BE" dirty="0"/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767453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 smtClean="0"/>
              <a:t>Attention for VSS 2012 x64 BI templates</a:t>
            </a:r>
            <a:endParaRPr lang="nl-B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830" y="1417638"/>
            <a:ext cx="5245517" cy="44532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3948507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Report in SQL Server Data Tools (1)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4400" y="5017169"/>
            <a:ext cx="4038600" cy="4525963"/>
          </a:xfrm>
        </p:spPr>
        <p:txBody>
          <a:bodyPr/>
          <a:lstStyle/>
          <a:p>
            <a:endParaRPr lang="nl-B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863" y="1417638"/>
            <a:ext cx="8303741" cy="42977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6170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Report Library in SP2013 (2)</a:t>
            </a:r>
            <a:endParaRPr lang="nl-BE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484" y="1417638"/>
            <a:ext cx="7098631" cy="3992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70059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Subscription list (3)</a:t>
            </a:r>
            <a:endParaRPr lang="nl-BE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1" y="1648410"/>
            <a:ext cx="8684706" cy="36214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884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BE" dirty="0" smtClean="0"/>
              <a:t>SharePoint List Source and Destination (4)</a:t>
            </a:r>
            <a:endParaRPr lang="nl-BE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74" y="1519290"/>
            <a:ext cx="8506325" cy="38871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1646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116632"/>
            <a:ext cx="5057949" cy="64905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62280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WSDL (5)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199" y="1600200"/>
            <a:ext cx="7856621" cy="4525963"/>
          </a:xfrm>
        </p:spPr>
        <p:txBody>
          <a:bodyPr>
            <a:normAutofit/>
          </a:bodyPr>
          <a:lstStyle/>
          <a:p>
            <a:r>
              <a:rPr lang="en-US" sz="2000" dirty="0"/>
              <a:t>C:\Program Files (x86)\Microsoft </a:t>
            </a:r>
            <a:r>
              <a:rPr lang="en-US" sz="2000" dirty="0" smtClean="0"/>
              <a:t>SDKs\Windows\v7.0A\Bin</a:t>
            </a:r>
          </a:p>
          <a:p>
            <a:r>
              <a:rPr lang="en-US" sz="2000" dirty="0" smtClean="0"/>
              <a:t>WSDL.EXE</a:t>
            </a:r>
          </a:p>
          <a:p>
            <a:r>
              <a:rPr lang="nl-BE" sz="2000" dirty="0"/>
              <a:t>Web Services Description Language Tool </a:t>
            </a:r>
            <a:endParaRPr lang="en-US" sz="2000" dirty="0" smtClean="0"/>
          </a:p>
          <a:p>
            <a:r>
              <a:rPr lang="en-US" sz="2000" dirty="0" err="1"/>
              <a:t>wsdl</a:t>
            </a:r>
            <a:r>
              <a:rPr lang="en-US" sz="2000" dirty="0"/>
              <a:t> /</a:t>
            </a:r>
            <a:r>
              <a:rPr lang="en-US" sz="2000" dirty="0" err="1"/>
              <a:t>out:C</a:t>
            </a:r>
            <a:r>
              <a:rPr lang="en-US" sz="2000" dirty="0"/>
              <a:t>:/</a:t>
            </a:r>
            <a:r>
              <a:rPr lang="en-US" sz="2000" dirty="0" err="1"/>
              <a:t>ReportService.cs</a:t>
            </a:r>
            <a:r>
              <a:rPr lang="en-US" sz="2000" dirty="0"/>
              <a:t> </a:t>
            </a:r>
            <a:r>
              <a:rPr lang="en-US" sz="2000" dirty="0">
                <a:hlinkClick r:id="rId3"/>
              </a:rPr>
              <a:t>http</a:t>
            </a:r>
            <a:r>
              <a:rPr lang="en-US" sz="2000" dirty="0" smtClean="0">
                <a:hlinkClick r:id="rId3"/>
              </a:rPr>
              <a:t>://sp2013/sites/bi/_vti_bin/ReportServer/ReportExecution2005.asmx?wsdl</a:t>
            </a:r>
            <a:endParaRPr lang="en-US" sz="2000" dirty="0" smtClean="0"/>
          </a:p>
          <a:p>
            <a:r>
              <a:rPr lang="nl-BE" sz="2000" dirty="0" smtClean="0"/>
              <a:t>ReportExecution2005.asmx</a:t>
            </a:r>
          </a:p>
          <a:p>
            <a:r>
              <a:rPr lang="nl-BE" sz="2000" dirty="0" smtClean="0"/>
              <a:t>Reportservice2005.asmx (Native mode)</a:t>
            </a:r>
          </a:p>
          <a:p>
            <a:r>
              <a:rPr lang="nl-BE" sz="2000" dirty="0" smtClean="0"/>
              <a:t>ReportService2006.asmx (SP </a:t>
            </a:r>
            <a:r>
              <a:rPr lang="nl-BE" sz="2000" dirty="0" err="1" smtClean="0"/>
              <a:t>integrated</a:t>
            </a:r>
            <a:r>
              <a:rPr lang="nl-BE" sz="2000" dirty="0" smtClean="0"/>
              <a:t> mode)</a:t>
            </a:r>
          </a:p>
          <a:p>
            <a:r>
              <a:rPr lang="nl-BE" sz="2000" dirty="0" smtClean="0"/>
              <a:t>ReportService2010.asmx (</a:t>
            </a:r>
            <a:r>
              <a:rPr lang="nl-BE" sz="2000" dirty="0" err="1" smtClean="0"/>
              <a:t>Merged</a:t>
            </a:r>
            <a:r>
              <a:rPr lang="nl-BE" sz="2000" dirty="0" smtClean="0"/>
              <a:t> </a:t>
            </a:r>
            <a:r>
              <a:rPr lang="nl-BE" sz="2000" dirty="0" err="1" smtClean="0"/>
              <a:t>since</a:t>
            </a:r>
            <a:r>
              <a:rPr lang="nl-BE" sz="2000" dirty="0" smtClean="0"/>
              <a:t> 2008 R2)</a:t>
            </a: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286745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SSIS and Script Component (6)</a:t>
            </a:r>
            <a:endParaRPr lang="nl-B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821" y="1417638"/>
            <a:ext cx="6667500" cy="4133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8853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 smtClean="0"/>
              <a:t>Some SharePoint, SSRS webservices and SSIS script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Let the show begin!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506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Compatibility and Tested 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2189747"/>
          </a:xfrm>
        </p:spPr>
        <p:txBody>
          <a:bodyPr/>
          <a:lstStyle/>
          <a:p>
            <a:r>
              <a:rPr lang="nl-BE" dirty="0" smtClean="0"/>
              <a:t>SQL Server 2005</a:t>
            </a:r>
          </a:p>
          <a:p>
            <a:r>
              <a:rPr lang="nl-BE" dirty="0" smtClean="0"/>
              <a:t>SQL Server 2008</a:t>
            </a:r>
          </a:p>
          <a:p>
            <a:r>
              <a:rPr lang="nl-BE" dirty="0" smtClean="0"/>
              <a:t>SQL Server 2008 R2</a:t>
            </a:r>
          </a:p>
          <a:p>
            <a:r>
              <a:rPr lang="nl-BE" dirty="0" smtClean="0"/>
              <a:t>SQL Server 2012</a:t>
            </a:r>
            <a:endParaRPr lang="nl-B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1215189"/>
          </a:xfrm>
        </p:spPr>
        <p:txBody>
          <a:bodyPr/>
          <a:lstStyle/>
          <a:p>
            <a:r>
              <a:rPr lang="nl-BE" dirty="0" smtClean="0"/>
              <a:t>SharePoint 2010</a:t>
            </a:r>
          </a:p>
          <a:p>
            <a:r>
              <a:rPr lang="nl-BE" dirty="0" smtClean="0"/>
              <a:t>SharePoint 2013</a:t>
            </a:r>
            <a:endParaRPr lang="nl-BE" dirty="0"/>
          </a:p>
        </p:txBody>
      </p:sp>
      <p:sp>
        <p:nvSpPr>
          <p:cNvPr id="6" name="Content Placeholder 3"/>
          <p:cNvSpPr txBox="1">
            <a:spLocks/>
          </p:cNvSpPr>
          <p:nvPr/>
        </p:nvSpPr>
        <p:spPr>
          <a:xfrm>
            <a:off x="3914275" y="3805973"/>
            <a:ext cx="4038600" cy="18929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defRPr sz="2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Wingdings" charset="2"/>
              <a:buChar char="§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BE" dirty="0" smtClean="0">
                <a:solidFill>
                  <a:srgbClr val="31ACE1"/>
                </a:solidFill>
              </a:rPr>
              <a:t>BIDS</a:t>
            </a:r>
          </a:p>
          <a:p>
            <a:r>
              <a:rPr lang="nl-BE" dirty="0" smtClean="0">
                <a:solidFill>
                  <a:srgbClr val="31ACE1"/>
                </a:solidFill>
              </a:rPr>
              <a:t>VSS2010</a:t>
            </a:r>
          </a:p>
          <a:p>
            <a:r>
              <a:rPr lang="nl-BE" dirty="0" smtClean="0">
                <a:solidFill>
                  <a:srgbClr val="31ACE1"/>
                </a:solidFill>
              </a:rPr>
              <a:t>VSS2012</a:t>
            </a:r>
          </a:p>
          <a:p>
            <a:endParaRPr lang="nl-BE" dirty="0"/>
          </a:p>
        </p:txBody>
      </p:sp>
    </p:spTree>
    <p:extLst>
      <p:ext uri="{BB962C8B-B14F-4D97-AF65-F5344CB8AC3E}">
        <p14:creationId xmlns:p14="http://schemas.microsoft.com/office/powerpoint/2010/main" val="2486653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 smtClean="0"/>
              <a:t>Resources</a:t>
            </a:r>
            <a:endParaRPr lang="nl-B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nl-BE" sz="2000" dirty="0">
                <a:hlinkClick r:id="rId3"/>
              </a:rPr>
              <a:t>http://technet.microsoft.com/library/cc645993(SQL.110).aspx</a:t>
            </a:r>
            <a:endParaRPr lang="nl-BE" sz="2000" dirty="0"/>
          </a:p>
          <a:p>
            <a:r>
              <a:rPr lang="nl-BE" sz="2000" dirty="0">
                <a:hlinkClick r:id="rId4"/>
              </a:rPr>
              <a:t>http://msdn.microsoft.com/en-us/library/ff793463(v=sql.105).aspx</a:t>
            </a:r>
            <a:endParaRPr lang="nl-BE" sz="2000" dirty="0"/>
          </a:p>
          <a:p>
            <a:r>
              <a:rPr lang="nl-BE" sz="2000" dirty="0">
                <a:hlinkClick r:id="rId5"/>
              </a:rPr>
              <a:t>http://social.msdn.microsoft.com/Forums/en-US/sqldenreportingservices/thread/05ea6525-dc32-408a-9b46-d2330e8ad4ad</a:t>
            </a:r>
            <a:endParaRPr lang="nl-BE" sz="2000" dirty="0"/>
          </a:p>
          <a:p>
            <a:r>
              <a:rPr lang="nl-BE" sz="2000" dirty="0">
                <a:hlinkClick r:id="rId6"/>
              </a:rPr>
              <a:t>http://ktskumar.wordpress.com/2009/03/03/upload-document-from-local-machine-to-sharepoint-library/</a:t>
            </a:r>
            <a:endParaRPr lang="nl-BE" sz="2000" dirty="0"/>
          </a:p>
          <a:p>
            <a:r>
              <a:rPr lang="nl-BE" sz="2000" dirty="0">
                <a:hlinkClick r:id="rId7"/>
              </a:rPr>
              <a:t>http://</a:t>
            </a:r>
            <a:r>
              <a:rPr lang="nl-BE" sz="2000" dirty="0" smtClean="0">
                <a:hlinkClick r:id="rId7"/>
              </a:rPr>
              <a:t>vsteamsystemcentral.com/cs21/blogs/steve_fibich/archive/2009/04/27/ssis-and-reporting-services-web-services.aspx</a:t>
            </a:r>
          </a:p>
          <a:p>
            <a:r>
              <a:rPr lang="nl-BE" sz="2000" dirty="0" smtClean="0">
                <a:hlinkClick r:id="rId8"/>
              </a:rPr>
              <a:t>http://sqlsrvintegrationsrv.codeplex.com/releases/view/17652</a:t>
            </a:r>
            <a:endParaRPr lang="nl-BE" sz="2000" dirty="0" smtClean="0"/>
          </a:p>
          <a:p>
            <a:pPr marL="0" indent="0">
              <a:buNone/>
            </a:pPr>
            <a:endParaRPr lang="nl-BE" sz="2000" dirty="0"/>
          </a:p>
        </p:txBody>
      </p:sp>
    </p:spTree>
    <p:extLst>
      <p:ext uri="{BB962C8B-B14F-4D97-AF65-F5344CB8AC3E}">
        <p14:creationId xmlns:p14="http://schemas.microsoft.com/office/powerpoint/2010/main" val="299193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dsmeets\Desktop\questions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1652" y="1959042"/>
            <a:ext cx="2685147" cy="2685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:\Users\dsmeets\Desktop\twitter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645024"/>
            <a:ext cx="1477972" cy="827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339552" y="2618446"/>
            <a:ext cx="3193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b="1" dirty="0">
                <a:solidFill>
                  <a:schemeClr val="bg1"/>
                </a:solidFill>
              </a:rPr>
              <a:t>http://smeetsd.wordpress.com/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552" y="2276872"/>
            <a:ext cx="2476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b="1" dirty="0" smtClean="0">
                <a:solidFill>
                  <a:schemeClr val="bg1"/>
                </a:solidFill>
              </a:rPr>
              <a:t>David.Smeets@ctg.com</a:t>
            </a:r>
            <a:endParaRPr lang="nl-BE" b="1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39552" y="2952055"/>
            <a:ext cx="298645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b="1" dirty="0" smtClean="0">
                <a:solidFill>
                  <a:schemeClr val="bg1"/>
                </a:solidFill>
              </a:rPr>
              <a:t>Jan.Vanderstappen@ctg.com</a:t>
            </a:r>
            <a:endParaRPr lang="nl-BE" b="1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3528" y="2812300"/>
            <a:ext cx="35958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b="1" dirty="0"/>
              <a:t>http://smeetsd.wordpress.com/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3528" y="2455880"/>
            <a:ext cx="2807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b="1" dirty="0" smtClean="0"/>
              <a:t>David.Smeets@ctg.com</a:t>
            </a:r>
            <a:endParaRPr lang="nl-BE" b="1" dirty="0"/>
          </a:p>
        </p:txBody>
      </p:sp>
      <p:sp>
        <p:nvSpPr>
          <p:cNvPr id="13" name="Rectangle 12"/>
          <p:cNvSpPr/>
          <p:nvPr/>
        </p:nvSpPr>
        <p:spPr>
          <a:xfrm>
            <a:off x="2339752" y="3689524"/>
            <a:ext cx="18582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nl-BE" b="1" dirty="0"/>
              <a:t>@</a:t>
            </a:r>
            <a:r>
              <a:rPr lang="nl-BE" b="1" dirty="0" smtClean="0"/>
              <a:t>SmeetsDavid</a:t>
            </a:r>
          </a:p>
        </p:txBody>
      </p:sp>
    </p:spTree>
    <p:extLst>
      <p:ext uri="{BB962C8B-B14F-4D97-AF65-F5344CB8AC3E}">
        <p14:creationId xmlns:p14="http://schemas.microsoft.com/office/powerpoint/2010/main" val="2793523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Sponsors</a:t>
            </a:r>
            <a:endParaRPr lang="pt-BR" dirty="0"/>
          </a:p>
        </p:txBody>
      </p:sp>
      <p:pic>
        <p:nvPicPr>
          <p:cNvPr id="1026" name="Picture 2" descr="C:\Users\Public\Pictures\SQLSaturday\MS\MSFT_logo_rgb_C-Gra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5320" y="3984910"/>
            <a:ext cx="2344750" cy="862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Public\Pictures\SQLSaturday\hp_logo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7242" y="1726792"/>
            <a:ext cx="1121881" cy="1121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9" name="Picture 5" descr="C:\Users\Public\Pictures\SQLSaturday\cozyroc-big3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881" y="4797535"/>
            <a:ext cx="1405439" cy="46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:\Users\mmateev\Pictures\IG Logo\Infragistics-logo170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2805" y="3228239"/>
            <a:ext cx="3513545" cy="599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3" name="Picture 9" descr="C:\Users\Public\Pictures\SQLSaturday\ICB_G+.jp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286" y="3309603"/>
            <a:ext cx="3017519" cy="41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:\Users\Public\Pictures\SQLSaturday\sqlmalogo170x60pxv_2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9815" y="4588833"/>
            <a:ext cx="2526056" cy="89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451" y="1595812"/>
            <a:ext cx="1634275" cy="1405626"/>
          </a:xfrm>
          <a:prstGeom prst="rect">
            <a:avLst/>
          </a:prstGeom>
        </p:spPr>
      </p:pic>
      <p:pic>
        <p:nvPicPr>
          <p:cNvPr id="1030" name="Picture 6" descr="http://media.infragistics.com/community/SQLSaturday/icn-logo-170x60.png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6932" y="3151540"/>
            <a:ext cx="1934845" cy="682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8" descr="Лого на SuperHosting.BG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3934" y="2211183"/>
            <a:ext cx="3385875" cy="2376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 descr="http://media.infragistics.com/community/SQLSaturday/isdc-logo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0843" y="4808557"/>
            <a:ext cx="1179607" cy="44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http://www.sharepointsaturday.biz/spsofia/images/sofia/sponsors/Virtual-Affairs.png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186448"/>
            <a:ext cx="2033002" cy="45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http://www.sqlmasteracademy.com/files/image/sqlmalogo170x60pxv_2.jp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0432" y="9862252"/>
            <a:ext cx="1619250" cy="571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http://media.infragistics.com/community/SQLSaturday/mentormate-logo.png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4091" y="4051585"/>
            <a:ext cx="1863560" cy="6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http://www.red-gate.com/assets/images/common/logo.png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99" y="5367147"/>
            <a:ext cx="899945" cy="41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http://s.pluralsight.com/mn/img/logo/pluralsight-fullcolor-175x39-v1.png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89125" y="5458501"/>
            <a:ext cx="1348032" cy="300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http://media.infragistics.com/community/SQLSaturday/httpool_logo_small.jpg"/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7568" y="5436699"/>
            <a:ext cx="789232" cy="3235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9566" y="4082864"/>
            <a:ext cx="1757234" cy="620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8694" y="5301238"/>
            <a:ext cx="1614980" cy="637492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5698" y="5367147"/>
            <a:ext cx="1334500" cy="466016"/>
          </a:xfrm>
          <a:prstGeom prst="rect">
            <a:avLst/>
          </a:prstGeom>
        </p:spPr>
      </p:pic>
      <p:pic>
        <p:nvPicPr>
          <p:cNvPr id="22" name="Picture 2" descr="http://www.xsql.com/images/xSQLSoftware.png"/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582" y="5447057"/>
            <a:ext cx="1051433" cy="285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2591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QL Server 2012">
  <a:themeElements>
    <a:clrScheme name="Custom 1">
      <a:dk1>
        <a:sysClr val="windowText" lastClr="000000"/>
      </a:dk1>
      <a:lt1>
        <a:sysClr val="window" lastClr="FFFFFF"/>
      </a:lt1>
      <a:dk2>
        <a:srgbClr val="474947"/>
      </a:dk2>
      <a:lt2>
        <a:srgbClr val="EEECE1"/>
      </a:lt2>
      <a:accent1>
        <a:srgbClr val="163764"/>
      </a:accent1>
      <a:accent2>
        <a:srgbClr val="75982F"/>
      </a:accent2>
      <a:accent3>
        <a:srgbClr val="16223C"/>
      </a:accent3>
      <a:accent4>
        <a:srgbClr val="B18126"/>
      </a:accent4>
      <a:accent5>
        <a:srgbClr val="00517C"/>
      </a:accent5>
      <a:accent6>
        <a:srgbClr val="F79646"/>
      </a:accent6>
      <a:hlink>
        <a:srgbClr val="75982F"/>
      </a:hlink>
      <a:folHlink>
        <a:srgbClr val="75982F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1A177AD6-ECB4-45F3-934C-28019D215A84}" vid="{D2FD1126-2838-4244-B59D-8E9217DDCB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SqlSaturday199Bulgaria</Template>
  <TotalTime>41</TotalTime>
  <Words>442</Words>
  <Application>Microsoft Office PowerPoint</Application>
  <PresentationFormat>On-screen Show (4:3)</PresentationFormat>
  <Paragraphs>121</Paragraphs>
  <Slides>29</Slides>
  <Notes>21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Arial</vt:lpstr>
      <vt:lpstr>Calibri</vt:lpstr>
      <vt:lpstr>Wingdings</vt:lpstr>
      <vt:lpstr>SQL Server 2012</vt:lpstr>
      <vt:lpstr>Data-driven Subscription using SSIS and SharePoint</vt:lpstr>
      <vt:lpstr>Sponsors</vt:lpstr>
      <vt:lpstr>About me</vt:lpstr>
      <vt:lpstr>Agenda</vt:lpstr>
      <vt:lpstr>Quick Poll</vt:lpstr>
      <vt:lpstr>Report Subscriptions</vt:lpstr>
      <vt:lpstr>Subscriptions in SharePoint</vt:lpstr>
      <vt:lpstr>Standard vs Enterprise (and BI) </vt:lpstr>
      <vt:lpstr>Normal subscription</vt:lpstr>
      <vt:lpstr>Data-Driven Subscription (1)</vt:lpstr>
      <vt:lpstr>Data-Driven Subscription (2)</vt:lpstr>
      <vt:lpstr>Data-Driven Subscription (3)</vt:lpstr>
      <vt:lpstr>Data-Driven Subscription (4)</vt:lpstr>
      <vt:lpstr>Data Driven Report Subscription Feature</vt:lpstr>
      <vt:lpstr>Solution customer case</vt:lpstr>
      <vt:lpstr>TODO</vt:lpstr>
      <vt:lpstr>Attention for VSS 2012 x64 BI templates</vt:lpstr>
      <vt:lpstr>Report in SQL Server Data Tools (1)</vt:lpstr>
      <vt:lpstr>Report Library in SP2013 (2)</vt:lpstr>
      <vt:lpstr>Subscription list (3)</vt:lpstr>
      <vt:lpstr>SharePoint List Source and Destination (4)</vt:lpstr>
      <vt:lpstr>PowerPoint Presentation</vt:lpstr>
      <vt:lpstr>WSDL (5)</vt:lpstr>
      <vt:lpstr>SSIS and Script Component (6)</vt:lpstr>
      <vt:lpstr>Let the show begin!</vt:lpstr>
      <vt:lpstr>Compatibility and Tested </vt:lpstr>
      <vt:lpstr>Resources</vt:lpstr>
      <vt:lpstr>PowerPoint Presentation</vt:lpstr>
      <vt:lpstr>Sponsors</vt:lpstr>
    </vt:vector>
  </TitlesOfParts>
  <Company>CTG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Subscription using SSIS and SharePoint</dc:title>
  <dc:creator>David Smeets</dc:creator>
  <cp:lastModifiedBy>David Smeets</cp:lastModifiedBy>
  <cp:revision>11</cp:revision>
  <dcterms:created xsi:type="dcterms:W3CDTF">2013-10-24T11:09:32Z</dcterms:created>
  <dcterms:modified xsi:type="dcterms:W3CDTF">2013-10-25T07:29:15Z</dcterms:modified>
</cp:coreProperties>
</file>