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diagrams/quickStyle1.xml" ContentType="application/vnd.openxmlformats-officedocument.drawingml.diagramStyl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customXml/itemProps4.xml" ContentType="application/vnd.openxmlformats-officedocument.customXmlPropertie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3"/>
  </p:notesMasterIdLst>
  <p:handoutMasterIdLst>
    <p:handoutMasterId r:id="rId84"/>
  </p:handoutMasterIdLst>
  <p:sldIdLst>
    <p:sldId id="573" r:id="rId6"/>
    <p:sldId id="763" r:id="rId7"/>
    <p:sldId id="798" r:id="rId8"/>
    <p:sldId id="579" r:id="rId9"/>
    <p:sldId id="580" r:id="rId10"/>
    <p:sldId id="587" r:id="rId11"/>
    <p:sldId id="582" r:id="rId12"/>
    <p:sldId id="727" r:id="rId13"/>
    <p:sldId id="850" r:id="rId14"/>
    <p:sldId id="851" r:id="rId15"/>
    <p:sldId id="696" r:id="rId16"/>
    <p:sldId id="800" r:id="rId17"/>
    <p:sldId id="766" r:id="rId18"/>
    <p:sldId id="799" r:id="rId19"/>
    <p:sldId id="765" r:id="rId20"/>
    <p:sldId id="828" r:id="rId21"/>
    <p:sldId id="827" r:id="rId22"/>
    <p:sldId id="829" r:id="rId23"/>
    <p:sldId id="815" r:id="rId24"/>
    <p:sldId id="816" r:id="rId25"/>
    <p:sldId id="818" r:id="rId26"/>
    <p:sldId id="819" r:id="rId27"/>
    <p:sldId id="820" r:id="rId28"/>
    <p:sldId id="823" r:id="rId29"/>
    <p:sldId id="822" r:id="rId30"/>
    <p:sldId id="824" r:id="rId31"/>
    <p:sldId id="826" r:id="rId32"/>
    <p:sldId id="852" r:id="rId33"/>
    <p:sldId id="831" r:id="rId34"/>
    <p:sldId id="830" r:id="rId35"/>
    <p:sldId id="808" r:id="rId36"/>
    <p:sldId id="764" r:id="rId37"/>
    <p:sldId id="773" r:id="rId38"/>
    <p:sldId id="779" r:id="rId39"/>
    <p:sldId id="788" r:id="rId40"/>
    <p:sldId id="833" r:id="rId41"/>
    <p:sldId id="834" r:id="rId42"/>
    <p:sldId id="835" r:id="rId43"/>
    <p:sldId id="832" r:id="rId44"/>
    <p:sldId id="768" r:id="rId45"/>
    <p:sldId id="782" r:id="rId46"/>
    <p:sldId id="801" r:id="rId47"/>
    <p:sldId id="791" r:id="rId48"/>
    <p:sldId id="838" r:id="rId49"/>
    <p:sldId id="839" r:id="rId50"/>
    <p:sldId id="837" r:id="rId51"/>
    <p:sldId id="769" r:id="rId52"/>
    <p:sldId id="783" r:id="rId53"/>
    <p:sldId id="802" r:id="rId54"/>
    <p:sldId id="792" r:id="rId55"/>
    <p:sldId id="842" r:id="rId56"/>
    <p:sldId id="840" r:id="rId57"/>
    <p:sldId id="843" r:id="rId58"/>
    <p:sldId id="841" r:id="rId59"/>
    <p:sldId id="770" r:id="rId60"/>
    <p:sldId id="784" r:id="rId61"/>
    <p:sldId id="803" r:id="rId62"/>
    <p:sldId id="793" r:id="rId63"/>
    <p:sldId id="845" r:id="rId64"/>
    <p:sldId id="844" r:id="rId65"/>
    <p:sldId id="771" r:id="rId66"/>
    <p:sldId id="785" r:id="rId67"/>
    <p:sldId id="804" r:id="rId68"/>
    <p:sldId id="794" r:id="rId69"/>
    <p:sldId id="846" r:id="rId70"/>
    <p:sldId id="772" r:id="rId71"/>
    <p:sldId id="786" r:id="rId72"/>
    <p:sldId id="805" r:id="rId73"/>
    <p:sldId id="795" r:id="rId74"/>
    <p:sldId id="848" r:id="rId75"/>
    <p:sldId id="847" r:id="rId76"/>
    <p:sldId id="853" r:id="rId77"/>
    <p:sldId id="806" r:id="rId78"/>
    <p:sldId id="807" r:id="rId79"/>
    <p:sldId id="767" r:id="rId80"/>
    <p:sldId id="787" r:id="rId81"/>
    <p:sldId id="515" r:id="rId82"/>
  </p:sldIdLst>
  <p:sldSz cx="9144000" cy="6858000" type="screen4x3"/>
  <p:notesSz cx="6858000" cy="938212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3983" autoAdjust="0"/>
    <p:restoredTop sz="85294" autoAdjust="0"/>
  </p:normalViewPr>
  <p:slideViewPr>
    <p:cSldViewPr>
      <p:cViewPr>
        <p:scale>
          <a:sx n="50" d="100"/>
          <a:sy n="50" d="100"/>
        </p:scale>
        <p:origin x="-33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77" d="100"/>
          <a:sy n="77" d="100"/>
        </p:scale>
        <p:origin x="-2166" y="-90"/>
      </p:cViewPr>
      <p:guideLst>
        <p:guide orient="horz" pos="2955"/>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4F6B84-1A8E-4D1A-AC7C-B1CA5F0A4131}" type="doc">
      <dgm:prSet loTypeId="urn:microsoft.com/office/officeart/2005/8/layout/radial5" loCatId="cycle" qsTypeId="urn:microsoft.com/office/officeart/2005/8/quickstyle/simple2" qsCatId="simple" csTypeId="urn:microsoft.com/office/officeart/2005/8/colors/accent6_2" csCatId="accent6" phldr="1"/>
      <dgm:spPr/>
      <dgm:t>
        <a:bodyPr/>
        <a:lstStyle/>
        <a:p>
          <a:endParaRPr lang="en-US"/>
        </a:p>
      </dgm:t>
    </dgm:pt>
    <dgm:pt modelId="{8660B0C1-FEF9-4350-94FD-3F5346CDCE90}">
      <dgm:prSet phldrT="[Text]"/>
      <dgm:spPr/>
      <dgm:t>
        <a:bodyPr/>
        <a:lstStyle/>
        <a:p>
          <a:r>
            <a:rPr lang="en-US" dirty="0" smtClean="0"/>
            <a:t>Intranet</a:t>
          </a:r>
          <a:endParaRPr lang="en-US" dirty="0"/>
        </a:p>
      </dgm:t>
    </dgm:pt>
    <dgm:pt modelId="{DFD5AC4B-A11C-40C6-9267-5C7DCFB80FFB}" type="parTrans" cxnId="{428B5F3C-1397-4971-A0FA-5FFE832EF9B8}">
      <dgm:prSet/>
      <dgm:spPr/>
      <dgm:t>
        <a:bodyPr/>
        <a:lstStyle/>
        <a:p>
          <a:endParaRPr lang="en-US"/>
        </a:p>
      </dgm:t>
    </dgm:pt>
    <dgm:pt modelId="{6248CA4B-C0EA-4DF0-8873-B0342626E978}" type="sibTrans" cxnId="{428B5F3C-1397-4971-A0FA-5FFE832EF9B8}">
      <dgm:prSet/>
      <dgm:spPr/>
      <dgm:t>
        <a:bodyPr/>
        <a:lstStyle/>
        <a:p>
          <a:endParaRPr lang="en-US"/>
        </a:p>
      </dgm:t>
    </dgm:pt>
    <dgm:pt modelId="{C3010C1A-A766-4158-A305-885A7D3ED14D}">
      <dgm:prSet phldrT="[Text]"/>
      <dgm:spPr/>
      <dgm:t>
        <a:bodyPr/>
        <a:lstStyle/>
        <a:p>
          <a:r>
            <a:rPr lang="en-US" dirty="0" smtClean="0"/>
            <a:t>Extranet</a:t>
          </a:r>
          <a:endParaRPr lang="en-US" dirty="0"/>
        </a:p>
      </dgm:t>
    </dgm:pt>
    <dgm:pt modelId="{8BB85193-26F2-4527-B9EC-B33837168E83}" type="parTrans" cxnId="{F44B7BB5-A37A-49C4-9216-5019E6997FAB}">
      <dgm:prSet/>
      <dgm:spPr/>
      <dgm:t>
        <a:bodyPr/>
        <a:lstStyle/>
        <a:p>
          <a:endParaRPr lang="en-US"/>
        </a:p>
      </dgm:t>
    </dgm:pt>
    <dgm:pt modelId="{C822AB3F-AA38-42F8-B352-391085C26996}" type="sibTrans" cxnId="{F44B7BB5-A37A-49C4-9216-5019E6997FAB}">
      <dgm:prSet/>
      <dgm:spPr/>
      <dgm:t>
        <a:bodyPr/>
        <a:lstStyle/>
        <a:p>
          <a:endParaRPr lang="en-US"/>
        </a:p>
      </dgm:t>
    </dgm:pt>
    <dgm:pt modelId="{67609859-BAB5-4CFF-B69B-158381FD2F4D}">
      <dgm:prSet phldrT="[Text]"/>
      <dgm:spPr/>
      <dgm:t>
        <a:bodyPr/>
        <a:lstStyle/>
        <a:p>
          <a:r>
            <a:rPr lang="en-US" dirty="0" smtClean="0"/>
            <a:t>Internet</a:t>
          </a:r>
          <a:endParaRPr lang="en-US" dirty="0"/>
        </a:p>
      </dgm:t>
    </dgm:pt>
    <dgm:pt modelId="{97B16B1E-44C9-41C5-9EC3-A2231FA93874}" type="parTrans" cxnId="{74EB6FE1-F948-4382-9F66-F5BC4EF83D94}">
      <dgm:prSet/>
      <dgm:spPr/>
      <dgm:t>
        <a:bodyPr/>
        <a:lstStyle/>
        <a:p>
          <a:endParaRPr lang="en-US"/>
        </a:p>
      </dgm:t>
    </dgm:pt>
    <dgm:pt modelId="{444DAD53-5EE2-4295-867E-1643814EE31B}" type="sibTrans" cxnId="{74EB6FE1-F948-4382-9F66-F5BC4EF83D94}">
      <dgm:prSet/>
      <dgm:spPr/>
      <dgm:t>
        <a:bodyPr/>
        <a:lstStyle/>
        <a:p>
          <a:endParaRPr lang="en-US"/>
        </a:p>
      </dgm:t>
    </dgm:pt>
    <dgm:pt modelId="{B5D1E73E-72AE-4DBC-875A-E04E471EE3AC}">
      <dgm:prSet phldrT="[Text]"/>
      <dgm:spPr>
        <a:solidFill>
          <a:schemeClr val="accent6">
            <a:hueOff val="0"/>
            <a:satOff val="0"/>
            <a:lumOff val="0"/>
            <a:alpha val="0"/>
          </a:schemeClr>
        </a:solidFill>
      </dgm:spPr>
      <dgm:t>
        <a:bodyPr/>
        <a:lstStyle/>
        <a:p>
          <a:r>
            <a:rPr lang="en-US" dirty="0" smtClean="0"/>
            <a:t> </a:t>
          </a:r>
          <a:endParaRPr lang="en-US" dirty="0"/>
        </a:p>
      </dgm:t>
    </dgm:pt>
    <dgm:pt modelId="{C0BF0283-69E9-435E-AE54-85E2B9FB790D}" type="sibTrans" cxnId="{19FB60CD-F1A0-4857-992A-AC98951E2AAA}">
      <dgm:prSet/>
      <dgm:spPr/>
      <dgm:t>
        <a:bodyPr/>
        <a:lstStyle/>
        <a:p>
          <a:endParaRPr lang="en-US"/>
        </a:p>
      </dgm:t>
    </dgm:pt>
    <dgm:pt modelId="{491717D0-19BC-4B70-BF5D-7F33186540C9}" type="parTrans" cxnId="{19FB60CD-F1A0-4857-992A-AC98951E2AAA}">
      <dgm:prSet/>
      <dgm:spPr/>
      <dgm:t>
        <a:bodyPr/>
        <a:lstStyle/>
        <a:p>
          <a:endParaRPr lang="en-US"/>
        </a:p>
      </dgm:t>
    </dgm:pt>
    <dgm:pt modelId="{FD0D52D8-E6FB-46B1-910E-1C56A6B15FF0}" type="pres">
      <dgm:prSet presAssocID="{DA4F6B84-1A8E-4D1A-AC7C-B1CA5F0A4131}" presName="Name0" presStyleCnt="0">
        <dgm:presLayoutVars>
          <dgm:chMax val="1"/>
          <dgm:dir/>
          <dgm:animLvl val="ctr"/>
          <dgm:resizeHandles val="exact"/>
        </dgm:presLayoutVars>
      </dgm:prSet>
      <dgm:spPr/>
      <dgm:t>
        <a:bodyPr/>
        <a:lstStyle/>
        <a:p>
          <a:endParaRPr lang="en-US"/>
        </a:p>
      </dgm:t>
    </dgm:pt>
    <dgm:pt modelId="{8D5B6386-F852-443C-A073-94DE525F1988}" type="pres">
      <dgm:prSet presAssocID="{B5D1E73E-72AE-4DBC-875A-E04E471EE3AC}" presName="centerShape" presStyleLbl="node0" presStyleIdx="0" presStyleCnt="1"/>
      <dgm:spPr/>
      <dgm:t>
        <a:bodyPr/>
        <a:lstStyle/>
        <a:p>
          <a:endParaRPr lang="en-US"/>
        </a:p>
      </dgm:t>
    </dgm:pt>
    <dgm:pt modelId="{EB6C32A6-F829-4097-84C5-EDDE5F7489FB}" type="pres">
      <dgm:prSet presAssocID="{DFD5AC4B-A11C-40C6-9267-5C7DCFB80FFB}" presName="parTrans" presStyleLbl="sibTrans2D1" presStyleIdx="0" presStyleCnt="3"/>
      <dgm:spPr/>
      <dgm:t>
        <a:bodyPr/>
        <a:lstStyle/>
        <a:p>
          <a:endParaRPr lang="en-US"/>
        </a:p>
      </dgm:t>
    </dgm:pt>
    <dgm:pt modelId="{CDECF972-12CE-4978-B149-DF90F1A17B49}" type="pres">
      <dgm:prSet presAssocID="{DFD5AC4B-A11C-40C6-9267-5C7DCFB80FFB}" presName="connectorText" presStyleLbl="sibTrans2D1" presStyleIdx="0" presStyleCnt="3"/>
      <dgm:spPr/>
      <dgm:t>
        <a:bodyPr/>
        <a:lstStyle/>
        <a:p>
          <a:endParaRPr lang="en-US"/>
        </a:p>
      </dgm:t>
    </dgm:pt>
    <dgm:pt modelId="{E960639B-46E3-4BED-A0C7-8FC6626C0525}" type="pres">
      <dgm:prSet presAssocID="{8660B0C1-FEF9-4350-94FD-3F5346CDCE90}" presName="node" presStyleLbl="node1" presStyleIdx="0" presStyleCnt="3">
        <dgm:presLayoutVars>
          <dgm:bulletEnabled val="1"/>
        </dgm:presLayoutVars>
      </dgm:prSet>
      <dgm:spPr/>
      <dgm:t>
        <a:bodyPr/>
        <a:lstStyle/>
        <a:p>
          <a:endParaRPr lang="en-US"/>
        </a:p>
      </dgm:t>
    </dgm:pt>
    <dgm:pt modelId="{406486DB-0093-41F4-918C-324669EDD379}" type="pres">
      <dgm:prSet presAssocID="{8BB85193-26F2-4527-B9EC-B33837168E83}" presName="parTrans" presStyleLbl="sibTrans2D1" presStyleIdx="1" presStyleCnt="3"/>
      <dgm:spPr/>
      <dgm:t>
        <a:bodyPr/>
        <a:lstStyle/>
        <a:p>
          <a:endParaRPr lang="en-US"/>
        </a:p>
      </dgm:t>
    </dgm:pt>
    <dgm:pt modelId="{AC0BA776-7840-4CE8-8815-370B9DD34BCA}" type="pres">
      <dgm:prSet presAssocID="{8BB85193-26F2-4527-B9EC-B33837168E83}" presName="connectorText" presStyleLbl="sibTrans2D1" presStyleIdx="1" presStyleCnt="3"/>
      <dgm:spPr/>
      <dgm:t>
        <a:bodyPr/>
        <a:lstStyle/>
        <a:p>
          <a:endParaRPr lang="en-US"/>
        </a:p>
      </dgm:t>
    </dgm:pt>
    <dgm:pt modelId="{619E5BF5-20AA-4D16-9D8D-D458A46D919B}" type="pres">
      <dgm:prSet presAssocID="{C3010C1A-A766-4158-A305-885A7D3ED14D}" presName="node" presStyleLbl="node1" presStyleIdx="1" presStyleCnt="3">
        <dgm:presLayoutVars>
          <dgm:bulletEnabled val="1"/>
        </dgm:presLayoutVars>
      </dgm:prSet>
      <dgm:spPr/>
      <dgm:t>
        <a:bodyPr/>
        <a:lstStyle/>
        <a:p>
          <a:endParaRPr lang="en-US"/>
        </a:p>
      </dgm:t>
    </dgm:pt>
    <dgm:pt modelId="{1E1F6FFE-C4EA-4F0A-88D0-95F2FDA5F1A0}" type="pres">
      <dgm:prSet presAssocID="{97B16B1E-44C9-41C5-9EC3-A2231FA93874}" presName="parTrans" presStyleLbl="sibTrans2D1" presStyleIdx="2" presStyleCnt="3"/>
      <dgm:spPr/>
      <dgm:t>
        <a:bodyPr/>
        <a:lstStyle/>
        <a:p>
          <a:endParaRPr lang="en-US"/>
        </a:p>
      </dgm:t>
    </dgm:pt>
    <dgm:pt modelId="{70B8B3D0-5DAF-4D51-B552-D9E126B45A47}" type="pres">
      <dgm:prSet presAssocID="{97B16B1E-44C9-41C5-9EC3-A2231FA93874}" presName="connectorText" presStyleLbl="sibTrans2D1" presStyleIdx="2" presStyleCnt="3"/>
      <dgm:spPr/>
      <dgm:t>
        <a:bodyPr/>
        <a:lstStyle/>
        <a:p>
          <a:endParaRPr lang="en-US"/>
        </a:p>
      </dgm:t>
    </dgm:pt>
    <dgm:pt modelId="{FF851EFA-622B-4340-86ED-2A65C0031419}" type="pres">
      <dgm:prSet presAssocID="{67609859-BAB5-4CFF-B69B-158381FD2F4D}" presName="node" presStyleLbl="node1" presStyleIdx="2" presStyleCnt="3">
        <dgm:presLayoutVars>
          <dgm:bulletEnabled val="1"/>
        </dgm:presLayoutVars>
      </dgm:prSet>
      <dgm:spPr/>
      <dgm:t>
        <a:bodyPr/>
        <a:lstStyle/>
        <a:p>
          <a:endParaRPr lang="en-US"/>
        </a:p>
      </dgm:t>
    </dgm:pt>
  </dgm:ptLst>
  <dgm:cxnLst>
    <dgm:cxn modelId="{19FB60CD-F1A0-4857-992A-AC98951E2AAA}" srcId="{DA4F6B84-1A8E-4D1A-AC7C-B1CA5F0A4131}" destId="{B5D1E73E-72AE-4DBC-875A-E04E471EE3AC}" srcOrd="0" destOrd="0" parTransId="{491717D0-19BC-4B70-BF5D-7F33186540C9}" sibTransId="{C0BF0283-69E9-435E-AE54-85E2B9FB790D}"/>
    <dgm:cxn modelId="{EA581E5B-656C-4105-81EC-7D465532A0CB}" type="presOf" srcId="{DFD5AC4B-A11C-40C6-9267-5C7DCFB80FFB}" destId="{CDECF972-12CE-4978-B149-DF90F1A17B49}" srcOrd="1" destOrd="0" presId="urn:microsoft.com/office/officeart/2005/8/layout/radial5"/>
    <dgm:cxn modelId="{12BB424D-4A1C-4A76-B087-504D9CB4B8D6}" type="presOf" srcId="{97B16B1E-44C9-41C5-9EC3-A2231FA93874}" destId="{70B8B3D0-5DAF-4D51-B552-D9E126B45A47}" srcOrd="1" destOrd="0" presId="urn:microsoft.com/office/officeart/2005/8/layout/radial5"/>
    <dgm:cxn modelId="{83F156FC-AC52-4B09-B004-53A1D506B77B}" type="presOf" srcId="{97B16B1E-44C9-41C5-9EC3-A2231FA93874}" destId="{1E1F6FFE-C4EA-4F0A-88D0-95F2FDA5F1A0}" srcOrd="0" destOrd="0" presId="urn:microsoft.com/office/officeart/2005/8/layout/radial5"/>
    <dgm:cxn modelId="{74EB6FE1-F948-4382-9F66-F5BC4EF83D94}" srcId="{B5D1E73E-72AE-4DBC-875A-E04E471EE3AC}" destId="{67609859-BAB5-4CFF-B69B-158381FD2F4D}" srcOrd="2" destOrd="0" parTransId="{97B16B1E-44C9-41C5-9EC3-A2231FA93874}" sibTransId="{444DAD53-5EE2-4295-867E-1643814EE31B}"/>
    <dgm:cxn modelId="{4C45AAE6-FE35-44ED-8AF6-E3EC275A8A48}" type="presOf" srcId="{DFD5AC4B-A11C-40C6-9267-5C7DCFB80FFB}" destId="{EB6C32A6-F829-4097-84C5-EDDE5F7489FB}" srcOrd="0" destOrd="0" presId="urn:microsoft.com/office/officeart/2005/8/layout/radial5"/>
    <dgm:cxn modelId="{68577BA6-E5C1-4053-814D-D32B59B45B03}" type="presOf" srcId="{B5D1E73E-72AE-4DBC-875A-E04E471EE3AC}" destId="{8D5B6386-F852-443C-A073-94DE525F1988}" srcOrd="0" destOrd="0" presId="urn:microsoft.com/office/officeart/2005/8/layout/radial5"/>
    <dgm:cxn modelId="{5F54E717-60B2-416C-8768-EC39CC10503F}" type="presOf" srcId="{8660B0C1-FEF9-4350-94FD-3F5346CDCE90}" destId="{E960639B-46E3-4BED-A0C7-8FC6626C0525}" srcOrd="0" destOrd="0" presId="urn:microsoft.com/office/officeart/2005/8/layout/radial5"/>
    <dgm:cxn modelId="{358B5895-85D5-4137-8B91-10169EB0EE6B}" type="presOf" srcId="{C3010C1A-A766-4158-A305-885A7D3ED14D}" destId="{619E5BF5-20AA-4D16-9D8D-D458A46D919B}" srcOrd="0" destOrd="0" presId="urn:microsoft.com/office/officeart/2005/8/layout/radial5"/>
    <dgm:cxn modelId="{3D0A133B-89D1-4809-9F7F-2CEEF8897D3E}" type="presOf" srcId="{DA4F6B84-1A8E-4D1A-AC7C-B1CA5F0A4131}" destId="{FD0D52D8-E6FB-46B1-910E-1C56A6B15FF0}" srcOrd="0" destOrd="0" presId="urn:microsoft.com/office/officeart/2005/8/layout/radial5"/>
    <dgm:cxn modelId="{34005F61-D4F2-414C-A392-1C22DEB21488}" type="presOf" srcId="{67609859-BAB5-4CFF-B69B-158381FD2F4D}" destId="{FF851EFA-622B-4340-86ED-2A65C0031419}" srcOrd="0" destOrd="0" presId="urn:microsoft.com/office/officeart/2005/8/layout/radial5"/>
    <dgm:cxn modelId="{F44B7BB5-A37A-49C4-9216-5019E6997FAB}" srcId="{B5D1E73E-72AE-4DBC-875A-E04E471EE3AC}" destId="{C3010C1A-A766-4158-A305-885A7D3ED14D}" srcOrd="1" destOrd="0" parTransId="{8BB85193-26F2-4527-B9EC-B33837168E83}" sibTransId="{C822AB3F-AA38-42F8-B352-391085C26996}"/>
    <dgm:cxn modelId="{428B5F3C-1397-4971-A0FA-5FFE832EF9B8}" srcId="{B5D1E73E-72AE-4DBC-875A-E04E471EE3AC}" destId="{8660B0C1-FEF9-4350-94FD-3F5346CDCE90}" srcOrd="0" destOrd="0" parTransId="{DFD5AC4B-A11C-40C6-9267-5C7DCFB80FFB}" sibTransId="{6248CA4B-C0EA-4DF0-8873-B0342626E978}"/>
    <dgm:cxn modelId="{DA5E953F-CDCE-4D65-863C-1FC961A85CF3}" type="presOf" srcId="{8BB85193-26F2-4527-B9EC-B33837168E83}" destId="{AC0BA776-7840-4CE8-8815-370B9DD34BCA}" srcOrd="1" destOrd="0" presId="urn:microsoft.com/office/officeart/2005/8/layout/radial5"/>
    <dgm:cxn modelId="{8AB7662E-2D05-441C-87D3-E23AD0D15028}" type="presOf" srcId="{8BB85193-26F2-4527-B9EC-B33837168E83}" destId="{406486DB-0093-41F4-918C-324669EDD379}" srcOrd="0" destOrd="0" presId="urn:microsoft.com/office/officeart/2005/8/layout/radial5"/>
    <dgm:cxn modelId="{761D677D-1E31-4347-8BA5-46920967895D}" type="presParOf" srcId="{FD0D52D8-E6FB-46B1-910E-1C56A6B15FF0}" destId="{8D5B6386-F852-443C-A073-94DE525F1988}" srcOrd="0" destOrd="0" presId="urn:microsoft.com/office/officeart/2005/8/layout/radial5"/>
    <dgm:cxn modelId="{693E2F94-BD32-43D8-BF13-27C000DD3F84}" type="presParOf" srcId="{FD0D52D8-E6FB-46B1-910E-1C56A6B15FF0}" destId="{EB6C32A6-F829-4097-84C5-EDDE5F7489FB}" srcOrd="1" destOrd="0" presId="urn:microsoft.com/office/officeart/2005/8/layout/radial5"/>
    <dgm:cxn modelId="{7943E53A-1ABB-4C80-95B5-A3DD5136F15A}" type="presParOf" srcId="{EB6C32A6-F829-4097-84C5-EDDE5F7489FB}" destId="{CDECF972-12CE-4978-B149-DF90F1A17B49}" srcOrd="0" destOrd="0" presId="urn:microsoft.com/office/officeart/2005/8/layout/radial5"/>
    <dgm:cxn modelId="{A85DB361-E07E-41C7-BB3F-B814E732F248}" type="presParOf" srcId="{FD0D52D8-E6FB-46B1-910E-1C56A6B15FF0}" destId="{E960639B-46E3-4BED-A0C7-8FC6626C0525}" srcOrd="2" destOrd="0" presId="urn:microsoft.com/office/officeart/2005/8/layout/radial5"/>
    <dgm:cxn modelId="{B138ABF2-9CA1-48D5-8EE5-4D943155DACF}" type="presParOf" srcId="{FD0D52D8-E6FB-46B1-910E-1C56A6B15FF0}" destId="{406486DB-0093-41F4-918C-324669EDD379}" srcOrd="3" destOrd="0" presId="urn:microsoft.com/office/officeart/2005/8/layout/radial5"/>
    <dgm:cxn modelId="{E45C2CD8-BA41-4470-98CB-A79EFBC106CD}" type="presParOf" srcId="{406486DB-0093-41F4-918C-324669EDD379}" destId="{AC0BA776-7840-4CE8-8815-370B9DD34BCA}" srcOrd="0" destOrd="0" presId="urn:microsoft.com/office/officeart/2005/8/layout/radial5"/>
    <dgm:cxn modelId="{3383ED10-CB11-4506-A596-228376F31C83}" type="presParOf" srcId="{FD0D52D8-E6FB-46B1-910E-1C56A6B15FF0}" destId="{619E5BF5-20AA-4D16-9D8D-D458A46D919B}" srcOrd="4" destOrd="0" presId="urn:microsoft.com/office/officeart/2005/8/layout/radial5"/>
    <dgm:cxn modelId="{4581232C-9C67-49A2-BAAE-ED807CD189F0}" type="presParOf" srcId="{FD0D52D8-E6FB-46B1-910E-1C56A6B15FF0}" destId="{1E1F6FFE-C4EA-4F0A-88D0-95F2FDA5F1A0}" srcOrd="5" destOrd="0" presId="urn:microsoft.com/office/officeart/2005/8/layout/radial5"/>
    <dgm:cxn modelId="{8E88709A-265B-4649-81DD-317916D4F6B2}" type="presParOf" srcId="{1E1F6FFE-C4EA-4F0A-88D0-95F2FDA5F1A0}" destId="{70B8B3D0-5DAF-4D51-B552-D9E126B45A47}" srcOrd="0" destOrd="0" presId="urn:microsoft.com/office/officeart/2005/8/layout/radial5"/>
    <dgm:cxn modelId="{E70ADA32-8006-4403-B2F8-E034AFC4B823}" type="presParOf" srcId="{FD0D52D8-E6FB-46B1-910E-1C56A6B15FF0}" destId="{FF851EFA-622B-4340-86ED-2A65C0031419}" srcOrd="6" destOrd="0" presId="urn:microsoft.com/office/officeart/2005/8/layout/radial5"/>
  </dgm:cxnLst>
  <dgm:bg/>
  <dgm:whole/>
</dgm:dataModel>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8313"/>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68313"/>
          </a:xfrm>
          <a:prstGeom prst="rect">
            <a:avLst/>
          </a:prstGeom>
        </p:spPr>
        <p:txBody>
          <a:bodyPr vert="horz" lIns="91440" tIns="45720" rIns="91440" bIns="45720" rtlCol="0"/>
          <a:lstStyle>
            <a:lvl1pPr algn="r">
              <a:defRPr sz="1200">
                <a:latin typeface="Arial" charset="0"/>
                <a:cs typeface="Arial" charset="0"/>
              </a:defRPr>
            </a:lvl1pPr>
          </a:lstStyle>
          <a:p>
            <a:pPr>
              <a:defRPr/>
            </a:pPr>
            <a:fld id="{D713F605-86E7-4742-A455-A6AA8E6E2778}" type="datetimeFigureOut">
              <a:rPr lang="en-US"/>
              <a:pPr>
                <a:defRPr/>
              </a:pPr>
              <a:t>11/11/2009</a:t>
            </a:fld>
            <a:endParaRPr lang="en-US" dirty="0"/>
          </a:p>
        </p:txBody>
      </p:sp>
      <p:sp>
        <p:nvSpPr>
          <p:cNvPr id="4" name="Footer Placeholder 3"/>
          <p:cNvSpPr>
            <a:spLocks noGrp="1"/>
          </p:cNvSpPr>
          <p:nvPr>
            <p:ph type="ftr" sz="quarter" idx="2"/>
          </p:nvPr>
        </p:nvSpPr>
        <p:spPr>
          <a:xfrm>
            <a:off x="0" y="8910638"/>
            <a:ext cx="2971800" cy="4699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910638"/>
            <a:ext cx="2971800" cy="469900"/>
          </a:xfrm>
          <a:prstGeom prst="rect">
            <a:avLst/>
          </a:prstGeom>
        </p:spPr>
        <p:txBody>
          <a:bodyPr vert="horz" lIns="91440" tIns="45720" rIns="91440" bIns="45720" rtlCol="0" anchor="b"/>
          <a:lstStyle>
            <a:lvl1pPr algn="r">
              <a:defRPr sz="1200">
                <a:latin typeface="Arial" charset="0"/>
                <a:cs typeface="Arial" charset="0"/>
              </a:defRPr>
            </a:lvl1pPr>
          </a:lstStyle>
          <a:p>
            <a:pPr>
              <a:defRPr/>
            </a:pPr>
            <a:fld id="{853B6109-ABBF-4CF3-AEC2-C948B8534467}"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8313"/>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68313"/>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FE8A535-74EF-4D1F-A3AC-BBA6B2A814D3}" type="datetimeFigureOut">
              <a:rPr lang="en-US"/>
              <a:pPr>
                <a:defRPr/>
              </a:pPr>
              <a:t>11/11/2009</a:t>
            </a:fld>
            <a:endParaRPr lang="en-US" dirty="0"/>
          </a:p>
        </p:txBody>
      </p:sp>
      <p:sp>
        <p:nvSpPr>
          <p:cNvPr id="4" name="Slide Image Placeholder 3"/>
          <p:cNvSpPr>
            <a:spLocks noGrp="1" noRot="1" noChangeAspect="1"/>
          </p:cNvSpPr>
          <p:nvPr>
            <p:ph type="sldImg" idx="2"/>
          </p:nvPr>
        </p:nvSpPr>
        <p:spPr>
          <a:xfrm>
            <a:off x="1084263" y="703263"/>
            <a:ext cx="4689475" cy="35179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456113"/>
            <a:ext cx="5486400" cy="422275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910638"/>
            <a:ext cx="2971800" cy="4699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910638"/>
            <a:ext cx="2971800" cy="4699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49E957B5-E119-4476-9F08-03035E33EF8C}"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611A5D9F-5D0B-4950-8312-19A1DB6C7AAE}"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611A5D9F-5D0B-4950-8312-19A1DB6C7AAE}"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9</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16</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19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dirty="0"/>
          </a:p>
        </p:txBody>
      </p:sp>
      <p:sp>
        <p:nvSpPr>
          <p:cNvPr id="8" name="Date Placeholder 7"/>
          <p:cNvSpPr>
            <a:spLocks noGrp="1"/>
          </p:cNvSpPr>
          <p:nvPr>
            <p:ph type="dt" idx="10"/>
          </p:nvPr>
        </p:nvSpPr>
        <p:spPr/>
        <p:txBody>
          <a:bodyPr/>
          <a:lstStyle/>
          <a:p>
            <a:fld id="{3435A064-5124-4F5C-B19C-049B343B364A}" type="datetime1">
              <a:rPr lang="en-US" smtClean="0"/>
              <a:pPr/>
              <a:t>11/11/2009</a:t>
            </a:fld>
            <a:endParaRPr lang="en-US" dirty="0"/>
          </a:p>
        </p:txBody>
      </p:sp>
      <p:sp>
        <p:nvSpPr>
          <p:cNvPr id="9" name="Slide Number Placeholder 8"/>
          <p:cNvSpPr>
            <a:spLocks noGrp="1"/>
          </p:cNvSpPr>
          <p:nvPr>
            <p:ph type="sldNum" sz="quarter" idx="11"/>
          </p:nvPr>
        </p:nvSpPr>
        <p:spPr/>
        <p:txBody>
          <a:bodyPr/>
          <a:lstStyle/>
          <a:p>
            <a:fld id="{8B263312-38AA-4E1E-B2B5-0F8F122B24FE}" type="slidenum">
              <a:rPr lang="en-US" smtClean="0"/>
              <a:pPr/>
              <a:t>21</a:t>
            </a:fld>
            <a:endParaRPr lang="en-US" dirty="0"/>
          </a:p>
        </p:txBody>
      </p:sp>
      <p:sp>
        <p:nvSpPr>
          <p:cNvPr id="10" name="Footer Placeholder 9"/>
          <p:cNvSpPr>
            <a:spLocks noGrp="1"/>
          </p:cNvSpPr>
          <p:nvPr>
            <p:ph type="ftr" sz="quarter" idx="12"/>
          </p:nvPr>
        </p:nvSpPr>
        <p:spPr/>
        <p:txBody>
          <a:bodyPr/>
          <a:lstStyle/>
          <a:p>
            <a:r>
              <a:rPr lang="en-US" smtClean="0">
                <a:solidFill>
                  <a:srgbClr val="000000"/>
                </a:solidFill>
              </a:rPr>
              <a:t>© 2009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endParaRPr lang="en-US" dirty="0" smtClean="0">
              <a:solidFill>
                <a:srgbClr val="000000"/>
              </a:solidFill>
            </a:endParaRPr>
          </a:p>
        </p:txBody>
      </p:sp>
      <p:sp>
        <p:nvSpPr>
          <p:cNvPr id="11" name="Header Placeholder 10"/>
          <p:cNvSpPr>
            <a:spLocks noGrp="1"/>
          </p:cNvSpPr>
          <p:nvPr>
            <p:ph type="hdr" sz="quarter" idx="13"/>
          </p:nvPr>
        </p:nvSpPr>
        <p:spPr/>
        <p:txBody>
          <a:bodyPr/>
          <a:lstStyle/>
          <a:p>
            <a:r>
              <a:rPr lang="en-US" smtClean="0"/>
              <a:t>Microsoft SharePoint Conference 2009</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dirty="0" smtClean="0">
              <a:gradFill>
                <a:gsLst>
                  <a:gs pos="0">
                    <a:schemeClr val="tx1"/>
                  </a:gs>
                  <a:gs pos="100000">
                    <a:schemeClr val="tx1"/>
                  </a:gs>
                </a:gsLst>
                <a:lin ang="5400000" scaled="0"/>
              </a:gradFill>
            </a:endParaRPr>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11/11/2009 5:57 AM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Segoe UI" pitchFamily="34" charset="0"/>
              </a:rPr>
              <a:t>© 2007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a:p>
            <a:endParaRPr lang="en-US" dirty="0">
              <a:latin typeface="Segoe U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dirty="0" smtClean="0">
              <a:gradFill>
                <a:gsLst>
                  <a:gs pos="0">
                    <a:schemeClr val="tx1"/>
                  </a:gs>
                  <a:gs pos="100000">
                    <a:schemeClr val="tx1"/>
                  </a:gs>
                </a:gsLst>
                <a:lin ang="5400000" scaled="0"/>
              </a:gradFill>
            </a:endParaRPr>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11/11/2009 5:57 AM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Segoe UI" pitchFamily="34" charset="0"/>
              </a:rPr>
              <a:t>© 2007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a:p>
            <a:endParaRPr lang="en-US" dirty="0">
              <a:latin typeface="Segoe U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2007’s big innovation was making Internet possible</a:t>
            </a:r>
          </a:p>
          <a:p>
            <a:r>
              <a:rPr lang="en-US" dirty="0" smtClean="0"/>
              <a:t>2010</a:t>
            </a:r>
            <a:r>
              <a:rPr lang="en-US" baseline="0" dirty="0" smtClean="0"/>
              <a:t> allows you to do all of this on premise or in the cloud</a:t>
            </a:r>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24</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dirty="0"/>
          </a:p>
        </p:txBody>
      </p:sp>
      <p:sp>
        <p:nvSpPr>
          <p:cNvPr id="8" name="Date Placeholder 7"/>
          <p:cNvSpPr>
            <a:spLocks noGrp="1"/>
          </p:cNvSpPr>
          <p:nvPr>
            <p:ph type="dt" idx="10"/>
          </p:nvPr>
        </p:nvSpPr>
        <p:spPr/>
        <p:txBody>
          <a:bodyPr/>
          <a:lstStyle/>
          <a:p>
            <a:fld id="{3435A064-5124-4F5C-B19C-049B343B364A}" type="datetime1">
              <a:rPr lang="en-US" smtClean="0">
                <a:solidFill>
                  <a:prstClr val="black"/>
                </a:solidFill>
              </a:rPr>
              <a:pPr/>
              <a:t>11/11/2009</a:t>
            </a:fld>
            <a:endParaRPr lang="en-US" dirty="0">
              <a:solidFill>
                <a:prstClr val="black"/>
              </a:solidFill>
            </a:endParaRPr>
          </a:p>
        </p:txBody>
      </p:sp>
      <p:sp>
        <p:nvSpPr>
          <p:cNvPr id="9" name="Slide Number Placeholder 8"/>
          <p:cNvSpPr>
            <a:spLocks noGrp="1"/>
          </p:cNvSpPr>
          <p:nvPr>
            <p:ph type="sldNum" sz="quarter" idx="11"/>
          </p:nvPr>
        </p:nvSpPr>
        <p:spPr/>
        <p:txBody>
          <a:bodyPr/>
          <a:lstStyle/>
          <a:p>
            <a:fld id="{8B263312-38AA-4E1E-B2B5-0F8F122B24FE}" type="slidenum">
              <a:rPr lang="en-US" smtClean="0">
                <a:solidFill>
                  <a:prstClr val="black"/>
                </a:solidFill>
              </a:rPr>
              <a:pPr/>
              <a:t>25</a:t>
            </a:fld>
            <a:endParaRPr lang="en-US" dirty="0">
              <a:solidFill>
                <a:prstClr val="black"/>
              </a:solidFill>
            </a:endParaRPr>
          </a:p>
        </p:txBody>
      </p:sp>
      <p:sp>
        <p:nvSpPr>
          <p:cNvPr id="10" name="Footer Placeholder 9"/>
          <p:cNvSpPr>
            <a:spLocks noGrp="1"/>
          </p:cNvSpPr>
          <p:nvPr>
            <p:ph type="ftr" sz="quarter" idx="12"/>
          </p:nvPr>
        </p:nvSpPr>
        <p:spPr/>
        <p:txBody>
          <a:bodyPr/>
          <a:lstStyle/>
          <a:p>
            <a:r>
              <a:rPr lang="en-US" smtClean="0">
                <a:solidFill>
                  <a:srgbClr val="000000"/>
                </a:solidFill>
              </a:rPr>
              <a:t>© 2009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endParaRPr lang="en-US" dirty="0" smtClean="0">
              <a:solidFill>
                <a:srgbClr val="000000"/>
              </a:solidFill>
            </a:endParaRPr>
          </a:p>
        </p:txBody>
      </p:sp>
      <p:sp>
        <p:nvSpPr>
          <p:cNvPr id="11" name="Header Placeholder 10"/>
          <p:cNvSpPr>
            <a:spLocks noGrp="1"/>
          </p:cNvSpPr>
          <p:nvPr>
            <p:ph type="hdr" sz="quarter" idx="13"/>
          </p:nvPr>
        </p:nvSpPr>
        <p:spPr/>
        <p:txBody>
          <a:bodyPr/>
          <a:lstStyle/>
          <a:p>
            <a:r>
              <a:rPr lang="en-US" smtClean="0">
                <a:solidFill>
                  <a:prstClr val="black"/>
                </a:solidFill>
              </a:rPr>
              <a:t>Microsoft SharePoint Conference 2009</a:t>
            </a:r>
            <a:endParaRPr lang="en-US" dirty="0">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26</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27</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28</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4263" y="703263"/>
            <a:ext cx="4689475" cy="35179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29</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4263" y="703263"/>
            <a:ext cx="4689475" cy="35179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4263" y="703263"/>
            <a:ext cx="4689475" cy="35179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31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32</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SharePoint’s New Groove (I’m not saying it) -RM</a:t>
            </a:r>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36</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40</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47</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55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They say it works...  I’m not convinced?</a:t>
            </a:r>
            <a:endParaRPr lang="en-US" dirty="0"/>
          </a:p>
        </p:txBody>
      </p:sp>
      <p:sp>
        <p:nvSpPr>
          <p:cNvPr id="4" name="Slide Number Placeholder 3"/>
          <p:cNvSpPr>
            <a:spLocks noGrp="1"/>
          </p:cNvSpPr>
          <p:nvPr>
            <p:ph type="sldNum" sz="quarter" idx="10"/>
          </p:nvPr>
        </p:nvSpPr>
        <p:spPr/>
        <p:txBody>
          <a:bodyPr/>
          <a:lstStyle/>
          <a:p>
            <a:pPr>
              <a:defRPr/>
            </a:pPr>
            <a:fld id="{49E957B5-E119-4476-9F08-03035E33EF8C}" type="slidenum">
              <a:rPr lang="en-US" smtClean="0"/>
              <a:pPr>
                <a:defRPr/>
              </a:pPr>
              <a:t>58</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61</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66</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4263" y="703263"/>
            <a:ext cx="4689475" cy="35179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72</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123B8C6-4DBE-4AD7-A3D4-C1BC78298938}" type="slidenum">
              <a:rPr lang="en-US" smtClean="0"/>
              <a:pPr>
                <a:defRPr/>
              </a:pPr>
              <a:t>75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C89F861-F4FA-4EB4-8CEB-51209EA67D3A}" type="datetimeFigureOut">
              <a:rPr lang="en-US"/>
              <a:pPr>
                <a:defRPr/>
              </a:pPr>
              <a:t>11/11/2009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FCB4CD-5223-4131-B656-A11F69421AB6}"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9F73D31-3E2C-4BB9-BC85-8598638B2968}" type="datetimeFigureOut">
              <a:rPr lang="en-US"/>
              <a:pPr>
                <a:defRPr/>
              </a:pPr>
              <a:t>11/11/2009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785EA93-7A5F-4DE8-AF60-3752DFF0B6F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C94903A-86CE-41A8-B8F9-6D09DFCCDD7F}" type="datetimeFigureOut">
              <a:rPr lang="en-US"/>
              <a:pPr>
                <a:defRPr/>
              </a:pPr>
              <a:t>11/11/2009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335EBD7-723E-485C-92C7-E2837C7D43B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133600"/>
            <a:ext cx="4038600" cy="3992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33600"/>
            <a:ext cx="4038600" cy="3992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FFD4931-CF5C-4F2B-8C89-9D9B91CCD3B1}" type="datetimeFigureOut">
              <a:rPr lang="en-US"/>
              <a:pPr>
                <a:defRPr/>
              </a:pPr>
              <a:t>11/11/2009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B579811-49FD-4C29-91A9-F965435DB5E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22860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941638"/>
            <a:ext cx="4040188" cy="31543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8200" y="22860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941638"/>
            <a:ext cx="4041775" cy="31543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2C64F443-50DB-42EC-AA84-C785FC055BE6}" type="datetimeFigureOut">
              <a:rPr lang="en-US"/>
              <a:pPr>
                <a:defRPr/>
              </a:pPr>
              <a:t>11/11/2009</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7EA4B48-01D8-4191-8136-0F35C4CF573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0A86D09-E67A-4299-933B-5234C7AF6CD2}" type="datetimeFigureOut">
              <a:rPr lang="en-US"/>
              <a:pPr>
                <a:defRPr/>
              </a:pPr>
              <a:t>11/11/2009</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6779355-76AD-4795-9779-B87EB64B9CC8}"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EE62EC-7A32-4C0C-A3F1-8F98A63AEF7E}" type="datetimeFigureOut">
              <a:rPr lang="en-US"/>
              <a:pPr>
                <a:defRPr/>
              </a:pPr>
              <a:t>11/11/2009</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BBBAAAE-208D-446C-9BD1-42512B2C9B96}"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3008313" cy="9334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1295400"/>
            <a:ext cx="5111750" cy="4830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2209800"/>
            <a:ext cx="3008313" cy="39163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944E8F-C539-4C19-BFBD-08369025F2B7}" type="datetimeFigureOut">
              <a:rPr lang="en-US"/>
              <a:pPr>
                <a:defRPr/>
              </a:pPr>
              <a:t>11/11/2009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855B818-CD96-4E7A-AF91-4778241AEA20}"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1219199"/>
            <a:ext cx="5486400" cy="35083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1E3D6B0-B3D1-45BB-82AD-831CDA8DC160}" type="datetimeFigureOut">
              <a:rPr lang="en-US"/>
              <a:pPr>
                <a:defRPr/>
              </a:pPr>
              <a:t>11/11/2009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DCD03B5-1048-444E-8544-AF414F25941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8EB8CC0-723B-42ED-8570-23E1B66FF889}" type="datetimeFigureOut">
              <a:rPr lang="en-US"/>
              <a:pPr>
                <a:defRPr/>
              </a:pPr>
              <a:t>11/11/2009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31E965B-2390-453D-895E-7FCC85D6301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95400"/>
            <a:ext cx="2057400" cy="4830763"/>
          </a:xfrm>
        </p:spPr>
        <p:txBody>
          <a:bodyPr vert="eaVert"/>
          <a:lstStyle/>
          <a:p>
            <a:r>
              <a:rPr lang="en-US" smtClean="0"/>
              <a:t>Click to add title</a:t>
            </a:r>
            <a:endParaRPr lang="en-US"/>
          </a:p>
        </p:txBody>
      </p:sp>
      <p:sp>
        <p:nvSpPr>
          <p:cNvPr id="3" name="Vertical Text Placeholder 2"/>
          <p:cNvSpPr>
            <a:spLocks noGrp="1"/>
          </p:cNvSpPr>
          <p:nvPr>
            <p:ph type="body" orient="vert" idx="1"/>
          </p:nvPr>
        </p:nvSpPr>
        <p:spPr>
          <a:xfrm>
            <a:off x="457200" y="1295400"/>
            <a:ext cx="6019800" cy="4830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3404E87-9B01-4ABD-8972-EB8B1DB6A414}" type="datetimeFigureOut">
              <a:rPr lang="en-US"/>
              <a:pPr>
                <a:defRPr/>
              </a:pPr>
              <a:t>11/11/2009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C6F113-8123-4F46-B65D-7B0774FB819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5_Blank">
    <p:spTree>
      <p:nvGrpSpPr>
        <p:cNvPr id="1" name=""/>
        <p:cNvGrpSpPr/>
        <p:nvPr/>
      </p:nvGrpSpPr>
      <p:grpSpPr>
        <a:xfrm>
          <a:off x="0" y="0"/>
          <a:ext cx="0" cy="0"/>
          <a:chOff x="0" y="0"/>
          <a:chExt cx="0" cy="0"/>
        </a:xfrm>
      </p:grpSpPr>
      <p:sp>
        <p:nvSpPr>
          <p:cNvPr id="2" name="Rectangle 1"/>
          <p:cNvSpPr>
            <a:spLocks noChangeArrowheads="1"/>
          </p:cNvSpPr>
          <p:nvPr userDrawn="1"/>
        </p:nvSpPr>
        <p:spPr bwMode="auto">
          <a:xfrm>
            <a:off x="0" y="6629400"/>
            <a:ext cx="9144000" cy="304800"/>
          </a:xfrm>
          <a:prstGeom prst="rect">
            <a:avLst/>
          </a:prstGeom>
          <a:solidFill>
            <a:schemeClr val="bg2"/>
          </a:solidFill>
          <a:ln w="9525">
            <a:noFill/>
            <a:miter lim="800000"/>
            <a:headEnd/>
            <a:tailEnd/>
          </a:ln>
        </p:spPr>
        <p:txBody>
          <a:bodyPr wrap="none" anchor="ctr"/>
          <a:lstStyle/>
          <a:p>
            <a:pPr fontAlgn="auto">
              <a:spcBef>
                <a:spcPts val="0"/>
              </a:spcBef>
              <a:spcAft>
                <a:spcPts val="0"/>
              </a:spcAft>
              <a:defRPr/>
            </a:pPr>
            <a:endParaRPr lang="en-US">
              <a:latin typeface="Arial" pitchFamily="34" charset="0"/>
              <a:cs typeface="Arial" pitchFamily="34" charset="0"/>
            </a:endParaRPr>
          </a:p>
        </p:txBody>
      </p:sp>
      <p:pic>
        <p:nvPicPr>
          <p:cNvPr id="3" name="Rectangle 1"/>
          <p:cNvPicPr>
            <a:picLocks noChangeAspect="1"/>
          </p:cNvPicPr>
          <p:nvPr userDrawn="1"/>
        </p:nvPicPr>
        <p:blipFill>
          <a:blip r:embed="rId3" cstate="print"/>
          <a:srcRect/>
          <a:stretch>
            <a:fillRect/>
          </a:stretch>
        </p:blipFill>
        <p:spPr bwMode="auto">
          <a:xfrm>
            <a:off x="0" y="0"/>
            <a:ext cx="9144000" cy="1111250"/>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219200"/>
            <a:ext cx="82296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2209800"/>
            <a:ext cx="8229600" cy="3916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67BCD64-E842-4202-86BD-68C4551AD374}" type="datetimeFigureOut">
              <a:rPr lang="en-US"/>
              <a:pPr>
                <a:defRPr/>
              </a:pPr>
              <a:t>11/11/2009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38D7DE-58E2-4894-994D-6D13B73A0E10}" type="slidenum">
              <a:rPr lang="en-US"/>
              <a:pPr>
                <a:defRPr/>
              </a:pPr>
              <a:t>‹#›</a:t>
            </a:fld>
            <a:endParaRPr lang="en-US" dirty="0"/>
          </a:p>
        </p:txBody>
      </p:sp>
      <p:pic>
        <p:nvPicPr>
          <p:cNvPr id="7" name="Rectangle 1"/>
          <p:cNvPicPr>
            <a:picLocks noChangeAspect="1"/>
          </p:cNvPicPr>
          <p:nvPr userDrawn="1"/>
        </p:nvPicPr>
        <p:blipFill>
          <a:blip r:embed="rId14" cstate="print"/>
          <a:srcRect/>
          <a:stretch>
            <a:fillRect/>
          </a:stretch>
        </p:blipFill>
        <p:spPr bwMode="auto">
          <a:xfrm>
            <a:off x="0" y="0"/>
            <a:ext cx="9144000" cy="1111250"/>
          </a:xfrm>
          <a:prstGeom prst="rect">
            <a:avLst/>
          </a:prstGeom>
          <a:noFill/>
          <a:ln w="9525">
            <a:noFill/>
            <a:miter lim="800000"/>
            <a:headEnd/>
            <a:tailEnd/>
          </a:ln>
        </p:spPr>
      </p:pic>
      <p:sp>
        <p:nvSpPr>
          <p:cNvPr id="9" name="Rectangle 8"/>
          <p:cNvSpPr>
            <a:spLocks noChangeArrowheads="1"/>
          </p:cNvSpPr>
          <p:nvPr userDrawn="1"/>
        </p:nvSpPr>
        <p:spPr bwMode="auto">
          <a:xfrm>
            <a:off x="0" y="6629400"/>
            <a:ext cx="9144000" cy="304800"/>
          </a:xfrm>
          <a:prstGeom prst="rect">
            <a:avLst/>
          </a:prstGeom>
          <a:solidFill>
            <a:schemeClr val="bg2"/>
          </a:solidFill>
          <a:ln w="9525">
            <a:noFill/>
            <a:miter lim="800000"/>
            <a:headEnd/>
            <a:tailEnd/>
          </a:ln>
        </p:spPr>
        <p:txBody>
          <a:bodyPr wrap="none" anchor="ctr"/>
          <a:lstStyle/>
          <a:p>
            <a:pPr fontAlgn="auto">
              <a:spcBef>
                <a:spcPts val="0"/>
              </a:spcBef>
              <a:spcAft>
                <a:spcPts val="0"/>
              </a:spcAft>
              <a:defRPr/>
            </a:pPr>
            <a:endParaRPr lang="en-US">
              <a:latin typeface="Arial" pitchFamily="34"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www.newhorizonsmn.com/" TargetMode="External"/><Relationship Id="rId2" Type="http://schemas.openxmlformats.org/officeDocument/2006/relationships/hyperlink" Target="http://www.inetium.com/" TargetMode="External"/><Relationship Id="rId1" Type="http://schemas.openxmlformats.org/officeDocument/2006/relationships/slideLayout" Target="../slideLayouts/slideLayout12.xml"/><Relationship Id="rId4" Type="http://schemas.openxmlformats.org/officeDocument/2006/relationships/hyperlink" Target="http://www.microsof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sharepointmn.com/"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www.sharepointmn.com/"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www.mssharepointconference.com/"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hyperlink" Target="http://www.nhmn.com/" TargetMode="External"/><Relationship Id="rId4" Type="http://schemas.openxmlformats.org/officeDocument/2006/relationships/hyperlink" Target="http://www.sharepointmn.com/MODI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endusersharepoint.com/"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harepoint2010.microsoft.com/try-it/Pages/Trial.aspx"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blogs.msdn.com/sharepoint/archive/2009/05/11/announcing-sharepoint-server-2010-preliminary-system-requirements.aspx"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13.xml"/><Relationship Id="rId16"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9.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1.xml"/><Relationship Id="rId7"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1.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hyperlink" Target="http://mssharepointdeveloper.com/" TargetMode="External"/><Relationship Id="rId2" Type="http://schemas.openxmlformats.org/officeDocument/2006/relationships/hyperlink" Target="http://mssharepointitpro.com/" TargetMode="External"/><Relationship Id="rId1" Type="http://schemas.openxmlformats.org/officeDocument/2006/relationships/slideLayout" Target="../slideLayouts/slideLayout2.xml"/><Relationship Id="rId4" Type="http://schemas.openxmlformats.org/officeDocument/2006/relationships/hyperlink" Target="http://sharepoint.microsoft.com/" TargetMode="External"/></Relationships>
</file>

<file path=ppt/slides/_rels/slide7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TextBox 34820"/>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
        <p:nvSpPr>
          <p:cNvPr id="5" name="Shape 2049"/>
          <p:cNvSpPr txBox="1">
            <a:spLocks noChangeArrowheads="1"/>
          </p:cNvSpPr>
          <p:nvPr/>
        </p:nvSpPr>
        <p:spPr>
          <a:xfrm>
            <a:off x="1524000" y="1066800"/>
            <a:ext cx="5867400" cy="2209800"/>
          </a:xfrm>
          <a:prstGeom prst="rect">
            <a:avLst/>
          </a:prstGeom>
        </p:spPr>
        <p:txBody>
          <a:bodyPr/>
          <a:lstStyle/>
          <a:p>
            <a:pPr algn="ctr" fontAlgn="auto">
              <a:spcBef>
                <a:spcPts val="0"/>
              </a:spcBef>
              <a:spcAft>
                <a:spcPts val="0"/>
              </a:spcAft>
              <a:defRPr/>
            </a:pPr>
            <a:r>
              <a:rPr lang="en-US" sz="4400" kern="0" dirty="0">
                <a:latin typeface="+mj-lt"/>
                <a:ea typeface="+mj-ea"/>
                <a:cs typeface="+mj-cs"/>
              </a:rPr>
              <a:t>Welcome to the </a:t>
            </a:r>
          </a:p>
          <a:p>
            <a:pPr algn="ctr" fontAlgn="auto">
              <a:spcBef>
                <a:spcPts val="0"/>
              </a:spcBef>
              <a:spcAft>
                <a:spcPts val="0"/>
              </a:spcAft>
              <a:defRPr/>
            </a:pPr>
            <a:r>
              <a:rPr lang="en-US" sz="4400" kern="0" dirty="0">
                <a:latin typeface="+mj-lt"/>
                <a:ea typeface="+mj-ea"/>
                <a:cs typeface="+mj-cs"/>
              </a:rPr>
              <a:t>Minnesota SharePoint</a:t>
            </a:r>
          </a:p>
          <a:p>
            <a:pPr algn="ctr" fontAlgn="auto">
              <a:spcBef>
                <a:spcPts val="0"/>
              </a:spcBef>
              <a:spcAft>
                <a:spcPts val="0"/>
              </a:spcAft>
              <a:defRPr/>
            </a:pPr>
            <a:r>
              <a:rPr lang="en-US" sz="4400" kern="0" dirty="0">
                <a:latin typeface="+mj-lt"/>
                <a:ea typeface="+mj-ea"/>
                <a:cs typeface="+mj-cs"/>
              </a:rPr>
              <a:t>User Group</a:t>
            </a:r>
            <a:endParaRPr lang="en-US" sz="2000" dirty="0">
              <a:latin typeface="+mn-lt"/>
              <a:cs typeface="+mn-cs"/>
            </a:endParaRPr>
          </a:p>
        </p:txBody>
      </p:sp>
      <p:sp>
        <p:nvSpPr>
          <p:cNvPr id="4" name="Rectangle 34817"/>
          <p:cNvSpPr txBox="1">
            <a:spLocks/>
          </p:cNvSpPr>
          <p:nvPr/>
        </p:nvSpPr>
        <p:spPr bwMode="auto">
          <a:xfrm>
            <a:off x="0" y="3821113"/>
            <a:ext cx="9144000" cy="1055687"/>
          </a:xfrm>
          <a:prstGeom prst="rect">
            <a:avLst/>
          </a:prstGeom>
          <a:noFill/>
          <a:ln w="9525">
            <a:noFill/>
            <a:miter lim="800000"/>
            <a:headEnd/>
            <a:tailEnd/>
          </a:ln>
        </p:spPr>
        <p:txBody>
          <a:bodyPr anchor="ctr"/>
          <a:lstStyle/>
          <a:p>
            <a:pPr algn="ctr">
              <a:defRPr/>
            </a:pPr>
            <a:r>
              <a:rPr lang="en-US" sz="2800" dirty="0" smtClean="0">
                <a:latin typeface="+mj-lt"/>
                <a:ea typeface="+mj-ea"/>
                <a:cs typeface="+mj-cs"/>
              </a:rPr>
              <a:t>November 11</a:t>
            </a:r>
            <a:r>
              <a:rPr lang="en-US" sz="2800" baseline="30000" dirty="0" smtClean="0">
                <a:latin typeface="+mj-lt"/>
                <a:ea typeface="+mj-ea"/>
                <a:cs typeface="+mj-cs"/>
              </a:rPr>
              <a:t>th</a:t>
            </a:r>
            <a:r>
              <a:rPr lang="en-US" sz="2800" dirty="0" smtClean="0">
                <a:latin typeface="+mj-lt"/>
                <a:ea typeface="+mj-ea"/>
                <a:cs typeface="+mj-cs"/>
              </a:rPr>
              <a:t>, 2009</a:t>
            </a:r>
          </a:p>
          <a:p>
            <a:pPr algn="ctr">
              <a:defRPr/>
            </a:pPr>
            <a:endParaRPr lang="en-US" sz="2800" dirty="0">
              <a:latin typeface="+mj-lt"/>
              <a:ea typeface="+mj-ea"/>
              <a:cs typeface="+mj-cs"/>
            </a:endParaRPr>
          </a:p>
          <a:p>
            <a:pPr algn="ctr">
              <a:defRPr/>
            </a:pPr>
            <a:r>
              <a:rPr lang="en-US" sz="2800" dirty="0" smtClean="0">
                <a:latin typeface="+mj-lt"/>
                <a:ea typeface="+mj-ea"/>
                <a:cs typeface="+mj-cs"/>
              </a:rPr>
              <a:t>SharePoint 2010 - Overview</a:t>
            </a:r>
            <a:endParaRPr lang="en-US" sz="2800" dirty="0">
              <a:latin typeface="+mj-lt"/>
              <a:ea typeface="+mj-ea"/>
              <a:cs typeface="+mj-cs"/>
            </a:endParaRPr>
          </a:p>
        </p:txBody>
      </p:sp>
      <p:sp>
        <p:nvSpPr>
          <p:cNvPr id="6" name="Rectangle 34817"/>
          <p:cNvSpPr txBox="1">
            <a:spLocks/>
          </p:cNvSpPr>
          <p:nvPr/>
        </p:nvSpPr>
        <p:spPr bwMode="auto">
          <a:xfrm>
            <a:off x="0" y="4876800"/>
            <a:ext cx="9144000" cy="1676400"/>
          </a:xfrm>
          <a:prstGeom prst="rect">
            <a:avLst/>
          </a:prstGeom>
          <a:noFill/>
          <a:ln w="9525">
            <a:noFill/>
            <a:miter lim="800000"/>
            <a:headEnd/>
            <a:tailEnd/>
          </a:ln>
        </p:spPr>
        <p:txBody>
          <a:bodyPr anchor="ctr"/>
          <a:lstStyle/>
          <a:p>
            <a:pPr algn="ctr">
              <a:defRPr/>
            </a:pPr>
            <a:r>
              <a:rPr lang="en-US" sz="2000" dirty="0" smtClean="0">
                <a:latin typeface="+mj-lt"/>
                <a:ea typeface="+mj-ea"/>
                <a:cs typeface="+mj-cs"/>
              </a:rPr>
              <a:t>Wes Preston</a:t>
            </a:r>
          </a:p>
          <a:p>
            <a:pPr algn="ctr">
              <a:defRPr/>
            </a:pPr>
            <a:r>
              <a:rPr lang="en-US" sz="2000" dirty="0" smtClean="0">
                <a:solidFill>
                  <a:srgbClr val="000000"/>
                </a:solidFill>
                <a:latin typeface="Calibri"/>
              </a:rPr>
              <a:t>Raymond Mitchell</a:t>
            </a:r>
            <a:endParaRPr lang="en-US" sz="2000" dirty="0">
              <a:latin typeface="+mj-lt"/>
              <a:ea typeface="+mj-ea"/>
              <a:cs typeface="+mj-cs"/>
            </a:endParaRPr>
          </a:p>
        </p:txBody>
      </p:sp>
      <p:sp>
        <p:nvSpPr>
          <p:cNvPr id="7" name="Rectangle 6"/>
          <p:cNvSpPr/>
          <p:nvPr/>
        </p:nvSpPr>
        <p:spPr>
          <a:xfrm>
            <a:off x="8153401" y="6581001"/>
            <a:ext cx="1010982" cy="276999"/>
          </a:xfrm>
          <a:prstGeom prst="rect">
            <a:avLst/>
          </a:prstGeom>
        </p:spPr>
        <p:txBody>
          <a:bodyPr wrap="none">
            <a:spAutoFit/>
          </a:bodyPr>
          <a:lstStyle/>
          <a:p>
            <a:pPr lvl="0" algn="r">
              <a:spcBef>
                <a:spcPct val="50000"/>
              </a:spcBef>
            </a:pPr>
            <a:r>
              <a:rPr lang="en-US" sz="1200" i="1" dirty="0" smtClean="0">
                <a:solidFill>
                  <a:srgbClr val="D8D8D8"/>
                </a:solidFill>
                <a:latin typeface="Calibri" pitchFamily="34" charset="0"/>
              </a:rPr>
              <a:t>Meeting #60</a:t>
            </a:r>
            <a:endParaRPr lang="en-US" sz="1200" i="1" dirty="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821"/>
                                        </p:tgtEl>
                                        <p:attrNameLst>
                                          <p:attrName>style.visibility</p:attrName>
                                        </p:attrNameLst>
                                      </p:cBhvr>
                                      <p:to>
                                        <p:strVal val="visible"/>
                                      </p:to>
                                    </p:set>
                                    <p:animEffect transition="in" filter="fade">
                                      <p:cBhvr>
                                        <p:cTn id="7" dur="20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4817"/>
          <p:cNvSpPr txBox="1">
            <a:spLocks/>
          </p:cNvSpPr>
          <p:nvPr/>
        </p:nvSpPr>
        <p:spPr bwMode="auto">
          <a:xfrm>
            <a:off x="381000" y="1219200"/>
            <a:ext cx="8610600" cy="750888"/>
          </a:xfrm>
          <a:prstGeom prst="rect">
            <a:avLst/>
          </a:prstGeom>
          <a:noFill/>
          <a:ln w="9525">
            <a:noFill/>
            <a:miter lim="800000"/>
            <a:headEnd/>
            <a:tailEnd/>
          </a:ln>
        </p:spPr>
        <p:txBody>
          <a:bodyPr anchor="ctr"/>
          <a:lstStyle/>
          <a:p>
            <a:pPr>
              <a:defRPr/>
            </a:pPr>
            <a:r>
              <a:rPr lang="en-US" sz="3200" dirty="0" smtClean="0">
                <a:latin typeface="+mj-lt"/>
                <a:ea typeface="+mj-ea"/>
                <a:cs typeface="+mj-cs"/>
              </a:rPr>
              <a:t>Today’s Event Agenda</a:t>
            </a:r>
            <a:endParaRPr lang="en-US" sz="2800" dirty="0">
              <a:latin typeface="+mj-lt"/>
              <a:ea typeface="+mj-ea"/>
              <a:cs typeface="+mj-cs"/>
            </a:endParaRPr>
          </a:p>
        </p:txBody>
      </p:sp>
      <p:sp>
        <p:nvSpPr>
          <p:cNvPr id="10" name="Rectangle 34818"/>
          <p:cNvSpPr txBox="1">
            <a:spLocks/>
          </p:cNvSpPr>
          <p:nvPr/>
        </p:nvSpPr>
        <p:spPr bwMode="auto">
          <a:xfrm>
            <a:off x="381000" y="2057400"/>
            <a:ext cx="8356600" cy="4267200"/>
          </a:xfrm>
          <a:prstGeom prst="rect">
            <a:avLst/>
          </a:prstGeom>
          <a:noFill/>
          <a:ln w="9525">
            <a:noFill/>
            <a:miter lim="800000"/>
            <a:headEnd/>
            <a:tailEnd/>
          </a:ln>
        </p:spPr>
        <p:txBody>
          <a:bodyPr/>
          <a:lstStyle/>
          <a:p>
            <a:pPr marL="342900" indent="-342900">
              <a:spcBef>
                <a:spcPct val="20000"/>
              </a:spcBef>
              <a:buFont typeface="Arial" pitchFamily="34" charset="0"/>
              <a:buChar char="•"/>
              <a:defRPr/>
            </a:pPr>
            <a:endParaRPr lang="en-US" sz="2800" dirty="0">
              <a:latin typeface="+mn-lt"/>
              <a:cs typeface="+mn-cs"/>
            </a:endParaRPr>
          </a:p>
        </p:txBody>
      </p:sp>
      <p:sp>
        <p:nvSpPr>
          <p:cNvPr id="16388" name="TextBox 4"/>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graphicFrame>
        <p:nvGraphicFramePr>
          <p:cNvPr id="5" name="Table 4"/>
          <p:cNvGraphicFramePr>
            <a:graphicFrameLocks noGrp="1"/>
          </p:cNvGraphicFramePr>
          <p:nvPr/>
        </p:nvGraphicFramePr>
        <p:xfrm>
          <a:off x="1158240" y="2133600"/>
          <a:ext cx="6766560" cy="4179570"/>
        </p:xfrm>
        <a:graphic>
          <a:graphicData uri="http://schemas.openxmlformats.org/drawingml/2006/table">
            <a:tbl>
              <a:tblPr/>
              <a:tblGrid>
                <a:gridCol w="1594127"/>
                <a:gridCol w="2657833"/>
                <a:gridCol w="2514600"/>
              </a:tblGrid>
              <a:tr h="238125">
                <a:tc>
                  <a:txBody>
                    <a:bodyPr/>
                    <a:lstStyle/>
                    <a:p>
                      <a:pPr marL="0" marR="0">
                        <a:spcBef>
                          <a:spcPts val="0"/>
                        </a:spcBef>
                        <a:spcAft>
                          <a:spcPts val="0"/>
                        </a:spcAft>
                      </a:pPr>
                      <a:r>
                        <a:rPr lang="en-US" sz="1000" dirty="0">
                          <a:solidFill>
                            <a:srgbClr val="000000"/>
                          </a:solidFill>
                          <a:latin typeface="Times New Roman"/>
                          <a:ea typeface="Calibri"/>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latin typeface="Times New Roman"/>
                          <a:ea typeface="Calibri"/>
                        </a:rPr>
                        <a:t>Lake Of the Woods </a:t>
                      </a:r>
                      <a:r>
                        <a:rPr lang="en-US" sz="1400" b="1" dirty="0" smtClean="0">
                          <a:solidFill>
                            <a:srgbClr val="000000"/>
                          </a:solidFill>
                          <a:latin typeface="Times New Roman"/>
                          <a:ea typeface="Calibri"/>
                        </a:rPr>
                        <a:t>-</a:t>
                      </a:r>
                      <a:r>
                        <a:rPr lang="en-US" sz="1400" b="1" dirty="0">
                          <a:solidFill>
                            <a:srgbClr val="000000"/>
                          </a:solidFill>
                          <a:latin typeface="Times New Roman"/>
                          <a:ea typeface="Calibri"/>
                        </a:rPr>
                        <a:t>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latin typeface="Times New Roman"/>
                          <a:ea typeface="Calibri"/>
                        </a:rPr>
                        <a:t>Lake Of the Woods </a:t>
                      </a:r>
                      <a:r>
                        <a:rPr lang="en-US" sz="1400" b="1" dirty="0" smtClean="0">
                          <a:solidFill>
                            <a:srgbClr val="000000"/>
                          </a:solidFill>
                          <a:latin typeface="Times New Roman"/>
                          <a:ea typeface="Calibri"/>
                        </a:rPr>
                        <a:t>- </a:t>
                      </a:r>
                      <a:r>
                        <a:rPr lang="en-US" sz="1400" b="1" dirty="0">
                          <a:solidFill>
                            <a:srgbClr val="000000"/>
                          </a:solidFill>
                          <a:latin typeface="Times New Roman"/>
                          <a:ea typeface="Calibri"/>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400" b="1" dirty="0">
                          <a:solidFill>
                            <a:srgbClr val="000000"/>
                          </a:solidFill>
                          <a:latin typeface="Times New Roman"/>
                          <a:ea typeface="Calibri"/>
                        </a:rPr>
                        <a:t>9:00 - 9:15</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smtClean="0">
                          <a:solidFill>
                            <a:srgbClr val="000000"/>
                          </a:solidFill>
                          <a:latin typeface="Times New Roman"/>
                          <a:ea typeface="Calibri"/>
                        </a:rPr>
                        <a:t>Intro</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476250">
                <a:tc>
                  <a:txBody>
                    <a:bodyPr/>
                    <a:lstStyle/>
                    <a:p>
                      <a:pPr marL="0" marR="0">
                        <a:spcBef>
                          <a:spcPts val="0"/>
                        </a:spcBef>
                        <a:spcAft>
                          <a:spcPts val="0"/>
                        </a:spcAft>
                      </a:pPr>
                      <a:r>
                        <a:rPr lang="en-US" sz="1400" b="1" dirty="0">
                          <a:solidFill>
                            <a:srgbClr val="000000"/>
                          </a:solidFill>
                          <a:latin typeface="Times New Roman"/>
                          <a:ea typeface="Calibri"/>
                        </a:rPr>
                        <a:t>9:15 - 10:30</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a:solidFill>
                            <a:srgbClr val="000000"/>
                          </a:solidFill>
                          <a:latin typeface="Times New Roman"/>
                          <a:ea typeface="Calibri"/>
                        </a:rPr>
                        <a:t>SharePoint 2010 Overview: </a:t>
                      </a:r>
                      <a:r>
                        <a:rPr lang="en-US" sz="1400" i="1" dirty="0">
                          <a:solidFill>
                            <a:srgbClr val="000000"/>
                          </a:solidFill>
                          <a:latin typeface="Times New Roman"/>
                          <a:ea typeface="Calibri"/>
                        </a:rPr>
                        <a:t>A Walk Around the </a:t>
                      </a:r>
                      <a:r>
                        <a:rPr lang="en-US" sz="1400" i="1" dirty="0" smtClean="0">
                          <a:solidFill>
                            <a:srgbClr val="000000"/>
                          </a:solidFill>
                          <a:latin typeface="Times New Roman"/>
                          <a:ea typeface="Calibri"/>
                        </a:rPr>
                        <a:t>Wheel</a:t>
                      </a:r>
                    </a:p>
                    <a:p>
                      <a:pPr marL="0" marR="0" algn="ctr">
                        <a:spcBef>
                          <a:spcPts val="0"/>
                        </a:spcBef>
                        <a:spcAft>
                          <a:spcPts val="0"/>
                        </a:spcAft>
                      </a:pPr>
                      <a:endParaRPr lang="en-US" sz="10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238125">
                <a:tc>
                  <a:txBody>
                    <a:bodyPr/>
                    <a:lstStyle/>
                    <a:p>
                      <a:pPr marL="0" marR="0">
                        <a:spcBef>
                          <a:spcPts val="0"/>
                        </a:spcBef>
                        <a:spcAft>
                          <a:spcPts val="0"/>
                        </a:spcAft>
                      </a:pPr>
                      <a:r>
                        <a:rPr lang="en-US" sz="1400" b="1" dirty="0">
                          <a:solidFill>
                            <a:srgbClr val="000000"/>
                          </a:solidFill>
                          <a:latin typeface="Times New Roman"/>
                          <a:ea typeface="Calibri"/>
                        </a:rPr>
                        <a:t>10:30-- 10:40</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a:solidFill>
                            <a:srgbClr val="000000"/>
                          </a:solidFill>
                          <a:latin typeface="Times New Roman"/>
                          <a:ea typeface="Calibri"/>
                        </a:rPr>
                        <a:t>Break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476250">
                <a:tc>
                  <a:txBody>
                    <a:bodyPr/>
                    <a:lstStyle/>
                    <a:p>
                      <a:pPr marL="0" marR="0">
                        <a:spcBef>
                          <a:spcPts val="0"/>
                        </a:spcBef>
                        <a:spcAft>
                          <a:spcPts val="0"/>
                        </a:spcAft>
                      </a:pPr>
                      <a:r>
                        <a:rPr lang="en-US" sz="1400" b="1" dirty="0">
                          <a:solidFill>
                            <a:srgbClr val="000000"/>
                          </a:solidFill>
                          <a:latin typeface="Times New Roman"/>
                          <a:ea typeface="Calibri"/>
                        </a:rPr>
                        <a:t>10:40 - 12:15</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a:solidFill>
                            <a:srgbClr val="000000"/>
                          </a:solidFill>
                          <a:latin typeface="Times New Roman"/>
                          <a:ea typeface="Calibri"/>
                        </a:rPr>
                        <a:t>SharePoint 2010 Overview: </a:t>
                      </a:r>
                      <a:r>
                        <a:rPr lang="en-US" sz="1400" i="1" dirty="0">
                          <a:solidFill>
                            <a:srgbClr val="000000"/>
                          </a:solidFill>
                          <a:latin typeface="Times New Roman"/>
                          <a:ea typeface="Calibri"/>
                        </a:rPr>
                        <a:t>A Walk Around the Wheel</a:t>
                      </a:r>
                      <a:r>
                        <a:rPr lang="en-US" sz="1400" dirty="0">
                          <a:solidFill>
                            <a:srgbClr val="000000"/>
                          </a:solidFill>
                          <a:latin typeface="Times New Roman"/>
                          <a:ea typeface="Calibri"/>
                        </a:rPr>
                        <a:t>, cont</a:t>
                      </a:r>
                      <a:r>
                        <a:rPr lang="en-US" sz="1400" dirty="0" smtClean="0">
                          <a:solidFill>
                            <a:srgbClr val="000000"/>
                          </a:solidFill>
                          <a:latin typeface="Times New Roman"/>
                          <a:ea typeface="Calibri"/>
                        </a:rPr>
                        <a:t>.</a:t>
                      </a:r>
                    </a:p>
                    <a:p>
                      <a:pPr marL="0" marR="0" algn="ctr">
                        <a:spcBef>
                          <a:spcPts val="0"/>
                        </a:spcBef>
                        <a:spcAft>
                          <a:spcPts val="0"/>
                        </a:spcAft>
                      </a:pPr>
                      <a:endParaRPr lang="en-US" sz="10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476250">
                <a:tc>
                  <a:txBody>
                    <a:bodyPr/>
                    <a:lstStyle/>
                    <a:p>
                      <a:pPr marL="0" marR="0">
                        <a:spcBef>
                          <a:spcPts val="0"/>
                        </a:spcBef>
                        <a:spcAft>
                          <a:spcPts val="0"/>
                        </a:spcAft>
                      </a:pPr>
                      <a:r>
                        <a:rPr lang="en-US" sz="1400" b="1" dirty="0">
                          <a:solidFill>
                            <a:srgbClr val="000000"/>
                          </a:solidFill>
                          <a:latin typeface="Times New Roman"/>
                          <a:ea typeface="Calibri"/>
                        </a:rPr>
                        <a:t>12:15 - 1:00 </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a:solidFill>
                            <a:srgbClr val="000000"/>
                          </a:solidFill>
                          <a:latin typeface="Times New Roman"/>
                          <a:ea typeface="Calibri"/>
                        </a:rPr>
                        <a:t>Lunch &amp; Learn: Preparing for SharePoint 2010 </a:t>
                      </a:r>
                      <a:r>
                        <a:rPr lang="en-US" sz="1000" dirty="0">
                          <a:solidFill>
                            <a:srgbClr val="000000"/>
                          </a:solidFill>
                          <a:latin typeface="Times New Roman"/>
                          <a:ea typeface="Calibri"/>
                        </a:rPr>
                        <a:t/>
                      </a:r>
                      <a:br>
                        <a:rPr lang="en-US" sz="1000" dirty="0">
                          <a:solidFill>
                            <a:srgbClr val="000000"/>
                          </a:solidFill>
                          <a:latin typeface="Times New Roman"/>
                          <a:ea typeface="Calibri"/>
                        </a:rPr>
                      </a:br>
                      <a:r>
                        <a:rPr lang="en-US" sz="1000" dirty="0">
                          <a:solidFill>
                            <a:srgbClr val="000000"/>
                          </a:solidFill>
                          <a:latin typeface="Times New Roman"/>
                          <a:ea typeface="Calibri"/>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714375">
                <a:tc>
                  <a:txBody>
                    <a:bodyPr/>
                    <a:lstStyle/>
                    <a:p>
                      <a:pPr marL="0" marR="0">
                        <a:spcBef>
                          <a:spcPts val="0"/>
                        </a:spcBef>
                        <a:spcAft>
                          <a:spcPts val="0"/>
                        </a:spcAft>
                      </a:pPr>
                      <a:r>
                        <a:rPr lang="en-US" sz="1400" b="1" dirty="0">
                          <a:solidFill>
                            <a:srgbClr val="000000"/>
                          </a:solidFill>
                          <a:latin typeface="Times New Roman"/>
                          <a:ea typeface="Calibri"/>
                        </a:rPr>
                        <a:t>1:30 - 2:45</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latin typeface="Times New Roman"/>
                          <a:ea typeface="Calibri"/>
                        </a:rPr>
                        <a:t>SharePoint 2010 for Business </a:t>
                      </a:r>
                      <a:r>
                        <a:rPr lang="en-US" sz="1400" dirty="0" smtClean="0">
                          <a:solidFill>
                            <a:srgbClr val="000000"/>
                          </a:solidFill>
                          <a:latin typeface="Times New Roman"/>
                          <a:ea typeface="Calibri"/>
                        </a:rPr>
                        <a:t>Users</a:t>
                      </a:r>
                      <a:r>
                        <a:rPr lang="en-US" sz="1400" dirty="0">
                          <a:solidFill>
                            <a:srgbClr val="000000"/>
                          </a:solidFill>
                          <a:latin typeface="Times New Roman"/>
                          <a:ea typeface="Calibri"/>
                        </a:rPr>
                        <a:t/>
                      </a:r>
                      <a:br>
                        <a:rPr lang="en-US" sz="1400" dirty="0">
                          <a:solidFill>
                            <a:srgbClr val="000000"/>
                          </a:solidFill>
                          <a:latin typeface="Times New Roman"/>
                          <a:ea typeface="Calibri"/>
                        </a:rPr>
                      </a:br>
                      <a:r>
                        <a:rPr lang="en-US" sz="1400" kern="1200" dirty="0">
                          <a:solidFill>
                            <a:srgbClr val="000000"/>
                          </a:solidFill>
                          <a:latin typeface="Times New Roman"/>
                          <a:ea typeface="Calibri"/>
                          <a:cs typeface="+mn-cs"/>
                        </a:rPr>
                        <a:t>Office 2010 Client Apps and </a:t>
                      </a:r>
                      <a:r>
                        <a:rPr lang="en-US" sz="1400" kern="1200" dirty="0" smtClean="0">
                          <a:solidFill>
                            <a:srgbClr val="000000"/>
                          </a:solidFill>
                          <a:latin typeface="Times New Roman"/>
                          <a:ea typeface="Calibri"/>
                          <a:cs typeface="+mn-cs"/>
                        </a:rPr>
                        <a:t>SharePoint 2010</a:t>
                      </a:r>
                    </a:p>
                    <a:p>
                      <a:pPr marL="0" marR="0" algn="ctr">
                        <a:spcBef>
                          <a:spcPts val="0"/>
                        </a:spcBef>
                        <a:spcAft>
                          <a:spcPts val="0"/>
                        </a:spcAft>
                      </a:pPr>
                      <a:endParaRPr lang="en-US" sz="10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latin typeface="Times New Roman"/>
                          <a:ea typeface="Calibri"/>
                        </a:rPr>
                        <a:t>SharePoint 2010 Development</a:t>
                      </a:r>
                      <a:r>
                        <a:rPr lang="en-US" sz="1000" dirty="0">
                          <a:solidFill>
                            <a:srgbClr val="000000"/>
                          </a:solidFill>
                          <a:latin typeface="Times New Roman"/>
                          <a:ea typeface="Calibri"/>
                        </a:rPr>
                        <a:t/>
                      </a:r>
                      <a:br>
                        <a:rPr lang="en-US" sz="1000" dirty="0">
                          <a:solidFill>
                            <a:srgbClr val="000000"/>
                          </a:solidFill>
                          <a:latin typeface="Times New Roman"/>
                          <a:ea typeface="Calibri"/>
                        </a:rPr>
                      </a:br>
                      <a:endParaRPr lang="en-US" sz="10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4375">
                <a:tc>
                  <a:txBody>
                    <a:bodyPr/>
                    <a:lstStyle/>
                    <a:p>
                      <a:pPr marL="0" marR="0">
                        <a:spcBef>
                          <a:spcPts val="0"/>
                        </a:spcBef>
                        <a:spcAft>
                          <a:spcPts val="0"/>
                        </a:spcAft>
                      </a:pPr>
                      <a:r>
                        <a:rPr lang="en-US" sz="1400" b="1" dirty="0">
                          <a:solidFill>
                            <a:srgbClr val="000000"/>
                          </a:solidFill>
                          <a:latin typeface="Times New Roman"/>
                          <a:ea typeface="Calibri"/>
                        </a:rPr>
                        <a:t>3:00 - 4:15</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latin typeface="Times New Roman"/>
                          <a:ea typeface="Calibri"/>
                        </a:rPr>
                        <a:t>SharePoint 2010 for Business </a:t>
                      </a:r>
                      <a:r>
                        <a:rPr lang="en-US" sz="1400" dirty="0" smtClean="0">
                          <a:solidFill>
                            <a:srgbClr val="000000"/>
                          </a:solidFill>
                          <a:latin typeface="Times New Roman"/>
                          <a:ea typeface="Calibri"/>
                        </a:rPr>
                        <a:t>Users</a:t>
                      </a:r>
                      <a:r>
                        <a:rPr lang="en-US" sz="1400" i="1" dirty="0">
                          <a:solidFill>
                            <a:srgbClr val="000000"/>
                          </a:solidFill>
                          <a:latin typeface="Times New Roman"/>
                          <a:ea typeface="Calibri"/>
                        </a:rPr>
                        <a:t/>
                      </a:r>
                      <a:br>
                        <a:rPr lang="en-US" sz="1400" i="1" dirty="0">
                          <a:solidFill>
                            <a:srgbClr val="000000"/>
                          </a:solidFill>
                          <a:latin typeface="Times New Roman"/>
                          <a:ea typeface="Calibri"/>
                        </a:rPr>
                      </a:br>
                      <a:r>
                        <a:rPr lang="en-US" sz="1400" kern="1200" dirty="0">
                          <a:solidFill>
                            <a:srgbClr val="000000"/>
                          </a:solidFill>
                          <a:latin typeface="Times New Roman"/>
                          <a:ea typeface="Calibri"/>
                          <a:cs typeface="+mn-cs"/>
                        </a:rPr>
                        <a:t>Access </a:t>
                      </a:r>
                      <a:r>
                        <a:rPr lang="en-US" sz="1400" kern="1200" dirty="0" smtClean="0">
                          <a:solidFill>
                            <a:srgbClr val="000000"/>
                          </a:solidFill>
                          <a:latin typeface="Times New Roman"/>
                          <a:ea typeface="Calibri"/>
                          <a:cs typeface="+mn-cs"/>
                        </a:rPr>
                        <a:t>Services</a:t>
                      </a:r>
                    </a:p>
                    <a:p>
                      <a:pPr marL="0" marR="0" algn="ctr">
                        <a:spcBef>
                          <a:spcPts val="0"/>
                        </a:spcBef>
                        <a:spcAft>
                          <a:spcPts val="0"/>
                        </a:spcAft>
                      </a:pPr>
                      <a:endParaRPr lang="en-US" sz="1000" kern="1200" dirty="0">
                        <a:solidFill>
                          <a:srgbClr val="000000"/>
                        </a:solidFill>
                        <a:latin typeface="Times New Roman"/>
                        <a:ea typeface="Calibri"/>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latin typeface="Times New Roman"/>
                          <a:ea typeface="Calibri"/>
                        </a:rPr>
                        <a:t>SharePoint 2010 Administration</a:t>
                      </a:r>
                      <a:r>
                        <a:rPr lang="en-US" sz="1000" dirty="0">
                          <a:solidFill>
                            <a:srgbClr val="000000"/>
                          </a:solidFill>
                          <a:latin typeface="Times New Roman"/>
                          <a:ea typeface="Calibri"/>
                        </a:rPr>
                        <a:t/>
                      </a:r>
                      <a:br>
                        <a:rPr lang="en-US" sz="1000" dirty="0">
                          <a:solidFill>
                            <a:srgbClr val="000000"/>
                          </a:solidFill>
                          <a:latin typeface="Times New Roman"/>
                          <a:ea typeface="Calibri"/>
                        </a:rPr>
                      </a:br>
                      <a:endParaRPr lang="en-US" sz="10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400" b="1" dirty="0">
                          <a:solidFill>
                            <a:srgbClr val="000000"/>
                          </a:solidFill>
                          <a:latin typeface="Times New Roman"/>
                          <a:ea typeface="Calibri"/>
                        </a:rPr>
                        <a:t>4:30 – Later</a:t>
                      </a:r>
                      <a:endParaRPr lang="en-US" sz="1400" dirty="0">
                        <a:solidFill>
                          <a:srgbClr val="000000"/>
                        </a:solidFill>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sz="1400" dirty="0">
                          <a:solidFill>
                            <a:srgbClr val="000000"/>
                          </a:solidFill>
                          <a:latin typeface="Times New Roman"/>
                          <a:ea typeface="Calibri"/>
                        </a:rPr>
                        <a:t>"</a:t>
                      </a:r>
                      <a:r>
                        <a:rPr lang="en-US" sz="1400" dirty="0" err="1">
                          <a:solidFill>
                            <a:srgbClr val="000000"/>
                          </a:solidFill>
                          <a:latin typeface="Times New Roman"/>
                          <a:ea typeface="Calibri"/>
                        </a:rPr>
                        <a:t>SharePint</a:t>
                      </a:r>
                      <a:r>
                        <a:rPr lang="en-US" sz="1400" dirty="0">
                          <a:solidFill>
                            <a:srgbClr val="000000"/>
                          </a:solidFill>
                          <a:latin typeface="Times New Roman"/>
                          <a:ea typeface="Calibri"/>
                        </a:rPr>
                        <a:t>" at Major's in Bloomington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4817"/>
          <p:cNvSpPr txBox="1">
            <a:spLocks/>
          </p:cNvSpPr>
          <p:nvPr/>
        </p:nvSpPr>
        <p:spPr bwMode="auto">
          <a:xfrm>
            <a:off x="381000" y="1219200"/>
            <a:ext cx="8610600" cy="750888"/>
          </a:xfrm>
          <a:prstGeom prst="rect">
            <a:avLst/>
          </a:prstGeom>
          <a:noFill/>
          <a:ln w="9525">
            <a:noFill/>
            <a:miter lim="800000"/>
            <a:headEnd/>
            <a:tailEnd/>
          </a:ln>
        </p:spPr>
        <p:txBody>
          <a:bodyPr anchor="ctr"/>
          <a:lstStyle/>
          <a:p>
            <a:pPr>
              <a:defRPr/>
            </a:pPr>
            <a:r>
              <a:rPr lang="en-US" sz="3200" dirty="0" smtClean="0">
                <a:latin typeface="+mj-lt"/>
                <a:ea typeface="+mj-ea"/>
                <a:cs typeface="+mj-cs"/>
              </a:rPr>
              <a:t>Session Agenda</a:t>
            </a:r>
            <a:endParaRPr lang="en-US" sz="2800" dirty="0">
              <a:latin typeface="+mj-lt"/>
              <a:ea typeface="+mj-ea"/>
              <a:cs typeface="+mj-cs"/>
            </a:endParaRPr>
          </a:p>
        </p:txBody>
      </p:sp>
      <p:sp>
        <p:nvSpPr>
          <p:cNvPr id="10" name="Rectangle 34818"/>
          <p:cNvSpPr txBox="1">
            <a:spLocks/>
          </p:cNvSpPr>
          <p:nvPr/>
        </p:nvSpPr>
        <p:spPr bwMode="auto">
          <a:xfrm>
            <a:off x="381000" y="2057400"/>
            <a:ext cx="8356600" cy="4267200"/>
          </a:xfrm>
          <a:prstGeom prst="rect">
            <a:avLst/>
          </a:prstGeom>
          <a:noFill/>
          <a:ln w="9525">
            <a:noFill/>
            <a:miter lim="800000"/>
            <a:headEnd/>
            <a:tailEnd/>
          </a:ln>
        </p:spPr>
        <p:txBody>
          <a:bodyPr/>
          <a:lstStyle/>
          <a:p>
            <a:pPr marL="342900" indent="-342900">
              <a:spcBef>
                <a:spcPct val="20000"/>
              </a:spcBef>
              <a:buFont typeface="Arial" pitchFamily="34" charset="0"/>
              <a:buChar char="•"/>
              <a:defRPr/>
            </a:pPr>
            <a:r>
              <a:rPr lang="en-US" sz="2800" dirty="0" smtClean="0">
                <a:latin typeface="+mn-lt"/>
                <a:cs typeface="+mn-cs"/>
              </a:rPr>
              <a:t>Introductions</a:t>
            </a:r>
            <a:endParaRPr lang="en-US" sz="2800" dirty="0">
              <a:latin typeface="+mn-lt"/>
              <a:cs typeface="+mn-cs"/>
            </a:endParaRPr>
          </a:p>
          <a:p>
            <a:pPr marL="342900" indent="-342900">
              <a:spcBef>
                <a:spcPct val="20000"/>
              </a:spcBef>
              <a:buFont typeface="Arial" pitchFamily="34" charset="0"/>
              <a:buChar char="•"/>
              <a:defRPr/>
            </a:pPr>
            <a:r>
              <a:rPr lang="en-US" sz="2800" dirty="0" smtClean="0">
                <a:latin typeface="+mn-lt"/>
                <a:cs typeface="+mn-cs"/>
              </a:rPr>
              <a:t>Part 1</a:t>
            </a:r>
          </a:p>
          <a:p>
            <a:pPr marL="342900" indent="-342900">
              <a:spcBef>
                <a:spcPct val="20000"/>
              </a:spcBef>
              <a:buFont typeface="Arial" pitchFamily="34" charset="0"/>
              <a:buChar char="•"/>
              <a:defRPr/>
            </a:pPr>
            <a:r>
              <a:rPr lang="en-US" sz="2800" dirty="0" smtClean="0">
                <a:latin typeface="+mn-lt"/>
                <a:cs typeface="+mn-cs"/>
              </a:rPr>
              <a:t>Break</a:t>
            </a:r>
          </a:p>
          <a:p>
            <a:pPr marL="342900" indent="-342900">
              <a:spcBef>
                <a:spcPct val="20000"/>
              </a:spcBef>
              <a:buFont typeface="Arial" pitchFamily="34" charset="0"/>
              <a:buChar char="•"/>
              <a:defRPr/>
            </a:pPr>
            <a:r>
              <a:rPr lang="en-US" sz="2800" dirty="0" smtClean="0">
                <a:latin typeface="+mn-lt"/>
                <a:cs typeface="+mn-cs"/>
              </a:rPr>
              <a:t>Part 2</a:t>
            </a:r>
          </a:p>
          <a:p>
            <a:pPr marL="342900" indent="-342900">
              <a:spcBef>
                <a:spcPct val="20000"/>
              </a:spcBef>
              <a:buFont typeface="Arial" pitchFamily="34" charset="0"/>
              <a:buChar char="•"/>
              <a:defRPr/>
            </a:pPr>
            <a:r>
              <a:rPr lang="en-US" sz="2800" dirty="0" smtClean="0">
                <a:latin typeface="+mn-lt"/>
                <a:cs typeface="+mn-cs"/>
              </a:rPr>
              <a:t>Q&amp;A</a:t>
            </a:r>
            <a:endParaRPr lang="en-US" sz="2800" dirty="0">
              <a:latin typeface="+mn-lt"/>
              <a:cs typeface="+mn-cs"/>
            </a:endParaRPr>
          </a:p>
        </p:txBody>
      </p:sp>
      <p:sp>
        <p:nvSpPr>
          <p:cNvPr id="16388" name="TextBox 4"/>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4817"/>
          <p:cNvSpPr>
            <a:spLocks noGrp="1"/>
          </p:cNvSpPr>
          <p:nvPr>
            <p:ph type="title" idx="4294967295"/>
          </p:nvPr>
        </p:nvSpPr>
        <p:spPr>
          <a:xfrm>
            <a:off x="381000" y="1219200"/>
            <a:ext cx="8610600" cy="750888"/>
          </a:xfrm>
        </p:spPr>
        <p:txBody>
          <a:bodyPr/>
          <a:lstStyle/>
          <a:p>
            <a:pPr algn="l" eaLnBrk="1" hangingPunct="1"/>
            <a:r>
              <a:rPr lang="en-US" sz="3200" dirty="0" smtClean="0"/>
              <a:t>User Group Goal / Objectives</a:t>
            </a:r>
          </a:p>
        </p:txBody>
      </p:sp>
      <p:sp>
        <p:nvSpPr>
          <p:cNvPr id="5123" name="Rectangle 34818"/>
          <p:cNvSpPr>
            <a:spLocks noGrp="1"/>
          </p:cNvSpPr>
          <p:nvPr>
            <p:ph type="body" idx="4294967295"/>
          </p:nvPr>
        </p:nvSpPr>
        <p:spPr>
          <a:xfrm>
            <a:off x="381000" y="2057400"/>
            <a:ext cx="8356600" cy="4419600"/>
          </a:xfrm>
        </p:spPr>
        <p:txBody>
          <a:bodyPr/>
          <a:lstStyle/>
          <a:p>
            <a:pPr marL="342900" lvl="1" indent="-342900" algn="ctr" eaLnBrk="1" hangingPunct="1">
              <a:buFontTx/>
              <a:buNone/>
            </a:pPr>
            <a:endParaRPr lang="en-US" sz="2400" b="1" dirty="0" smtClean="0">
              <a:solidFill>
                <a:schemeClr val="bg2"/>
              </a:solidFill>
            </a:endParaRPr>
          </a:p>
          <a:p>
            <a:pPr marL="342900" lvl="1" indent="-342900" algn="ctr" eaLnBrk="1" hangingPunct="1">
              <a:buFontTx/>
              <a:buNone/>
            </a:pPr>
            <a:r>
              <a:rPr lang="en-US" sz="2400" b="1" dirty="0" smtClean="0"/>
              <a:t>Develop and support a local community focused on Microsoft SharePoint Technologies</a:t>
            </a:r>
          </a:p>
          <a:p>
            <a:pPr marL="342900" lvl="1" indent="-342900" eaLnBrk="1" hangingPunct="1">
              <a:buFontTx/>
              <a:buNone/>
            </a:pPr>
            <a:endParaRPr lang="en-US" sz="2400" dirty="0" smtClean="0">
              <a:solidFill>
                <a:schemeClr val="bg2"/>
              </a:solidFill>
            </a:endParaRPr>
          </a:p>
          <a:p>
            <a:pPr marL="342900" lvl="1" indent="-342900" eaLnBrk="1" hangingPunct="1">
              <a:buFontTx/>
              <a:buChar char="•"/>
            </a:pPr>
            <a:r>
              <a:rPr lang="en-US" sz="2400" dirty="0" smtClean="0"/>
              <a:t>Educate user group members about SharePoint Technologies</a:t>
            </a:r>
          </a:p>
          <a:p>
            <a:pPr marL="342900" lvl="1" indent="-342900" eaLnBrk="1" hangingPunct="1">
              <a:buFontTx/>
              <a:buChar char="•"/>
            </a:pPr>
            <a:r>
              <a:rPr lang="en-US" sz="2400" dirty="0" smtClean="0"/>
              <a:t>Transfer knowledge within the community</a:t>
            </a:r>
          </a:p>
          <a:p>
            <a:pPr marL="342900" lvl="1" indent="-342900" eaLnBrk="1" hangingPunct="1">
              <a:buFontTx/>
              <a:buChar char="•"/>
            </a:pPr>
            <a:r>
              <a:rPr lang="en-US" sz="2400" dirty="0" smtClean="0"/>
              <a:t>Communicate best practices</a:t>
            </a:r>
          </a:p>
          <a:p>
            <a:pPr marL="342900" lvl="1" indent="-342900" eaLnBrk="1" hangingPunct="1">
              <a:buFontTx/>
              <a:buChar char="•"/>
            </a:pPr>
            <a:r>
              <a:rPr lang="en-US" sz="2400" dirty="0" smtClean="0"/>
              <a:t>Introduce new products / solutions   </a:t>
            </a:r>
          </a:p>
        </p:txBody>
      </p:sp>
      <p:sp>
        <p:nvSpPr>
          <p:cNvPr id="5124"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4817"/>
          <p:cNvSpPr>
            <a:spLocks noGrp="1"/>
          </p:cNvSpPr>
          <p:nvPr>
            <p:ph type="title" idx="4294967295"/>
          </p:nvPr>
        </p:nvSpPr>
        <p:spPr>
          <a:xfrm>
            <a:off x="381000" y="1219200"/>
            <a:ext cx="8610600" cy="750888"/>
          </a:xfrm>
        </p:spPr>
        <p:txBody>
          <a:bodyPr/>
          <a:lstStyle/>
          <a:p>
            <a:pPr algn="l" eaLnBrk="1" hangingPunct="1"/>
            <a:r>
              <a:rPr lang="en-US" sz="2800" dirty="0" smtClean="0"/>
              <a:t>Introductions – MNSPUG Sponsors</a:t>
            </a:r>
          </a:p>
        </p:txBody>
      </p:sp>
      <p:sp>
        <p:nvSpPr>
          <p:cNvPr id="6147" name="Rectangle 34818"/>
          <p:cNvSpPr>
            <a:spLocks noGrp="1"/>
          </p:cNvSpPr>
          <p:nvPr>
            <p:ph type="body" idx="4294967295"/>
          </p:nvPr>
        </p:nvSpPr>
        <p:spPr>
          <a:xfrm>
            <a:off x="381000" y="2057400"/>
            <a:ext cx="8356600" cy="4419600"/>
          </a:xfrm>
        </p:spPr>
        <p:txBody>
          <a:bodyPr/>
          <a:lstStyle/>
          <a:p>
            <a:pPr eaLnBrk="1" hangingPunct="1">
              <a:buFontTx/>
              <a:buNone/>
            </a:pPr>
            <a:r>
              <a:rPr lang="en-US" sz="2400" dirty="0" smtClean="0"/>
              <a:t>Inetium (</a:t>
            </a:r>
            <a:r>
              <a:rPr lang="en-US" sz="2400" dirty="0" smtClean="0">
                <a:hlinkClick r:id="rId2"/>
              </a:rPr>
              <a:t>www.inetium.com</a:t>
            </a:r>
            <a:r>
              <a:rPr lang="en-US" sz="2400" dirty="0" smtClean="0"/>
              <a:t>)</a:t>
            </a:r>
          </a:p>
          <a:p>
            <a:pPr eaLnBrk="1" hangingPunct="1"/>
            <a:r>
              <a:rPr lang="en-US" sz="2000" dirty="0" smtClean="0"/>
              <a:t>Technology consulting company</a:t>
            </a:r>
          </a:p>
          <a:p>
            <a:pPr eaLnBrk="1" hangingPunct="1"/>
            <a:r>
              <a:rPr lang="en-US" sz="2000" dirty="0" smtClean="0"/>
              <a:t>Microsoft Gold Certified Partner</a:t>
            </a:r>
          </a:p>
          <a:p>
            <a:pPr eaLnBrk="1" hangingPunct="1"/>
            <a:r>
              <a:rPr lang="en-US" sz="2000" dirty="0" smtClean="0"/>
              <a:t>Practice area focused on SharePoint</a:t>
            </a:r>
          </a:p>
          <a:p>
            <a:pPr eaLnBrk="1" hangingPunct="1">
              <a:buFont typeface="Arial" charset="0"/>
              <a:buNone/>
            </a:pPr>
            <a:endParaRPr lang="en-US" sz="2000" dirty="0" smtClean="0"/>
          </a:p>
          <a:p>
            <a:pPr eaLnBrk="1" hangingPunct="1">
              <a:buFontTx/>
              <a:buNone/>
            </a:pPr>
            <a:r>
              <a:rPr lang="en-US" sz="2400" dirty="0" smtClean="0"/>
              <a:t>New Horizons – Minnesota (</a:t>
            </a:r>
            <a:r>
              <a:rPr lang="en-US" sz="2400" dirty="0" smtClean="0">
                <a:hlinkClick r:id="rId3"/>
              </a:rPr>
              <a:t>www.newhorizonsmn.com</a:t>
            </a:r>
            <a:r>
              <a:rPr lang="en-US" sz="2400" dirty="0" smtClean="0"/>
              <a:t>)</a:t>
            </a:r>
          </a:p>
          <a:p>
            <a:pPr eaLnBrk="1" hangingPunct="1"/>
            <a:r>
              <a:rPr lang="en-US" sz="2000" dirty="0" smtClean="0"/>
              <a:t>Microsoft Gold Certified Partner</a:t>
            </a:r>
          </a:p>
          <a:p>
            <a:pPr eaLnBrk="1" hangingPunct="1"/>
            <a:r>
              <a:rPr lang="en-US" sz="2000" dirty="0" smtClean="0"/>
              <a:t>Training on many technologies</a:t>
            </a:r>
          </a:p>
          <a:p>
            <a:pPr eaLnBrk="1" hangingPunct="1">
              <a:buNone/>
            </a:pPr>
            <a:endParaRPr lang="en-US" sz="2000" dirty="0" smtClean="0"/>
          </a:p>
          <a:p>
            <a:pPr eaLnBrk="1" hangingPunct="1">
              <a:buFontTx/>
              <a:buNone/>
            </a:pPr>
            <a:r>
              <a:rPr lang="en-US" sz="2400" dirty="0" smtClean="0"/>
              <a:t>Microsoft (</a:t>
            </a:r>
            <a:r>
              <a:rPr lang="en-US" sz="2400" dirty="0" smtClean="0">
                <a:hlinkClick r:id="rId4"/>
              </a:rPr>
              <a:t>www.microsoft.com</a:t>
            </a:r>
            <a:r>
              <a:rPr lang="en-US" sz="2400" dirty="0" smtClean="0"/>
              <a:t>)</a:t>
            </a:r>
          </a:p>
          <a:p>
            <a:pPr eaLnBrk="1" hangingPunct="1">
              <a:buFontTx/>
              <a:buNone/>
            </a:pPr>
            <a:endParaRPr lang="en-US" sz="2400" dirty="0" smtClean="0"/>
          </a:p>
          <a:p>
            <a:pPr eaLnBrk="1" hangingPunct="1">
              <a:buFontTx/>
              <a:buNone/>
            </a:pPr>
            <a:endParaRPr lang="en-US" sz="2400" dirty="0" smtClean="0"/>
          </a:p>
        </p:txBody>
      </p:sp>
      <p:sp>
        <p:nvSpPr>
          <p:cNvPr id="6148"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4817"/>
          <p:cNvSpPr>
            <a:spLocks noGrp="1"/>
          </p:cNvSpPr>
          <p:nvPr>
            <p:ph type="title" idx="4294967295"/>
          </p:nvPr>
        </p:nvSpPr>
        <p:spPr>
          <a:xfrm>
            <a:off x="381000" y="1219200"/>
            <a:ext cx="8610600" cy="750888"/>
          </a:xfrm>
        </p:spPr>
        <p:txBody>
          <a:bodyPr/>
          <a:lstStyle/>
          <a:p>
            <a:pPr algn="l" eaLnBrk="1" hangingPunct="1"/>
            <a:r>
              <a:rPr lang="en-US" sz="2800" smtClean="0">
                <a:solidFill>
                  <a:schemeClr val="bg2"/>
                </a:solidFill>
                <a:hlinkClick r:id="rId2"/>
              </a:rPr>
              <a:t>www.sharepointmn.com</a:t>
            </a:r>
            <a:endParaRPr lang="en-US" sz="2800" smtClean="0">
              <a:solidFill>
                <a:schemeClr val="bg2"/>
              </a:solidFill>
            </a:endParaRPr>
          </a:p>
        </p:txBody>
      </p:sp>
      <p:sp>
        <p:nvSpPr>
          <p:cNvPr id="7171" name="Rectangle 34818"/>
          <p:cNvSpPr>
            <a:spLocks noGrp="1"/>
          </p:cNvSpPr>
          <p:nvPr>
            <p:ph type="body" idx="4294967295"/>
          </p:nvPr>
        </p:nvSpPr>
        <p:spPr>
          <a:xfrm>
            <a:off x="381000" y="2057400"/>
            <a:ext cx="8356600" cy="4419600"/>
          </a:xfrm>
        </p:spPr>
        <p:txBody>
          <a:bodyPr/>
          <a:lstStyle/>
          <a:p>
            <a:pPr eaLnBrk="1" hangingPunct="1"/>
            <a:r>
              <a:rPr lang="en-US" sz="2100" dirty="0" smtClean="0"/>
              <a:t> Website for user group</a:t>
            </a:r>
          </a:p>
          <a:p>
            <a:pPr eaLnBrk="1" hangingPunct="1"/>
            <a:r>
              <a:rPr lang="en-US" sz="2100" dirty="0" smtClean="0"/>
              <a:t> SharePoint resource documents</a:t>
            </a:r>
          </a:p>
          <a:p>
            <a:pPr eaLnBrk="1" hangingPunct="1"/>
            <a:r>
              <a:rPr lang="en-US" sz="2100" dirty="0" smtClean="0"/>
              <a:t> SharePoint resource links</a:t>
            </a:r>
          </a:p>
          <a:p>
            <a:pPr eaLnBrk="1" hangingPunct="1"/>
            <a:r>
              <a:rPr lang="en-US" sz="2100" dirty="0" smtClean="0"/>
              <a:t> RSS Feeds </a:t>
            </a:r>
          </a:p>
          <a:p>
            <a:pPr eaLnBrk="1" hangingPunct="1"/>
            <a:r>
              <a:rPr lang="en-US" sz="2100" dirty="0" smtClean="0"/>
              <a:t> Meeting Schedule</a:t>
            </a:r>
          </a:p>
          <a:p>
            <a:pPr eaLnBrk="1" hangingPunct="1"/>
            <a:r>
              <a:rPr lang="en-US" sz="2100" dirty="0" smtClean="0"/>
              <a:t> Past User Group Presentations</a:t>
            </a:r>
          </a:p>
          <a:p>
            <a:pPr eaLnBrk="1" hangingPunct="1"/>
            <a:endParaRPr lang="en-US" sz="2100" dirty="0" smtClean="0">
              <a:solidFill>
                <a:schemeClr val="bg2"/>
              </a:solidFill>
            </a:endParaRPr>
          </a:p>
        </p:txBody>
      </p:sp>
      <p:sp>
        <p:nvSpPr>
          <p:cNvPr id="7172" name="TextBox 6150"/>
          <p:cNvSpPr txBox="1">
            <a:spLocks noChangeArrowheads="1"/>
          </p:cNvSpPr>
          <p:nvPr/>
        </p:nvSpPr>
        <p:spPr bwMode="auto">
          <a:xfrm>
            <a:off x="4724400" y="5105400"/>
            <a:ext cx="4267200" cy="396875"/>
          </a:xfrm>
          <a:prstGeom prst="rect">
            <a:avLst/>
          </a:prstGeom>
          <a:noFill/>
          <a:ln w="9525" algn="ctr">
            <a:noFill/>
            <a:miter lim="800000"/>
            <a:headEnd/>
            <a:tailEnd/>
          </a:ln>
        </p:spPr>
        <p:txBody>
          <a:bodyPr>
            <a:spAutoFit/>
          </a:bodyPr>
          <a:lstStyle/>
          <a:p>
            <a:pPr algn="ctr" eaLnBrk="0"/>
            <a:r>
              <a:rPr lang="en-US" sz="2000">
                <a:solidFill>
                  <a:schemeClr val="bg2"/>
                </a:solidFill>
                <a:latin typeface="Calibri" pitchFamily="34" charset="0"/>
                <a:hlinkClick r:id="rId2"/>
              </a:rPr>
              <a:t>www.sharepointmn.com</a:t>
            </a:r>
            <a:r>
              <a:rPr lang="en-US" sz="2000">
                <a:solidFill>
                  <a:schemeClr val="bg2"/>
                </a:solidFill>
                <a:latin typeface="Calibri" pitchFamily="34" charset="0"/>
              </a:rPr>
              <a:t> </a:t>
            </a:r>
          </a:p>
        </p:txBody>
      </p:sp>
      <p:sp>
        <p:nvSpPr>
          <p:cNvPr id="7173" name="TextBox 6"/>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pic>
        <p:nvPicPr>
          <p:cNvPr id="1026" name="Picture 2"/>
          <p:cNvPicPr>
            <a:picLocks noChangeAspect="1" noChangeArrowheads="1"/>
          </p:cNvPicPr>
          <p:nvPr/>
        </p:nvPicPr>
        <p:blipFill>
          <a:blip r:embed="rId3"/>
          <a:srcRect/>
          <a:stretch>
            <a:fillRect/>
          </a:stretch>
        </p:blipFill>
        <p:spPr bwMode="auto">
          <a:xfrm>
            <a:off x="4495800" y="2209800"/>
            <a:ext cx="4317603" cy="2362200"/>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ssolv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4817"/>
          <p:cNvSpPr>
            <a:spLocks noGrp="1"/>
          </p:cNvSpPr>
          <p:nvPr>
            <p:ph type="title" idx="4294967295"/>
          </p:nvPr>
        </p:nvSpPr>
        <p:spPr>
          <a:xfrm>
            <a:off x="381000" y="1219200"/>
            <a:ext cx="8610600" cy="750888"/>
          </a:xfrm>
        </p:spPr>
        <p:txBody>
          <a:bodyPr/>
          <a:lstStyle/>
          <a:p>
            <a:pPr algn="l" eaLnBrk="1" hangingPunct="1"/>
            <a:r>
              <a:rPr lang="en-US" sz="2800" dirty="0" smtClean="0"/>
              <a:t>Upcoming Schedule</a:t>
            </a:r>
          </a:p>
        </p:txBody>
      </p:sp>
      <p:sp>
        <p:nvSpPr>
          <p:cNvPr id="8195" name="Rectangle 34818"/>
          <p:cNvSpPr>
            <a:spLocks noGrp="1"/>
          </p:cNvSpPr>
          <p:nvPr>
            <p:ph type="body" idx="4294967295"/>
          </p:nvPr>
        </p:nvSpPr>
        <p:spPr>
          <a:xfrm>
            <a:off x="381000" y="2057400"/>
            <a:ext cx="8356600" cy="4419600"/>
          </a:xfrm>
        </p:spPr>
        <p:txBody>
          <a:bodyPr/>
          <a:lstStyle/>
          <a:p>
            <a:pPr eaLnBrk="1" hangingPunct="1">
              <a:spcBef>
                <a:spcPct val="50000"/>
              </a:spcBef>
            </a:pPr>
            <a:r>
              <a:rPr lang="en-US" sz="2000" dirty="0" smtClean="0"/>
              <a:t> Next Meeting </a:t>
            </a:r>
          </a:p>
          <a:p>
            <a:pPr lvl="1" eaLnBrk="1" hangingPunct="1">
              <a:spcBef>
                <a:spcPct val="50000"/>
              </a:spcBef>
              <a:buFontTx/>
              <a:buChar char="•"/>
            </a:pPr>
            <a:r>
              <a:rPr lang="en-US" sz="1800" dirty="0" smtClean="0"/>
              <a:t>December 9</a:t>
            </a:r>
            <a:r>
              <a:rPr lang="en-US" sz="1800" baseline="30000" dirty="0" smtClean="0"/>
              <a:t>th</a:t>
            </a:r>
            <a:r>
              <a:rPr lang="en-US" sz="1800" dirty="0" smtClean="0"/>
              <a:t> 9:00 AM to 11:30 AM </a:t>
            </a:r>
          </a:p>
          <a:p>
            <a:pPr lvl="1" eaLnBrk="1" hangingPunct="1">
              <a:spcBef>
                <a:spcPct val="50000"/>
              </a:spcBef>
              <a:buFontTx/>
              <a:buChar char="•"/>
            </a:pPr>
            <a:r>
              <a:rPr lang="en-US" sz="1800" dirty="0" smtClean="0"/>
              <a:t>Microsoft’s Bloomington Office</a:t>
            </a:r>
          </a:p>
          <a:p>
            <a:pPr lvl="1" eaLnBrk="1" hangingPunct="1">
              <a:spcBef>
                <a:spcPct val="50000"/>
              </a:spcBef>
              <a:buFontTx/>
              <a:buChar char="•"/>
            </a:pPr>
            <a:r>
              <a:rPr lang="en-US" sz="1800" dirty="0" smtClean="0"/>
              <a:t>Topic: </a:t>
            </a:r>
            <a:r>
              <a:rPr lang="en-US" sz="1800" dirty="0" smtClean="0">
                <a:solidFill>
                  <a:schemeClr val="accent2"/>
                </a:solidFill>
              </a:rPr>
              <a:t>SharePoint 2010 - Migration  </a:t>
            </a:r>
          </a:p>
          <a:p>
            <a:pPr lvl="2" eaLnBrk="1" hangingPunct="1">
              <a:spcBef>
                <a:spcPct val="50000"/>
              </a:spcBef>
              <a:buNone/>
            </a:pPr>
            <a:r>
              <a:rPr lang="en-US" sz="1800" dirty="0" smtClean="0"/>
              <a:t>Check </a:t>
            </a:r>
            <a:r>
              <a:rPr lang="en-US" sz="1800" dirty="0" smtClean="0">
                <a:hlinkClick r:id="rId3"/>
              </a:rPr>
              <a:t>www.sharepointmn.com</a:t>
            </a:r>
            <a:r>
              <a:rPr lang="en-US" sz="1800" dirty="0" smtClean="0"/>
              <a:t> for updates!</a:t>
            </a:r>
          </a:p>
          <a:p>
            <a:pPr eaLnBrk="1" hangingPunct="1">
              <a:spcBef>
                <a:spcPct val="50000"/>
              </a:spcBef>
              <a:buFontTx/>
              <a:buChar char="•"/>
            </a:pPr>
            <a:r>
              <a:rPr lang="en-US" sz="2000" dirty="0" smtClean="0"/>
              <a:t>Ongoing Schedule</a:t>
            </a:r>
          </a:p>
          <a:p>
            <a:pPr lvl="1" eaLnBrk="1" hangingPunct="1">
              <a:spcBef>
                <a:spcPct val="50000"/>
              </a:spcBef>
              <a:buFontTx/>
              <a:buChar char="•"/>
            </a:pPr>
            <a:r>
              <a:rPr lang="en-US" sz="1800" dirty="0" smtClean="0"/>
              <a:t>2</a:t>
            </a:r>
            <a:r>
              <a:rPr lang="en-US" sz="1800" baseline="30000" dirty="0" smtClean="0"/>
              <a:t>nd</a:t>
            </a:r>
            <a:r>
              <a:rPr lang="en-US" sz="1800" dirty="0" smtClean="0"/>
              <a:t> Wednesday of every month</a:t>
            </a:r>
          </a:p>
          <a:p>
            <a:pPr lvl="1" eaLnBrk="1" hangingPunct="1">
              <a:spcBef>
                <a:spcPct val="50000"/>
              </a:spcBef>
              <a:buFontTx/>
              <a:buChar char="•"/>
            </a:pPr>
            <a:r>
              <a:rPr lang="en-US" sz="1800" dirty="0" smtClean="0"/>
              <a:t>9:00 to 11:30 am</a:t>
            </a:r>
          </a:p>
          <a:p>
            <a:pPr lvl="1" eaLnBrk="1" hangingPunct="1">
              <a:spcBef>
                <a:spcPct val="50000"/>
              </a:spcBef>
              <a:buFontTx/>
              <a:buChar char="•"/>
            </a:pPr>
            <a:r>
              <a:rPr lang="en-US" sz="1800" dirty="0" smtClean="0"/>
              <a:t>Microsoft’s Bloomington Office</a:t>
            </a:r>
          </a:p>
        </p:txBody>
      </p:sp>
      <p:sp>
        <p:nvSpPr>
          <p:cNvPr id="8196"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
        <p:nvSpPr>
          <p:cNvPr id="8" name="Title 12289"/>
          <p:cNvSpPr txBox="1">
            <a:spLocks/>
          </p:cNvSpPr>
          <p:nvPr/>
        </p:nvSpPr>
        <p:spPr bwMode="auto">
          <a:xfrm>
            <a:off x="381000" y="1219200"/>
            <a:ext cx="8610600" cy="7508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smtClean="0">
                <a:ln>
                  <a:noFill/>
                </a:ln>
                <a:solidFill>
                  <a:schemeClr val="tx1"/>
                </a:solidFill>
                <a:effectLst/>
                <a:uLnTx/>
                <a:uFillTx/>
                <a:latin typeface="+mj-lt"/>
                <a:ea typeface="+mj-ea"/>
                <a:cs typeface="+mj-cs"/>
              </a:rPr>
              <a:t>Conferences</a:t>
            </a:r>
            <a:endParaRPr kumimoji="0" lang="en-US" sz="4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9" name="Text Placeholder 12290"/>
          <p:cNvSpPr txBox="1">
            <a:spLocks/>
          </p:cNvSpPr>
          <p:nvPr/>
        </p:nvSpPr>
        <p:spPr bwMode="auto">
          <a:xfrm>
            <a:off x="0" y="1981200"/>
            <a:ext cx="91440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1"/>
            <a:r>
              <a:rPr lang="en-US" sz="1600" b="1" i="1" dirty="0" smtClean="0">
                <a:solidFill>
                  <a:srgbClr val="000000"/>
                </a:solidFill>
                <a:latin typeface="Calibri"/>
              </a:rPr>
              <a:t>ANY?  </a:t>
            </a:r>
            <a:br>
              <a:rPr lang="en-US" sz="1600" b="1" i="1" dirty="0" smtClean="0">
                <a:solidFill>
                  <a:srgbClr val="000000"/>
                </a:solidFill>
                <a:latin typeface="Calibri"/>
              </a:rPr>
            </a:br>
            <a:r>
              <a:rPr lang="en-US" sz="1600" b="1" i="1" dirty="0" smtClean="0">
                <a:solidFill>
                  <a:srgbClr val="000000"/>
                </a:solidFill>
                <a:latin typeface="Calibri"/>
              </a:rPr>
              <a:t/>
            </a:r>
            <a:br>
              <a:rPr lang="en-US" sz="1600" b="1" i="1" dirty="0" smtClean="0">
                <a:solidFill>
                  <a:srgbClr val="000000"/>
                </a:solidFill>
                <a:latin typeface="Calibri"/>
              </a:rPr>
            </a:br>
            <a:r>
              <a:rPr lang="en-US" sz="1600" b="1" i="1" dirty="0" smtClean="0">
                <a:solidFill>
                  <a:srgbClr val="000000"/>
                </a:solidFill>
                <a:latin typeface="Calibri"/>
              </a:rPr>
              <a:t>SharePoint Conference 2009 – October 19-22, 2009</a:t>
            </a:r>
            <a:r>
              <a:rPr lang="en-US" sz="1600" b="1" dirty="0" smtClean="0">
                <a:solidFill>
                  <a:srgbClr val="000000"/>
                </a:solidFill>
                <a:latin typeface="Calibri"/>
              </a:rPr>
              <a:t/>
            </a:r>
            <a:br>
              <a:rPr lang="en-US" sz="1600" b="1" dirty="0" smtClean="0">
                <a:solidFill>
                  <a:srgbClr val="000000"/>
                </a:solidFill>
                <a:latin typeface="Calibri"/>
              </a:rPr>
            </a:br>
            <a:r>
              <a:rPr lang="en-US" sz="1600" dirty="0" smtClean="0">
                <a:solidFill>
                  <a:srgbClr val="000000"/>
                </a:solidFill>
                <a:latin typeface="Calibri"/>
                <a:hlinkClick r:id="rId3"/>
              </a:rPr>
              <a:t>http://www.mssharepointconference.com</a:t>
            </a:r>
            <a:r>
              <a:rPr lang="en-US" sz="1600" dirty="0" smtClean="0">
                <a:solidFill>
                  <a:srgbClr val="000000"/>
                </a:solidFill>
                <a:latin typeface="Calibri"/>
              </a:rPr>
              <a:t> </a:t>
            </a:r>
            <a:br>
              <a:rPr lang="en-US" sz="1600" dirty="0" smtClean="0">
                <a:solidFill>
                  <a:srgbClr val="000000"/>
                </a:solidFill>
                <a:latin typeface="Calibri"/>
              </a:rPr>
            </a:br>
            <a:r>
              <a:rPr lang="en-US" sz="1600" dirty="0" smtClean="0">
                <a:solidFill>
                  <a:srgbClr val="000000"/>
                </a:solidFill>
                <a:latin typeface="Calibri"/>
              </a:rPr>
              <a:t>Las Vegas, NV</a:t>
            </a:r>
          </a:p>
          <a:p>
            <a:pPr lvl="1"/>
            <a:endParaRPr lang="en-US" sz="1600" dirty="0" smtClean="0"/>
          </a:p>
        </p:txBody>
      </p:sp>
      <p:sp>
        <p:nvSpPr>
          <p:cNvPr id="5" name="Rectangle 34817"/>
          <p:cNvSpPr txBox="1">
            <a:spLocks/>
          </p:cNvSpPr>
          <p:nvPr/>
        </p:nvSpPr>
        <p:spPr bwMode="auto">
          <a:xfrm>
            <a:off x="381000" y="3352800"/>
            <a:ext cx="8610600" cy="7508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smtClean="0">
                <a:ln>
                  <a:noFill/>
                </a:ln>
                <a:solidFill>
                  <a:schemeClr val="tx1"/>
                </a:solidFill>
                <a:effectLst/>
                <a:uLnTx/>
                <a:uFillTx/>
                <a:latin typeface="+mj-lt"/>
                <a:ea typeface="+mj-ea"/>
                <a:cs typeface="+mj-cs"/>
              </a:rPr>
              <a:t>Local Events</a:t>
            </a:r>
          </a:p>
        </p:txBody>
      </p:sp>
      <p:sp>
        <p:nvSpPr>
          <p:cNvPr id="6" name="Rectangle 34818"/>
          <p:cNvSpPr txBox="1">
            <a:spLocks/>
          </p:cNvSpPr>
          <p:nvPr/>
        </p:nvSpPr>
        <p:spPr bwMode="auto">
          <a:xfrm>
            <a:off x="457200" y="4114800"/>
            <a:ext cx="8356600"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indent="-342900">
              <a:spcBef>
                <a:spcPts val="0"/>
              </a:spcBef>
              <a:defRPr/>
            </a:pPr>
            <a:r>
              <a:rPr lang="en-US" sz="1600" b="1" i="1" dirty="0" smtClean="0">
                <a:solidFill>
                  <a:srgbClr val="000000"/>
                </a:solidFill>
                <a:latin typeface="Calibri"/>
              </a:rPr>
              <a:t>Minneapolis Office Developer Interest Group – November 12, 2009  5:30 PM</a:t>
            </a:r>
            <a:br>
              <a:rPr lang="en-US" sz="1600" b="1" i="1" dirty="0" smtClean="0">
                <a:solidFill>
                  <a:srgbClr val="000000"/>
                </a:solidFill>
                <a:latin typeface="Calibri"/>
              </a:rPr>
            </a:br>
            <a:r>
              <a:rPr lang="en-US" sz="1400" b="1" dirty="0" smtClean="0"/>
              <a:t>SharePoint 2010 – Client Object Model</a:t>
            </a:r>
            <a:endParaRPr lang="en-US" sz="1400" b="1" dirty="0" smtClean="0">
              <a:latin typeface="+mn-lt"/>
              <a:cs typeface="+mn-cs"/>
            </a:endParaRPr>
          </a:p>
          <a:p>
            <a:pPr lvl="0" indent="-342900">
              <a:spcBef>
                <a:spcPts val="0"/>
              </a:spcBef>
            </a:pPr>
            <a:r>
              <a:rPr lang="en-US" sz="1600" dirty="0" smtClean="0">
                <a:solidFill>
                  <a:srgbClr val="000000"/>
                </a:solidFill>
                <a:latin typeface="Calibri"/>
                <a:hlinkClick r:id="rId4"/>
              </a:rPr>
              <a:t>http://www.sharepointmn.com/MODIG</a:t>
            </a:r>
          </a:p>
          <a:p>
            <a:pPr indent="-342900">
              <a:spcBef>
                <a:spcPts val="0"/>
              </a:spcBef>
              <a:defRPr/>
            </a:pPr>
            <a:endParaRPr lang="en-US" sz="1600" b="1" i="1" dirty="0" smtClean="0">
              <a:solidFill>
                <a:srgbClr val="000000"/>
              </a:solidFill>
              <a:latin typeface="Calibri"/>
            </a:endParaRPr>
          </a:p>
          <a:p>
            <a:pPr indent="-342900">
              <a:spcBef>
                <a:spcPts val="0"/>
              </a:spcBef>
              <a:defRPr/>
            </a:pPr>
            <a:r>
              <a:rPr lang="en-US" sz="1600" b="1" i="1" dirty="0" smtClean="0">
                <a:solidFill>
                  <a:srgbClr val="000000"/>
                </a:solidFill>
                <a:latin typeface="Calibri"/>
              </a:rPr>
              <a:t>SharePoint Server 2007 – Workflow and Digital Forms – November 19, 2009</a:t>
            </a:r>
            <a:r>
              <a:rPr lang="en-US" sz="1600" b="1" dirty="0" smtClean="0">
                <a:solidFill>
                  <a:srgbClr val="000000"/>
                </a:solidFill>
                <a:latin typeface="Calibri"/>
              </a:rPr>
              <a:t/>
            </a:r>
            <a:br>
              <a:rPr lang="en-US" sz="1600" b="1" dirty="0" smtClean="0">
                <a:solidFill>
                  <a:srgbClr val="000000"/>
                </a:solidFill>
                <a:latin typeface="Calibri"/>
              </a:rPr>
            </a:br>
            <a:r>
              <a:rPr lang="en-US" sz="1600" dirty="0" smtClean="0">
                <a:solidFill>
                  <a:srgbClr val="000000"/>
                </a:solidFill>
                <a:latin typeface="Calibri"/>
                <a:hlinkClick r:id="rId5"/>
              </a:rPr>
              <a:t>http://www.nhmn.com</a:t>
            </a:r>
            <a:r>
              <a:rPr lang="en-US" sz="1600" dirty="0" smtClean="0">
                <a:solidFill>
                  <a:srgbClr val="000000"/>
                </a:solidFill>
                <a:latin typeface="Calibri"/>
              </a:rPr>
              <a:t>  </a:t>
            </a:r>
            <a:br>
              <a:rPr lang="en-US" sz="1600" dirty="0" smtClean="0">
                <a:solidFill>
                  <a:srgbClr val="000000"/>
                </a:solidFill>
                <a:latin typeface="Calibri"/>
              </a:rPr>
            </a:br>
            <a:r>
              <a:rPr lang="en-US" sz="1600" dirty="0" smtClean="0">
                <a:solidFill>
                  <a:srgbClr val="000000"/>
                </a:solidFill>
                <a:latin typeface="Calibri"/>
              </a:rPr>
              <a:t>Edina, MN</a:t>
            </a:r>
            <a:r>
              <a:rPr lang="en-US" sz="1600" dirty="0" smtClean="0">
                <a:solidFill>
                  <a:srgbClr val="000000"/>
                </a:solidFill>
                <a:latin typeface="Calibri"/>
                <a:hlinkClick r:id="rId4"/>
              </a:rPr>
              <a:t> </a:t>
            </a:r>
            <a:endParaRPr lang="en-US" sz="1600" dirty="0" smtClean="0">
              <a:solidFill>
                <a:srgbClr val="000000"/>
              </a:solidFill>
              <a:latin typeface="Calibri"/>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Thanks!</a:t>
            </a:r>
            <a:endParaRPr lang="en-US" sz="2800" dirty="0" smtClean="0"/>
          </a:p>
        </p:txBody>
      </p:sp>
      <p:sp>
        <p:nvSpPr>
          <p:cNvPr id="9219" name="Rectangle 34818"/>
          <p:cNvSpPr>
            <a:spLocks noGrp="1"/>
          </p:cNvSpPr>
          <p:nvPr>
            <p:ph type="body" idx="4294967295"/>
          </p:nvPr>
        </p:nvSpPr>
        <p:spPr>
          <a:xfrm>
            <a:off x="381000" y="2057400"/>
            <a:ext cx="8356600" cy="4419600"/>
          </a:xfrm>
        </p:spPr>
        <p:txBody>
          <a:bodyPr/>
          <a:lstStyle/>
          <a:p>
            <a:r>
              <a:rPr lang="en-US" sz="2000" b="1" dirty="0" smtClean="0"/>
              <a:t>Mark from EUSP.com shared SharePoint 2010 Team Site Posters</a:t>
            </a:r>
            <a:endParaRPr lang="en-US" sz="2000" b="1" dirty="0" smtClean="0"/>
          </a:p>
          <a:p>
            <a:pPr lvl="1"/>
            <a:r>
              <a:rPr lang="en-US" sz="1400" dirty="0" smtClean="0">
                <a:hlinkClick r:id="rId3"/>
              </a:rPr>
              <a:t>http://www.endusersharepoint.com</a:t>
            </a:r>
            <a:r>
              <a:rPr lang="en-US" sz="1400" dirty="0" smtClean="0">
                <a:hlinkClick r:id="rId3"/>
              </a:rPr>
              <a:t>/</a:t>
            </a:r>
            <a:endParaRPr lang="en-US" sz="1400" dirty="0" smtClean="0"/>
          </a:p>
          <a:p>
            <a:pPr lvl="1"/>
            <a:endParaRPr lang="en-US" sz="2400" dirty="0" smtClean="0"/>
          </a:p>
          <a:p>
            <a:endParaRPr lang="en-US" sz="2400" dirty="0" smtClean="0"/>
          </a:p>
          <a:p>
            <a:pPr lvl="1"/>
            <a:endParaRPr lang="en-US" sz="1400" b="1" dirty="0" smtClean="0"/>
          </a:p>
        </p:txBody>
      </p:sp>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pic>
        <p:nvPicPr>
          <p:cNvPr id="3074" name="Picture 2" descr="SharePoint 2007 Team Site "/>
          <p:cNvPicPr>
            <a:picLocks noChangeAspect="1" noChangeArrowheads="1"/>
          </p:cNvPicPr>
          <p:nvPr/>
        </p:nvPicPr>
        <p:blipFill>
          <a:blip r:embed="rId4"/>
          <a:srcRect/>
          <a:stretch>
            <a:fillRect/>
          </a:stretch>
        </p:blipFill>
        <p:spPr bwMode="auto">
          <a:xfrm>
            <a:off x="3733800" y="3124200"/>
            <a:ext cx="4781550" cy="2343151"/>
          </a:xfrm>
          <a:prstGeom prst="rect">
            <a:avLst/>
          </a:prstGeom>
          <a:noFill/>
        </p:spPr>
      </p:pic>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SPC09</a:t>
            </a:r>
            <a:endParaRPr lang="en-US" sz="2800" dirty="0" smtClean="0"/>
          </a:p>
        </p:txBody>
      </p:sp>
      <p:sp>
        <p:nvSpPr>
          <p:cNvPr id="9219" name="Rectangle 34818"/>
          <p:cNvSpPr>
            <a:spLocks noGrp="1"/>
          </p:cNvSpPr>
          <p:nvPr>
            <p:ph type="body" idx="4294967295"/>
          </p:nvPr>
        </p:nvSpPr>
        <p:spPr>
          <a:xfrm>
            <a:off x="381000" y="2057400"/>
            <a:ext cx="8356600" cy="4419600"/>
          </a:xfrm>
        </p:spPr>
        <p:txBody>
          <a:bodyPr/>
          <a:lstStyle/>
          <a:p>
            <a:r>
              <a:rPr lang="en-US" sz="2000" b="1" dirty="0" smtClean="0"/>
              <a:t>Tons of great content</a:t>
            </a:r>
          </a:p>
          <a:p>
            <a:pPr lvl="1"/>
            <a:r>
              <a:rPr lang="en-US" sz="2000" dirty="0" smtClean="0"/>
              <a:t>Friends of the MNSPUG got together for a photo:</a:t>
            </a:r>
            <a:endParaRPr lang="en-US" sz="2000" dirty="0" smtClean="0"/>
          </a:p>
          <a:p>
            <a:endParaRPr lang="en-US" sz="2400" dirty="0" smtClean="0"/>
          </a:p>
          <a:p>
            <a:pPr lvl="1"/>
            <a:endParaRPr lang="en-US" sz="1400" b="1" dirty="0" smtClean="0"/>
          </a:p>
        </p:txBody>
      </p:sp>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pic>
        <p:nvPicPr>
          <p:cNvPr id="5" name="Picture 4" descr="10-19-09 180 MNSPUG.jpg"/>
          <p:cNvPicPr>
            <a:picLocks noChangeAspect="1"/>
          </p:cNvPicPr>
          <p:nvPr/>
        </p:nvPicPr>
        <p:blipFill>
          <a:blip r:embed="rId3" cstate="print"/>
          <a:stretch>
            <a:fillRect/>
          </a:stretch>
        </p:blipFill>
        <p:spPr>
          <a:xfrm>
            <a:off x="1752600" y="2971800"/>
            <a:ext cx="4953000" cy="3302573"/>
          </a:xfrm>
          <a:prstGeom prst="rect">
            <a:avLst/>
          </a:prstGeom>
        </p:spPr>
      </p:pic>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Announcements</a:t>
            </a:r>
          </a:p>
        </p:txBody>
      </p:sp>
      <p:sp>
        <p:nvSpPr>
          <p:cNvPr id="9219" name="Rectangle 34818"/>
          <p:cNvSpPr>
            <a:spLocks noGrp="1"/>
          </p:cNvSpPr>
          <p:nvPr>
            <p:ph type="body" idx="4294967295"/>
          </p:nvPr>
        </p:nvSpPr>
        <p:spPr>
          <a:xfrm>
            <a:off x="381000" y="2057400"/>
            <a:ext cx="8356600" cy="4419600"/>
          </a:xfrm>
        </p:spPr>
        <p:txBody>
          <a:bodyPr/>
          <a:lstStyle/>
          <a:p>
            <a:r>
              <a:rPr lang="en-US" sz="2000" b="1" dirty="0" smtClean="0"/>
              <a:t>Public Beta 2 available later this month!</a:t>
            </a:r>
          </a:p>
          <a:p>
            <a:pPr lvl="1"/>
            <a:r>
              <a:rPr lang="en-US" sz="1600" dirty="0" smtClean="0"/>
              <a:t>Register for it here: </a:t>
            </a:r>
            <a:r>
              <a:rPr lang="en-US" sz="1600" dirty="0" smtClean="0">
                <a:hlinkClick r:id="rId3"/>
              </a:rPr>
              <a:t>http://sharepoint2010.microsoft.com/try-it/Pages/Trial.aspx</a:t>
            </a:r>
            <a:endParaRPr lang="en-US" sz="1600" dirty="0" smtClean="0"/>
          </a:p>
          <a:p>
            <a:endParaRPr lang="en-US" sz="2400" dirty="0" smtClean="0"/>
          </a:p>
          <a:p>
            <a:r>
              <a:rPr lang="en-US" sz="2000" b="1" dirty="0" smtClean="0"/>
              <a:t>Get Ready!</a:t>
            </a:r>
          </a:p>
          <a:p>
            <a:pPr lvl="1"/>
            <a:r>
              <a:rPr lang="en-US" sz="1600" dirty="0" smtClean="0"/>
              <a:t>SharePoint Server 2010 will be 64-bit only. </a:t>
            </a:r>
          </a:p>
          <a:p>
            <a:pPr lvl="1"/>
            <a:r>
              <a:rPr lang="en-US" sz="1600" dirty="0" smtClean="0"/>
              <a:t>SharePoint Server 2010 will require 64-bit Windows Server 2008 or 64-bit Windows Server 2008 R2. </a:t>
            </a:r>
          </a:p>
          <a:p>
            <a:pPr lvl="1"/>
            <a:r>
              <a:rPr lang="en-US" sz="1600" dirty="0" smtClean="0"/>
              <a:t>SharePoint Server 2010 will require 64-bit SQL Server 2008 or 64-bit SQL Server 2005. </a:t>
            </a:r>
            <a:endParaRPr lang="en-US" sz="1600" dirty="0" smtClean="0"/>
          </a:p>
          <a:p>
            <a:pPr lvl="1"/>
            <a:r>
              <a:rPr lang="en-US" sz="1600" dirty="0" smtClean="0">
                <a:hlinkClick r:id="rId4"/>
              </a:rPr>
              <a:t>http://</a:t>
            </a:r>
            <a:r>
              <a:rPr lang="en-US" sz="1600" dirty="0" smtClean="0">
                <a:hlinkClick r:id="rId4"/>
              </a:rPr>
              <a:t>blogs.msdn.com/sharepoint/archive/2009/05/11/announcing-sharepoint-server-2010-preliminary-system-requirements.aspx</a:t>
            </a:r>
            <a:endParaRPr lang="en-US" sz="1600" dirty="0" smtClean="0"/>
          </a:p>
        </p:txBody>
      </p:sp>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Veterans Day</a:t>
            </a:r>
          </a:p>
        </p:txBody>
      </p:sp>
      <p:sp>
        <p:nvSpPr>
          <p:cNvPr id="9219" name="Rectangle 34818"/>
          <p:cNvSpPr>
            <a:spLocks noGrp="1"/>
          </p:cNvSpPr>
          <p:nvPr>
            <p:ph type="body" idx="4294967295"/>
          </p:nvPr>
        </p:nvSpPr>
        <p:spPr>
          <a:xfrm>
            <a:off x="381000" y="2057400"/>
            <a:ext cx="8356600" cy="4419600"/>
          </a:xfrm>
        </p:spPr>
        <p:txBody>
          <a:bodyPr/>
          <a:lstStyle/>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r>
              <a:rPr lang="en-US" sz="2800" dirty="0" smtClean="0"/>
              <a:t>Thank you</a:t>
            </a:r>
          </a:p>
        </p:txBody>
      </p:sp>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pic>
        <p:nvPicPr>
          <p:cNvPr id="80898" name="Picture 2" descr="C:\Users\wpreston\AppData\Local\Microsoft\Windows\Temporary Internet Files\Content.IE5\U8M1TKFE\MPj04447660000[1].jpg"/>
          <p:cNvPicPr>
            <a:picLocks noChangeAspect="1" noChangeArrowheads="1"/>
          </p:cNvPicPr>
          <p:nvPr/>
        </p:nvPicPr>
        <p:blipFill>
          <a:blip r:embed="rId3" cstate="print"/>
          <a:srcRect/>
          <a:stretch>
            <a:fillRect/>
          </a:stretch>
        </p:blipFill>
        <p:spPr bwMode="auto">
          <a:xfrm>
            <a:off x="2971800" y="1676400"/>
            <a:ext cx="3059853" cy="3962400"/>
          </a:xfrm>
          <a:prstGeom prst="rect">
            <a:avLst/>
          </a:prstGeom>
          <a:noFill/>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SharePoint 2010 - Overview</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*Disclaimer*</a:t>
            </a:r>
          </a:p>
        </p:txBody>
      </p:sp>
      <p:sp>
        <p:nvSpPr>
          <p:cNvPr id="9219" name="Rectangle 34818"/>
          <p:cNvSpPr>
            <a:spLocks noGrp="1"/>
          </p:cNvSpPr>
          <p:nvPr>
            <p:ph type="body" idx="4294967295"/>
          </p:nvPr>
        </p:nvSpPr>
        <p:spPr>
          <a:xfrm>
            <a:off x="381000" y="2057400"/>
            <a:ext cx="8356600" cy="4419600"/>
          </a:xfrm>
        </p:spPr>
        <p:txBody>
          <a:bodyPr/>
          <a:lstStyle/>
          <a:p>
            <a:r>
              <a:rPr lang="en-US" sz="2000" dirty="0" smtClean="0"/>
              <a:t>All of the information gathered and presented today is based on versions of the software prior to final release.  </a:t>
            </a:r>
          </a:p>
          <a:p>
            <a:r>
              <a:rPr lang="en-US" sz="2000" dirty="0" smtClean="0"/>
              <a:t>Features and functionality *may still change* before the RTM versions are available.  </a:t>
            </a:r>
          </a:p>
          <a:p>
            <a:r>
              <a:rPr lang="en-US" sz="2000" dirty="0" smtClean="0"/>
              <a:t>Many of the slides and graphics presented today are based on content released and presented at SPC 09.</a:t>
            </a:r>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763000" cy="1066800"/>
          </a:xfrm>
        </p:spPr>
        <p:txBody>
          <a:bodyPr/>
          <a:lstStyle/>
          <a:p>
            <a:pPr algn="l" eaLnBrk="1" hangingPunct="1"/>
            <a:r>
              <a:rPr lang="en-US" sz="2800" dirty="0" smtClean="0"/>
              <a:t>Microsoft SharePoint 2010</a:t>
            </a:r>
            <a:br>
              <a:rPr lang="en-US" sz="2800" dirty="0" smtClean="0"/>
            </a:br>
            <a:r>
              <a:rPr lang="en-US" sz="2400" spc="-100" dirty="0" smtClean="0"/>
              <a:t>The</a:t>
            </a:r>
            <a:r>
              <a:rPr lang="en-US" sz="2400" spc="-100" dirty="0" smtClean="0">
                <a:gradFill>
                  <a:gsLst>
                    <a:gs pos="50000">
                      <a:schemeClr val="bg1"/>
                    </a:gs>
                    <a:gs pos="100000">
                      <a:schemeClr val="bg1"/>
                    </a:gs>
                  </a:gsLst>
                  <a:path path="circle">
                    <a:fillToRect l="50000" t="50000" r="50000" b="50000"/>
                  </a:path>
                </a:gradFill>
              </a:rPr>
              <a:t> </a:t>
            </a:r>
            <a:r>
              <a:rPr lang="en-US" sz="2400" spc="-100" dirty="0" smtClean="0">
                <a:solidFill>
                  <a:schemeClr val="accent2"/>
                </a:solidFill>
              </a:rPr>
              <a:t>Business Collaboration Platform</a:t>
            </a:r>
            <a:r>
              <a:rPr lang="en-US" sz="2400" spc="-100" dirty="0" smtClean="0">
                <a:gradFill>
                  <a:gsLst>
                    <a:gs pos="50000">
                      <a:schemeClr val="bg1"/>
                    </a:gs>
                    <a:gs pos="100000">
                      <a:schemeClr val="bg1"/>
                    </a:gs>
                  </a:gsLst>
                  <a:path path="circle">
                    <a:fillToRect l="50000" t="50000" r="50000" b="50000"/>
                  </a:path>
                </a:gradFill>
              </a:rPr>
              <a:t> </a:t>
            </a:r>
            <a:r>
              <a:rPr lang="en-US" sz="2400" spc="-100" dirty="0" smtClean="0"/>
              <a:t>for the Enterprise and the Web</a:t>
            </a:r>
            <a:endParaRPr lang="en-US" sz="2800" dirty="0" smtClean="0"/>
          </a:p>
        </p:txBody>
      </p:sp>
      <p:sp>
        <p:nvSpPr>
          <p:cNvPr id="9220" name="TextBox 4"/>
          <p:cNvSpPr txBox="1">
            <a:spLocks noChangeArrowheads="1"/>
          </p:cNvSpPr>
          <p:nvPr/>
        </p:nvSpPr>
        <p:spPr bwMode="auto">
          <a:xfrm>
            <a:off x="990600" y="6629400"/>
            <a:ext cx="2405063" cy="554038"/>
          </a:xfrm>
          <a:prstGeom prst="rect">
            <a:avLst/>
          </a:prstGeom>
          <a:noFill/>
          <a:ln w="9525" algn="ctr">
            <a:noFill/>
            <a:miter lim="800000"/>
            <a:headEnd/>
            <a:tailEnd/>
          </a:ln>
        </p:spPr>
        <p:txBody>
          <a:bodyPr>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grpSp>
        <p:nvGrpSpPr>
          <p:cNvPr id="5" name="Group 24"/>
          <p:cNvGrpSpPr/>
          <p:nvPr/>
        </p:nvGrpSpPr>
        <p:grpSpPr>
          <a:xfrm>
            <a:off x="3886201" y="3365695"/>
            <a:ext cx="5257800" cy="1663505"/>
            <a:chOff x="3657600" y="3060895"/>
            <a:chExt cx="5486400" cy="1663505"/>
          </a:xfrm>
        </p:grpSpPr>
        <p:sp>
          <p:nvSpPr>
            <p:cNvPr id="6" name="Rectangle 5"/>
            <p:cNvSpPr/>
            <p:nvPr/>
          </p:nvSpPr>
          <p:spPr bwMode="auto">
            <a:xfrm>
              <a:off x="3657600" y="3060895"/>
              <a:ext cx="5486400" cy="411480"/>
            </a:xfrm>
            <a:prstGeom prst="rect">
              <a:avLst/>
            </a:prstGeom>
            <a:gradFill flip="none" rotWithShape="1">
              <a:gsLst>
                <a:gs pos="0">
                  <a:srgbClr val="000000">
                    <a:alpha val="40000"/>
                  </a:srgbClr>
                </a:gs>
                <a:gs pos="50000">
                  <a:srgbClr val="000000">
                    <a:alpha val="30000"/>
                  </a:srgbClr>
                </a:gs>
                <a:gs pos="100000">
                  <a:srgbClr val="000000">
                    <a:alpha val="0"/>
                  </a:srgbClr>
                </a:gs>
              </a:gsLst>
              <a:lin ang="2700000" scaled="1"/>
              <a:tileRect/>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365760" tIns="18288" rIns="0" bIns="0" numCol="1" rtlCol="0" anchor="ctr" anchorCtr="0" compatLnSpc="1">
              <a:prstTxWarp prst="textNoShape">
                <a:avLst/>
              </a:prstTxWarp>
              <a:noAutofit/>
            </a:bodyPr>
            <a:lstStyle/>
            <a:p>
              <a:pPr fontAlgn="base">
                <a:lnSpc>
                  <a:spcPct val="90000"/>
                </a:lnSpc>
                <a:spcBef>
                  <a:spcPct val="0"/>
                </a:spcBef>
                <a:spcAft>
                  <a:spcPts val="1458"/>
                </a:spcAft>
                <a:defRPr/>
              </a:pPr>
              <a:r>
                <a:rPr lang="en-US" sz="2400" i="1" spc="-50" dirty="0">
                  <a:ln w="3175">
                    <a:noFill/>
                  </a:ln>
                  <a:solidFill>
                    <a:srgbClr val="FFFFFF"/>
                  </a:solidFill>
                  <a:cs typeface="Arial" charset="0"/>
                </a:rPr>
                <a:t>Connect and Empower People</a:t>
              </a:r>
              <a:endParaRPr lang="en-US" altLang="zh-CN" sz="2400" i="1" spc="-50" dirty="0">
                <a:solidFill>
                  <a:srgbClr val="FFFFFF"/>
                </a:solidFill>
                <a:latin typeface="Segoe Semibold" pitchFamily="34" charset="0"/>
              </a:endParaRPr>
            </a:p>
          </p:txBody>
        </p:sp>
        <p:sp>
          <p:nvSpPr>
            <p:cNvPr id="7" name="Rectangle 6"/>
            <p:cNvSpPr/>
            <p:nvPr/>
          </p:nvSpPr>
          <p:spPr bwMode="auto">
            <a:xfrm>
              <a:off x="3657600" y="3686907"/>
              <a:ext cx="5486400" cy="411480"/>
            </a:xfrm>
            <a:prstGeom prst="rect">
              <a:avLst/>
            </a:prstGeom>
            <a:gradFill flip="none" rotWithShape="1">
              <a:gsLst>
                <a:gs pos="0">
                  <a:srgbClr val="000000">
                    <a:alpha val="40000"/>
                  </a:srgbClr>
                </a:gs>
                <a:gs pos="50000">
                  <a:srgbClr val="000000">
                    <a:alpha val="30000"/>
                  </a:srgbClr>
                </a:gs>
                <a:gs pos="100000">
                  <a:srgbClr val="000000">
                    <a:alpha val="0"/>
                  </a:srgbClr>
                </a:gs>
              </a:gsLst>
              <a:lin ang="2700000" scaled="1"/>
              <a:tileRect/>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365760" tIns="18288" rIns="0" bIns="0" numCol="1" rtlCol="0" anchor="ctr" anchorCtr="0" compatLnSpc="1">
              <a:prstTxWarp prst="textNoShape">
                <a:avLst/>
              </a:prstTxWarp>
              <a:noAutofit/>
            </a:bodyPr>
            <a:lstStyle/>
            <a:p>
              <a:pPr fontAlgn="base">
                <a:lnSpc>
                  <a:spcPct val="90000"/>
                </a:lnSpc>
                <a:spcBef>
                  <a:spcPct val="0"/>
                </a:spcBef>
                <a:spcAft>
                  <a:spcPts val="1458"/>
                </a:spcAft>
                <a:defRPr/>
              </a:pPr>
              <a:r>
                <a:rPr lang="en-US" sz="2400" i="1" spc="-50" dirty="0">
                  <a:ln w="3175">
                    <a:noFill/>
                  </a:ln>
                  <a:solidFill>
                    <a:srgbClr val="FFFFFF"/>
                  </a:solidFill>
                  <a:cs typeface="Arial" charset="0"/>
                </a:rPr>
                <a:t>Cut Costs with a Unified Infrastructure</a:t>
              </a:r>
              <a:endParaRPr lang="en-US" sz="2200" i="1" spc="-50" dirty="0">
                <a:ln w="3175">
                  <a:noFill/>
                </a:ln>
                <a:solidFill>
                  <a:srgbClr val="FFFFFF"/>
                </a:solidFill>
                <a:cs typeface="Arial" charset="0"/>
              </a:endParaRPr>
            </a:p>
          </p:txBody>
        </p:sp>
        <p:sp>
          <p:nvSpPr>
            <p:cNvPr id="8" name="Rectangle 7"/>
            <p:cNvSpPr/>
            <p:nvPr/>
          </p:nvSpPr>
          <p:spPr bwMode="auto">
            <a:xfrm>
              <a:off x="3657600" y="4312920"/>
              <a:ext cx="5486400" cy="411480"/>
            </a:xfrm>
            <a:prstGeom prst="rect">
              <a:avLst/>
            </a:prstGeom>
            <a:gradFill flip="none" rotWithShape="1">
              <a:gsLst>
                <a:gs pos="0">
                  <a:srgbClr val="000000">
                    <a:alpha val="40000"/>
                  </a:srgbClr>
                </a:gs>
                <a:gs pos="50000">
                  <a:srgbClr val="000000">
                    <a:alpha val="30000"/>
                  </a:srgbClr>
                </a:gs>
                <a:gs pos="100000">
                  <a:srgbClr val="000000">
                    <a:alpha val="0"/>
                  </a:srgbClr>
                </a:gs>
              </a:gsLst>
              <a:lin ang="2700000" scaled="1"/>
              <a:tileRect/>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365760" tIns="18288" rIns="0" bIns="0" numCol="1" rtlCol="0" anchor="ctr" anchorCtr="0" compatLnSpc="1">
              <a:prstTxWarp prst="textNoShape">
                <a:avLst/>
              </a:prstTxWarp>
              <a:noAutofit/>
            </a:bodyPr>
            <a:lstStyle/>
            <a:p>
              <a:pPr fontAlgn="base">
                <a:lnSpc>
                  <a:spcPct val="90000"/>
                </a:lnSpc>
                <a:spcBef>
                  <a:spcPct val="0"/>
                </a:spcBef>
                <a:spcAft>
                  <a:spcPts val="1458"/>
                </a:spcAft>
                <a:defRPr/>
              </a:pPr>
              <a:r>
                <a:rPr lang="en-US" sz="2400" i="1" spc="-50" dirty="0">
                  <a:ln w="3175">
                    <a:noFill/>
                  </a:ln>
                  <a:solidFill>
                    <a:srgbClr val="FFFFFF"/>
                  </a:solidFill>
                  <a:cs typeface="Arial" charset="0"/>
                </a:rPr>
                <a:t>Rapidly Respond to Business Needs</a:t>
              </a:r>
            </a:p>
          </p:txBody>
        </p:sp>
      </p:grpSp>
      <p:grpSp>
        <p:nvGrpSpPr>
          <p:cNvPr id="9" name="Group 8"/>
          <p:cNvGrpSpPr/>
          <p:nvPr/>
        </p:nvGrpSpPr>
        <p:grpSpPr>
          <a:xfrm>
            <a:off x="-279506" y="2253064"/>
            <a:ext cx="4241906" cy="3766736"/>
            <a:chOff x="-406294" y="1828799"/>
            <a:chExt cx="6094413" cy="3962400"/>
          </a:xfrm>
        </p:grpSpPr>
        <p:grpSp>
          <p:nvGrpSpPr>
            <p:cNvPr id="10" name="Group 83"/>
            <p:cNvGrpSpPr/>
            <p:nvPr/>
          </p:nvGrpSpPr>
          <p:grpSpPr>
            <a:xfrm>
              <a:off x="-406294" y="1828799"/>
              <a:ext cx="6094413" cy="3962400"/>
              <a:chOff x="-4185" y="2085973"/>
              <a:chExt cx="4122018" cy="3605979"/>
            </a:xfrm>
          </p:grpSpPr>
          <p:grpSp>
            <p:nvGrpSpPr>
              <p:cNvPr id="17" name="Group 50"/>
              <p:cNvGrpSpPr/>
              <p:nvPr/>
            </p:nvGrpSpPr>
            <p:grpSpPr>
              <a:xfrm>
                <a:off x="-4185" y="2085973"/>
                <a:ext cx="4122018" cy="3605979"/>
                <a:chOff x="-4186" y="2145978"/>
                <a:chExt cx="4001959" cy="3500950"/>
              </a:xfrm>
            </p:grpSpPr>
            <p:sp>
              <p:nvSpPr>
                <p:cNvPr id="22" name="Oval 21"/>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400">
                    <a:solidFill>
                      <a:srgbClr val="FFFFFF"/>
                    </a:solidFill>
                  </a:endParaRPr>
                </a:p>
              </p:txBody>
            </p:sp>
            <p:pic>
              <p:nvPicPr>
                <p:cNvPr id="23" name="Picture 2" descr="\\SERVER3\Restrict\FTP_Root\Clients\White_Whale\2-20070_TAP_Airlift\Art\6-star pie cuts.png"/>
                <p:cNvPicPr>
                  <a:picLocks noChangeAspect="1" noChangeArrowheads="1"/>
                </p:cNvPicPr>
                <p:nvPr/>
              </p:nvPicPr>
              <p:blipFill>
                <a:blip r:embed="rId3" cstate="print"/>
                <a:stretch>
                  <a:fillRect/>
                </a:stretch>
              </p:blipFill>
              <p:spPr bwMode="auto">
                <a:xfrm rot="5400000">
                  <a:off x="246319" y="1895473"/>
                  <a:ext cx="3500950" cy="4001959"/>
                </a:xfrm>
                <a:prstGeom prst="rect">
                  <a:avLst/>
                </a:prstGeom>
                <a:noFill/>
              </p:spPr>
            </p:pic>
          </p:grpSp>
          <p:grpSp>
            <p:nvGrpSpPr>
              <p:cNvPr id="18" name="Group 82"/>
              <p:cNvGrpSpPr/>
              <p:nvPr/>
            </p:nvGrpSpPr>
            <p:grpSpPr>
              <a:xfrm>
                <a:off x="1197089" y="3056816"/>
                <a:ext cx="1774433" cy="1838194"/>
                <a:chOff x="1197089" y="3056816"/>
                <a:chExt cx="1774433" cy="1838194"/>
              </a:xfrm>
            </p:grpSpPr>
            <p:sp>
              <p:nvSpPr>
                <p:cNvPr id="19" name="Oval 18"/>
                <p:cNvSpPr/>
                <p:nvPr/>
              </p:nvSpPr>
              <p:spPr bwMode="auto">
                <a:xfrm>
                  <a:off x="1197089" y="3056816"/>
                  <a:ext cx="1774433" cy="1838194"/>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3200" dirty="0" err="1">
                    <a:solidFill>
                      <a:srgbClr val="FFFFFF"/>
                    </a:solidFill>
                    <a:latin typeface="Segoe" pitchFamily="34" charset="0"/>
                  </a:endParaRPr>
                </a:p>
              </p:txBody>
            </p:sp>
            <p:pic>
              <p:nvPicPr>
                <p:cNvPr id="20" name="Content Placeholder 4" descr="ShrPt_h_rgb.png"/>
                <p:cNvPicPr>
                  <a:picLocks noChangeAspect="1"/>
                </p:cNvPicPr>
                <p:nvPr/>
              </p:nvPicPr>
              <p:blipFill>
                <a:blip r:embed="rId4" cstate="print"/>
                <a:srcRect r="83105" b="-8078"/>
                <a:stretch>
                  <a:fillRect/>
                </a:stretch>
              </p:blipFill>
              <p:spPr>
                <a:xfrm>
                  <a:off x="1882721" y="3482810"/>
                  <a:ext cx="453526" cy="539301"/>
                </a:xfrm>
                <a:prstGeom prst="rect">
                  <a:avLst/>
                </a:prstGeom>
              </p:spPr>
            </p:pic>
            <p:pic>
              <p:nvPicPr>
                <p:cNvPr id="21" name="Content Placeholder 4" descr="ShrPt_h_rgb.png"/>
                <p:cNvPicPr>
                  <a:picLocks noChangeAspect="1"/>
                </p:cNvPicPr>
                <p:nvPr/>
              </p:nvPicPr>
              <p:blipFill>
                <a:blip r:embed="rId4"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
          <p:nvSpPr>
            <p:cNvPr id="11" name="Rectangle 10"/>
            <p:cNvSpPr/>
            <p:nvPr/>
          </p:nvSpPr>
          <p:spPr>
            <a:xfrm>
              <a:off x="3079878" y="3124200"/>
              <a:ext cx="2060852" cy="233110"/>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Communities</a:t>
              </a:r>
            </a:p>
          </p:txBody>
        </p:sp>
        <p:sp>
          <p:nvSpPr>
            <p:cNvPr id="12" name="Rectangle 11"/>
            <p:cNvSpPr/>
            <p:nvPr/>
          </p:nvSpPr>
          <p:spPr>
            <a:xfrm>
              <a:off x="1726750" y="5055692"/>
              <a:ext cx="1889321" cy="190679"/>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Search</a:t>
              </a:r>
            </a:p>
          </p:txBody>
        </p:sp>
        <p:sp>
          <p:nvSpPr>
            <p:cNvPr id="13" name="Rectangle 12"/>
            <p:cNvSpPr/>
            <p:nvPr/>
          </p:nvSpPr>
          <p:spPr>
            <a:xfrm>
              <a:off x="1726752" y="2514600"/>
              <a:ext cx="1889320" cy="190679"/>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Sites</a:t>
              </a:r>
            </a:p>
          </p:txBody>
        </p:sp>
        <p:sp>
          <p:nvSpPr>
            <p:cNvPr id="14" name="Rectangle 13"/>
            <p:cNvSpPr/>
            <p:nvPr/>
          </p:nvSpPr>
          <p:spPr>
            <a:xfrm>
              <a:off x="66375" y="3124200"/>
              <a:ext cx="2066670" cy="190679"/>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Composites</a:t>
              </a:r>
            </a:p>
          </p:txBody>
        </p:sp>
        <p:sp>
          <p:nvSpPr>
            <p:cNvPr id="15" name="Rectangle 14"/>
            <p:cNvSpPr/>
            <p:nvPr/>
          </p:nvSpPr>
          <p:spPr>
            <a:xfrm>
              <a:off x="3555073" y="4292914"/>
              <a:ext cx="1366217" cy="190679"/>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Content</a:t>
              </a:r>
            </a:p>
          </p:txBody>
        </p:sp>
        <p:sp>
          <p:nvSpPr>
            <p:cNvPr id="16" name="Rectangle 15"/>
            <p:cNvSpPr/>
            <p:nvPr/>
          </p:nvSpPr>
          <p:spPr>
            <a:xfrm>
              <a:off x="406295" y="4292914"/>
              <a:ext cx="1334322" cy="190679"/>
            </a:xfrm>
            <a:prstGeom prst="rect">
              <a:avLst/>
            </a:prstGeom>
          </p:spPr>
          <p:txBody>
            <a:bodyPr wrap="square" lIns="0" tIns="0" rIns="0" bIns="0">
              <a:spAutoFit/>
            </a:bodyPr>
            <a:lstStyle/>
            <a:p>
              <a:pPr algn="ctr" fontAlgn="base">
                <a:lnSpc>
                  <a:spcPct val="80000"/>
                </a:lnSpc>
                <a:spcBef>
                  <a:spcPct val="0"/>
                </a:spcBef>
                <a:spcAft>
                  <a:spcPct val="0"/>
                </a:spcAft>
              </a:pPr>
              <a:r>
                <a:rPr lang="en-US" b="1" spc="-80" dirty="0">
                  <a:ln w="3175">
                    <a:noFill/>
                  </a:ln>
                  <a:gradFill>
                    <a:gsLst>
                      <a:gs pos="50000">
                        <a:srgbClr val="FFFFFF"/>
                      </a:gs>
                      <a:gs pos="100000">
                        <a:srgbClr val="FFFFFF"/>
                      </a:gs>
                    </a:gsLst>
                    <a:lin ang="5400000" scaled="0"/>
                  </a:gradFill>
                  <a:cs typeface="Segoe UI" pitchFamily="34" charset="0"/>
                </a:rPr>
                <a:t>Insights</a:t>
              </a:r>
            </a:p>
          </p:txBody>
        </p:sp>
      </p:grpSp>
      <p:pic>
        <p:nvPicPr>
          <p:cNvPr id="24" name="Rectangle 9217"/>
          <p:cNvPicPr>
            <a:picLocks noChangeAspect="1" noChangeArrowheads="1"/>
          </p:cNvPicPr>
          <p:nvPr/>
        </p:nvPicPr>
        <p:blipFill>
          <a:blip r:embed="rId5" cstate="print"/>
          <a:srcRect/>
          <a:stretch>
            <a:fillRect/>
          </a:stretch>
        </p:blipFill>
        <p:spPr bwMode="ltGray">
          <a:xfrm rot="1944189">
            <a:off x="4477885" y="7131475"/>
            <a:ext cx="4102100" cy="4213225"/>
          </a:xfrm>
          <a:prstGeom prst="rect">
            <a:avLst/>
          </a:prstGeom>
          <a:noFill/>
          <a:ln w="9525" cap="flat" cmpd="sng" algn="ctr">
            <a:noFill/>
            <a:prstDash val="solid"/>
            <a:miter lim="800000"/>
            <a:headEnd type="none" w="med" len="med"/>
            <a:tailEnd type="none" w="med" len="med"/>
          </a:ln>
          <a:effectLst/>
        </p:spPr>
      </p:pic>
      <p:pic>
        <p:nvPicPr>
          <p:cNvPr id="25" name="Rectangle 9218"/>
          <p:cNvPicPr>
            <a:picLocks noChangeAspect="1" noChangeArrowheads="1"/>
          </p:cNvPicPr>
          <p:nvPr/>
        </p:nvPicPr>
        <p:blipFill>
          <a:blip r:embed="rId6" cstate="print"/>
          <a:srcRect/>
          <a:stretch>
            <a:fillRect/>
          </a:stretch>
        </p:blipFill>
        <p:spPr bwMode="invGray">
          <a:xfrm>
            <a:off x="5481638" y="7636237"/>
            <a:ext cx="795337" cy="219075"/>
          </a:xfrm>
          <a:prstGeom prst="rect">
            <a:avLst/>
          </a:prstGeom>
          <a:noFill/>
          <a:ln w="9525" cap="flat" cmpd="sng" algn="ctr">
            <a:noFill/>
            <a:prstDash val="solid"/>
            <a:miter lim="800000"/>
            <a:headEnd type="none" w="med" len="med"/>
            <a:tailEnd type="none" w="med" len="med"/>
          </a:ln>
          <a:effectLst/>
        </p:spPr>
      </p:pic>
      <p:pic>
        <p:nvPicPr>
          <p:cNvPr id="26" name="Rectangle 9219"/>
          <p:cNvPicPr>
            <a:picLocks noChangeAspect="1" noChangeArrowheads="1"/>
          </p:cNvPicPr>
          <p:nvPr/>
        </p:nvPicPr>
        <p:blipFill>
          <a:blip r:embed="rId7" cstate="print"/>
          <a:srcRect/>
          <a:stretch>
            <a:fillRect/>
          </a:stretch>
        </p:blipFill>
        <p:spPr bwMode="invGray">
          <a:xfrm>
            <a:off x="5268913" y="7861662"/>
            <a:ext cx="1077912" cy="274637"/>
          </a:xfrm>
          <a:prstGeom prst="rect">
            <a:avLst/>
          </a:prstGeom>
          <a:noFill/>
          <a:ln w="9525" cap="flat" cmpd="sng" algn="ctr">
            <a:noFill/>
            <a:prstDash val="solid"/>
            <a:miter lim="800000"/>
            <a:headEnd type="none" w="med" len="med"/>
            <a:tailEnd type="none" w="med" len="med"/>
          </a:ln>
          <a:effectLst/>
        </p:spPr>
      </p:pic>
      <p:pic>
        <p:nvPicPr>
          <p:cNvPr id="27" name="Rectangle 9220"/>
          <p:cNvPicPr>
            <a:picLocks noChangeAspect="1" noChangeArrowheads="1"/>
          </p:cNvPicPr>
          <p:nvPr/>
        </p:nvPicPr>
        <p:blipFill>
          <a:blip r:embed="rId8" cstate="print"/>
          <a:srcRect/>
          <a:stretch>
            <a:fillRect/>
          </a:stretch>
        </p:blipFill>
        <p:spPr bwMode="invGray">
          <a:xfrm>
            <a:off x="6684836" y="7848517"/>
            <a:ext cx="1425575" cy="247650"/>
          </a:xfrm>
          <a:prstGeom prst="rect">
            <a:avLst/>
          </a:prstGeom>
          <a:noFill/>
          <a:ln w="9525" cap="flat" cmpd="sng" algn="ctr">
            <a:noFill/>
            <a:prstDash val="solid"/>
            <a:miter lim="800000"/>
            <a:headEnd type="none" w="med" len="med"/>
            <a:tailEnd type="none" w="med" len="med"/>
          </a:ln>
          <a:effectLst/>
        </p:spPr>
      </p:pic>
      <p:pic>
        <p:nvPicPr>
          <p:cNvPr id="28" name="Rectangle 9221"/>
          <p:cNvPicPr>
            <a:picLocks noChangeAspect="1" noChangeArrowheads="1"/>
          </p:cNvPicPr>
          <p:nvPr/>
        </p:nvPicPr>
        <p:blipFill>
          <a:blip r:embed="rId9" cstate="print"/>
          <a:srcRect/>
          <a:stretch>
            <a:fillRect/>
          </a:stretch>
        </p:blipFill>
        <p:spPr bwMode="invGray">
          <a:xfrm>
            <a:off x="7779068" y="9234722"/>
            <a:ext cx="639762" cy="257175"/>
          </a:xfrm>
          <a:prstGeom prst="rect">
            <a:avLst/>
          </a:prstGeom>
          <a:noFill/>
          <a:ln w="9525" cap="flat" cmpd="sng" algn="ctr">
            <a:noFill/>
            <a:prstDash val="solid"/>
            <a:miter lim="800000"/>
            <a:headEnd type="none" w="med" len="med"/>
            <a:tailEnd type="none" w="med" len="med"/>
          </a:ln>
          <a:effectLst/>
        </p:spPr>
      </p:pic>
      <p:pic>
        <p:nvPicPr>
          <p:cNvPr id="29" name="Rectangle 9222"/>
          <p:cNvPicPr>
            <a:picLocks noChangeAspect="1" noChangeArrowheads="1"/>
          </p:cNvPicPr>
          <p:nvPr/>
        </p:nvPicPr>
        <p:blipFill>
          <a:blip r:embed="rId10" cstate="print"/>
          <a:srcRect/>
          <a:stretch>
            <a:fillRect/>
          </a:stretch>
        </p:blipFill>
        <p:spPr bwMode="invGray">
          <a:xfrm>
            <a:off x="6947980" y="10386930"/>
            <a:ext cx="731837" cy="255587"/>
          </a:xfrm>
          <a:prstGeom prst="rect">
            <a:avLst/>
          </a:prstGeom>
          <a:noFill/>
          <a:ln w="9525" cap="flat" cmpd="sng" algn="ctr">
            <a:noFill/>
            <a:prstDash val="solid"/>
            <a:miter lim="800000"/>
            <a:headEnd type="none" w="med" len="med"/>
            <a:tailEnd type="none" w="med" len="med"/>
          </a:ln>
          <a:effectLst/>
        </p:spPr>
      </p:pic>
      <p:pic>
        <p:nvPicPr>
          <p:cNvPr id="30" name="Rectangle 9223"/>
          <p:cNvPicPr>
            <a:picLocks noChangeAspect="1" noChangeArrowheads="1"/>
          </p:cNvPicPr>
          <p:nvPr/>
        </p:nvPicPr>
        <p:blipFill>
          <a:blip r:embed="rId11" cstate="print"/>
          <a:srcRect/>
          <a:stretch>
            <a:fillRect/>
          </a:stretch>
        </p:blipFill>
        <p:spPr bwMode="invGray">
          <a:xfrm>
            <a:off x="4620324" y="8941606"/>
            <a:ext cx="895350" cy="247650"/>
          </a:xfrm>
          <a:prstGeom prst="rect">
            <a:avLst/>
          </a:prstGeom>
          <a:noFill/>
          <a:ln w="9525" cap="flat" cmpd="sng" algn="ctr">
            <a:noFill/>
            <a:prstDash val="solid"/>
            <a:miter lim="800000"/>
            <a:headEnd type="none" w="med" len="med"/>
            <a:tailEnd type="none" w="med" len="med"/>
          </a:ln>
          <a:effectLst/>
        </p:spPr>
      </p:pic>
      <p:pic>
        <p:nvPicPr>
          <p:cNvPr id="31" name="Rectangle 9224"/>
          <p:cNvPicPr>
            <a:picLocks noChangeAspect="1" noChangeArrowheads="1"/>
          </p:cNvPicPr>
          <p:nvPr/>
        </p:nvPicPr>
        <p:blipFill>
          <a:blip r:embed="rId12" cstate="print"/>
          <a:srcRect/>
          <a:stretch>
            <a:fillRect/>
          </a:stretch>
        </p:blipFill>
        <p:spPr bwMode="invGray">
          <a:xfrm>
            <a:off x="4569524" y="9205131"/>
            <a:ext cx="996950" cy="238125"/>
          </a:xfrm>
          <a:prstGeom prst="rect">
            <a:avLst/>
          </a:prstGeom>
          <a:noFill/>
          <a:ln w="9525" cap="flat" cmpd="sng" algn="ctr">
            <a:noFill/>
            <a:prstDash val="solid"/>
            <a:miter lim="800000"/>
            <a:headEnd type="none" w="med" len="med"/>
            <a:tailEnd type="none" w="med" len="med"/>
          </a:ln>
          <a:effectLst/>
        </p:spPr>
      </p:pic>
      <p:pic>
        <p:nvPicPr>
          <p:cNvPr id="32" name="Rectangle 9225"/>
          <p:cNvPicPr>
            <a:picLocks noChangeAspect="1" noChangeArrowheads="1"/>
          </p:cNvPicPr>
          <p:nvPr/>
        </p:nvPicPr>
        <p:blipFill>
          <a:blip r:embed="rId13" cstate="print"/>
          <a:srcRect/>
          <a:stretch>
            <a:fillRect/>
          </a:stretch>
        </p:blipFill>
        <p:spPr bwMode="invGray">
          <a:xfrm>
            <a:off x="5305616" y="10150900"/>
            <a:ext cx="904875" cy="247650"/>
          </a:xfrm>
          <a:prstGeom prst="rect">
            <a:avLst/>
          </a:prstGeom>
          <a:noFill/>
          <a:ln w="9525" cap="flat" cmpd="sng" algn="ctr">
            <a:noFill/>
            <a:prstDash val="solid"/>
            <a:miter lim="800000"/>
            <a:headEnd type="none" w="med" len="med"/>
            <a:tailEnd type="none" w="med" len="med"/>
          </a:ln>
          <a:effectLst/>
        </p:spPr>
      </p:pic>
      <p:pic>
        <p:nvPicPr>
          <p:cNvPr id="33" name="Rectangle 9226"/>
          <p:cNvPicPr>
            <a:picLocks noChangeAspect="1" noChangeArrowheads="1"/>
          </p:cNvPicPr>
          <p:nvPr/>
        </p:nvPicPr>
        <p:blipFill>
          <a:blip r:embed="rId14" cstate="print"/>
          <a:srcRect/>
          <a:stretch>
            <a:fillRect/>
          </a:stretch>
        </p:blipFill>
        <p:spPr bwMode="invGray">
          <a:xfrm>
            <a:off x="5033645" y="10397471"/>
            <a:ext cx="1471613" cy="301625"/>
          </a:xfrm>
          <a:prstGeom prst="rect">
            <a:avLst/>
          </a:prstGeom>
          <a:noFill/>
          <a:ln w="9525" cap="flat" cmpd="sng" algn="ctr">
            <a:noFill/>
            <a:prstDash val="solid"/>
            <a:miter lim="800000"/>
            <a:headEnd type="none" w="med" len="med"/>
            <a:tailEnd type="none" w="med" len="med"/>
          </a:ln>
          <a:effectLst/>
        </p:spPr>
      </p:pic>
      <p:grpSp>
        <p:nvGrpSpPr>
          <p:cNvPr id="34" name="Group 30"/>
          <p:cNvGrpSpPr>
            <a:grpSpLocks/>
          </p:cNvGrpSpPr>
          <p:nvPr/>
        </p:nvGrpSpPr>
        <p:grpSpPr bwMode="auto">
          <a:xfrm>
            <a:off x="5584825" y="8222088"/>
            <a:ext cx="1976438" cy="1976437"/>
            <a:chOff x="2210" y="1369"/>
            <a:chExt cx="1245" cy="1245"/>
          </a:xfrm>
        </p:grpSpPr>
        <p:pic>
          <p:nvPicPr>
            <p:cNvPr id="35" name="Rectangle 9244"/>
            <p:cNvPicPr>
              <a:picLocks noChangeAspect="1" noChangeArrowheads="1"/>
            </p:cNvPicPr>
            <p:nvPr/>
          </p:nvPicPr>
          <p:blipFill>
            <a:blip r:embed="rId15" cstate="print"/>
            <a:srcRect/>
            <a:stretch>
              <a:fillRect/>
            </a:stretch>
          </p:blipFill>
          <p:spPr bwMode="ltGray">
            <a:xfrm>
              <a:off x="2210" y="1369"/>
              <a:ext cx="1245" cy="1245"/>
            </a:xfrm>
            <a:prstGeom prst="rect">
              <a:avLst/>
            </a:prstGeom>
            <a:noFill/>
            <a:ln w="9525" cap="flat" cmpd="sng" algn="ctr">
              <a:noFill/>
              <a:prstDash val="solid"/>
              <a:miter lim="800000"/>
              <a:headEnd type="none" w="med" len="med"/>
              <a:tailEnd type="none" w="med" len="med"/>
            </a:ln>
            <a:effectLst/>
          </p:spPr>
        </p:pic>
        <p:pic>
          <p:nvPicPr>
            <p:cNvPr id="36" name="Rectangle 9246"/>
            <p:cNvPicPr>
              <a:picLocks noChangeAspect="1" noChangeArrowheads="1"/>
            </p:cNvPicPr>
            <p:nvPr/>
          </p:nvPicPr>
          <p:blipFill>
            <a:blip r:embed="rId16" cstate="print"/>
            <a:srcRect/>
            <a:stretch>
              <a:fillRect/>
            </a:stretch>
          </p:blipFill>
          <p:spPr bwMode="invGray">
            <a:xfrm>
              <a:off x="2373" y="1902"/>
              <a:ext cx="976" cy="222"/>
            </a:xfrm>
            <a:prstGeom prst="rect">
              <a:avLst/>
            </a:prstGeom>
            <a:noFill/>
            <a:ln w="9525" cap="flat" cmpd="sng" algn="ctr">
              <a:noFill/>
              <a:prstDash val="solid"/>
              <a:miter lim="800000"/>
              <a:headEnd type="none" w="med" len="med"/>
              <a:tailEnd type="none" w="med" len="med"/>
            </a:ln>
            <a:effectLst/>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ox(out)">
                                      <p:cBhvr>
                                        <p:cTn id="7"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SharePoint 2010 Timeline</a:t>
            </a:r>
          </a:p>
        </p:txBody>
      </p:sp>
      <p:sp>
        <p:nvSpPr>
          <p:cNvPr id="9219" name="Rectangle 34818"/>
          <p:cNvSpPr>
            <a:spLocks noGrp="1"/>
          </p:cNvSpPr>
          <p:nvPr>
            <p:ph type="body" idx="4294967295"/>
          </p:nvPr>
        </p:nvSpPr>
        <p:spPr>
          <a:xfrm>
            <a:off x="381000" y="2057400"/>
            <a:ext cx="8356600" cy="4419600"/>
          </a:xfrm>
        </p:spPr>
        <p:txBody>
          <a:bodyPr/>
          <a:lstStyle/>
          <a:p>
            <a:r>
              <a:rPr lang="en-US" sz="2000" dirty="0" smtClean="0"/>
              <a:t>Summer 2009		Early previews given to partners</a:t>
            </a:r>
          </a:p>
          <a:p>
            <a:r>
              <a:rPr lang="en-US" sz="2000" dirty="0" smtClean="0"/>
              <a:t>Early Fall 2009		First public disclosure at #SPC09</a:t>
            </a:r>
          </a:p>
          <a:p>
            <a:r>
              <a:rPr lang="en-US" sz="2000" dirty="0" smtClean="0"/>
              <a:t>November 2009	PUBLIC BETA: “Beta 2”</a:t>
            </a:r>
          </a:p>
          <a:p>
            <a:pPr>
              <a:buNone/>
            </a:pPr>
            <a:r>
              <a:rPr lang="en-US" sz="2000" dirty="0" smtClean="0"/>
              <a:t>	…</a:t>
            </a:r>
          </a:p>
          <a:p>
            <a:r>
              <a:rPr lang="en-US" sz="2000" dirty="0" smtClean="0"/>
              <a:t>Q2-ish 2010		Estimated RTM</a:t>
            </a:r>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fade">
                                      <p:cBhvr>
                                        <p:cTn id="10" dur="500"/>
                                        <p:tgtEl>
                                          <p:spTgt spid="921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fade">
                                      <p:cBhvr>
                                        <p:cTn id="13" dur="500"/>
                                        <p:tgtEl>
                                          <p:spTgt spid="9219">
                                            <p:txEl>
                                              <p:pRg st="2" end="2"/>
                                            </p:txEl>
                                          </p:spTgt>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fade">
                                      <p:cBhvr>
                                        <p:cTn id="17" dur="500"/>
                                        <p:tgtEl>
                                          <p:spTgt spid="9219">
                                            <p:txEl>
                                              <p:pRg st="2" end="2"/>
                                            </p:txEl>
                                          </p:spTgt>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9219">
                                            <p:txEl>
                                              <p:pRg st="3" end="3"/>
                                            </p:txEl>
                                          </p:spTgt>
                                        </p:tgtEl>
                                        <p:attrNameLst>
                                          <p:attrName>style.visibility</p:attrName>
                                        </p:attrNameLst>
                                      </p:cBhvr>
                                      <p:to>
                                        <p:strVal val="visible"/>
                                      </p:to>
                                    </p:set>
                                    <p:animEffect transition="in" filter="fade">
                                      <p:cBhvr>
                                        <p:cTn id="21" dur="500"/>
                                        <p:tgtEl>
                                          <p:spTgt spid="9219">
                                            <p:txEl>
                                              <p:pRg st="3" end="3"/>
                                            </p:txEl>
                                          </p:spTgt>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Effect transition="in" filter="fade">
                                      <p:cBhvr>
                                        <p:cTn id="25"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4818"/>
          <p:cNvSpPr>
            <a:spLocks noGrp="1"/>
          </p:cNvSpPr>
          <p:nvPr>
            <p:ph type="body" idx="4294967295"/>
          </p:nvPr>
        </p:nvSpPr>
        <p:spPr>
          <a:xfrm>
            <a:off x="381000" y="2057400"/>
            <a:ext cx="8356600" cy="4419600"/>
          </a:xfrm>
        </p:spPr>
        <p:txBody>
          <a:bodyPr/>
          <a:lstStyle/>
          <a:p>
            <a:pPr>
              <a:buNone/>
            </a:pPr>
            <a:r>
              <a:rPr lang="en-US" dirty="0" smtClean="0"/>
              <a:t>Before we get into the wheel….</a:t>
            </a:r>
          </a:p>
          <a:p>
            <a:endParaRPr lang="en-US" dirty="0" smtClean="0"/>
          </a:p>
          <a:p>
            <a:pPr algn="r">
              <a:buNone/>
            </a:pPr>
            <a:r>
              <a:rPr lang="en-US" dirty="0" smtClean="0"/>
              <a:t>There’s this thing called “SharePoint”</a:t>
            </a:r>
          </a:p>
          <a:p>
            <a:pPr>
              <a:buNone/>
            </a:pPr>
            <a:endParaRPr lang="en-US" dirty="0" smtClean="0"/>
          </a:p>
          <a:p>
            <a:pPr>
              <a:buNone/>
            </a:pPr>
            <a:r>
              <a:rPr lang="en-US" dirty="0" smtClean="0"/>
              <a:t>Only its not that simple…</a:t>
            </a:r>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1000"/>
                                  </p:stCondLst>
                                  <p:childTnLst>
                                    <p:set>
                                      <p:cBhvr>
                                        <p:cTn id="10" dur="1" fill="hold">
                                          <p:stCondLst>
                                            <p:cond delay="0"/>
                                          </p:stCondLst>
                                        </p:cTn>
                                        <p:tgtEl>
                                          <p:spTgt spid="9219">
                                            <p:txEl>
                                              <p:pRg st="2" end="2"/>
                                            </p:txEl>
                                          </p:spTgt>
                                        </p:tgtEl>
                                        <p:attrNameLst>
                                          <p:attrName>style.visibility</p:attrName>
                                        </p:attrNameLst>
                                      </p:cBhvr>
                                      <p:to>
                                        <p:strVal val="visible"/>
                                      </p:to>
                                    </p:set>
                                    <p:animEffect transition="in" filter="fade">
                                      <p:cBhvr>
                                        <p:cTn id="11" dur="500"/>
                                        <p:tgtEl>
                                          <p:spTgt spid="9219">
                                            <p:txEl>
                                              <p:pRg st="2" end="2"/>
                                            </p:txEl>
                                          </p:spTgt>
                                        </p:tgtEl>
                                      </p:cBhvr>
                                    </p:animEffect>
                                  </p:childTnLst>
                                </p:cTn>
                              </p:par>
                            </p:childTnLst>
                          </p:cTn>
                        </p:par>
                        <p:par>
                          <p:cTn id="12" fill="hold">
                            <p:stCondLst>
                              <p:cond delay="2000"/>
                            </p:stCondLst>
                            <p:childTnLst>
                              <p:par>
                                <p:cTn id="13" presetID="10" presetClass="entr" presetSubtype="0" fill="hold" nodeType="afterEffect">
                                  <p:stCondLst>
                                    <p:cond delay="1000"/>
                                  </p:stCondLst>
                                  <p:childTnLst>
                                    <p:set>
                                      <p:cBhvr>
                                        <p:cTn id="14" dur="1" fill="hold">
                                          <p:stCondLst>
                                            <p:cond delay="0"/>
                                          </p:stCondLst>
                                        </p:cTn>
                                        <p:tgtEl>
                                          <p:spTgt spid="9219">
                                            <p:txEl>
                                              <p:pRg st="4" end="4"/>
                                            </p:txEl>
                                          </p:spTgt>
                                        </p:tgtEl>
                                        <p:attrNameLst>
                                          <p:attrName>style.visibility</p:attrName>
                                        </p:attrNameLst>
                                      </p:cBhvr>
                                      <p:to>
                                        <p:strVal val="visible"/>
                                      </p:to>
                                    </p:set>
                                    <p:animEffect transition="in" filter="fade">
                                      <p:cBhvr>
                                        <p:cTn id="15"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“SharePoint”</a:t>
            </a:r>
          </a:p>
        </p:txBody>
      </p:sp>
      <p:sp>
        <p:nvSpPr>
          <p:cNvPr id="9219" name="Rectangle 34818"/>
          <p:cNvSpPr>
            <a:spLocks noGrp="1"/>
          </p:cNvSpPr>
          <p:nvPr>
            <p:ph type="body" idx="4294967295"/>
          </p:nvPr>
        </p:nvSpPr>
        <p:spPr>
          <a:xfrm>
            <a:off x="381000" y="2057400"/>
            <a:ext cx="8356600" cy="4419600"/>
          </a:xfrm>
        </p:spPr>
        <p:txBody>
          <a:bodyPr/>
          <a:lstStyle/>
          <a:p>
            <a:r>
              <a:rPr lang="en-US" sz="2800" dirty="0" smtClean="0"/>
              <a:t>SharePoint Team Services</a:t>
            </a:r>
          </a:p>
          <a:p>
            <a:r>
              <a:rPr lang="en-US" sz="2800" dirty="0" smtClean="0"/>
              <a:t>SharePoint Portal Server 2001</a:t>
            </a:r>
          </a:p>
          <a:p>
            <a:r>
              <a:rPr lang="en-US" sz="2800" dirty="0" smtClean="0"/>
              <a:t>Windows SharePoint Services 2.0</a:t>
            </a:r>
          </a:p>
          <a:p>
            <a:r>
              <a:rPr lang="en-US" sz="2800" dirty="0" smtClean="0"/>
              <a:t>Microsoft SharePoint Portal Server 2003</a:t>
            </a:r>
          </a:p>
          <a:p>
            <a:r>
              <a:rPr lang="en-US" sz="2800" dirty="0" smtClean="0"/>
              <a:t>Windows SharePoint Services 3.0</a:t>
            </a:r>
          </a:p>
          <a:p>
            <a:r>
              <a:rPr lang="en-US" sz="2800" dirty="0" smtClean="0"/>
              <a:t>Microsoft Office SharePoint Server 2007</a:t>
            </a:r>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par>
                          <p:cTn id="12" fill="hold">
                            <p:stCondLst>
                              <p:cond delay="1500"/>
                            </p:stCondLst>
                            <p:childTnLst>
                              <p:par>
                                <p:cTn id="13" presetID="10" presetClass="entr" presetSubtype="0" fill="hold" nodeType="afterEffect">
                                  <p:stCondLst>
                                    <p:cond delay="50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fade">
                                      <p:cBhvr>
                                        <p:cTn id="15" dur="500"/>
                                        <p:tgtEl>
                                          <p:spTgt spid="9219">
                                            <p:txEl>
                                              <p:pRg st="2" end="2"/>
                                            </p:txEl>
                                          </p:spTgt>
                                        </p:tgtEl>
                                      </p:cBhvr>
                                    </p:animEffect>
                                  </p:childTnLst>
                                </p:cTn>
                              </p:par>
                            </p:childTnLst>
                          </p:cTn>
                        </p:par>
                        <p:par>
                          <p:cTn id="16" fill="hold">
                            <p:stCondLst>
                              <p:cond delay="2500"/>
                            </p:stCondLst>
                            <p:childTnLst>
                              <p:par>
                                <p:cTn id="17" presetID="10" presetClass="entr" presetSubtype="0" fill="hold" nodeType="afterEffect">
                                  <p:stCondLst>
                                    <p:cond delay="500"/>
                                  </p:stCondLst>
                                  <p:childTnLst>
                                    <p:set>
                                      <p:cBhvr>
                                        <p:cTn id="18" dur="1" fill="hold">
                                          <p:stCondLst>
                                            <p:cond delay="0"/>
                                          </p:stCondLst>
                                        </p:cTn>
                                        <p:tgtEl>
                                          <p:spTgt spid="9219">
                                            <p:txEl>
                                              <p:pRg st="3" end="3"/>
                                            </p:txEl>
                                          </p:spTgt>
                                        </p:tgtEl>
                                        <p:attrNameLst>
                                          <p:attrName>style.visibility</p:attrName>
                                        </p:attrNameLst>
                                      </p:cBhvr>
                                      <p:to>
                                        <p:strVal val="visible"/>
                                      </p:to>
                                    </p:set>
                                    <p:animEffect transition="in" filter="fade">
                                      <p:cBhvr>
                                        <p:cTn id="19" dur="500"/>
                                        <p:tgtEl>
                                          <p:spTgt spid="9219">
                                            <p:txEl>
                                              <p:pRg st="3" end="3"/>
                                            </p:txEl>
                                          </p:spTgt>
                                        </p:tgtEl>
                                      </p:cBhvr>
                                    </p:animEffect>
                                  </p:childTnLst>
                                </p:cTn>
                              </p:par>
                            </p:childTnLst>
                          </p:cTn>
                        </p:par>
                        <p:par>
                          <p:cTn id="20" fill="hold">
                            <p:stCondLst>
                              <p:cond delay="3500"/>
                            </p:stCondLst>
                            <p:childTnLst>
                              <p:par>
                                <p:cTn id="21" presetID="10" presetClass="entr" presetSubtype="0" fill="hold" nodeType="afterEffect">
                                  <p:stCondLst>
                                    <p:cond delay="50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fade">
                                      <p:cBhvr>
                                        <p:cTn id="23" dur="500"/>
                                        <p:tgtEl>
                                          <p:spTgt spid="9219">
                                            <p:txEl>
                                              <p:pRg st="4" end="4"/>
                                            </p:txEl>
                                          </p:spTgt>
                                        </p:tgtEl>
                                      </p:cBhvr>
                                    </p:animEffect>
                                  </p:childTnLst>
                                </p:cTn>
                              </p:par>
                            </p:childTnLst>
                          </p:cTn>
                        </p:par>
                        <p:par>
                          <p:cTn id="24" fill="hold">
                            <p:stCondLst>
                              <p:cond delay="4500"/>
                            </p:stCondLst>
                            <p:childTnLst>
                              <p:par>
                                <p:cTn id="25" presetID="10" presetClass="entr" presetSubtype="0" fill="hold" nodeType="afterEffect">
                                  <p:stCondLst>
                                    <p:cond delay="500"/>
                                  </p:stCondLst>
                                  <p:childTnLst>
                                    <p:set>
                                      <p:cBhvr>
                                        <p:cTn id="26" dur="1" fill="hold">
                                          <p:stCondLst>
                                            <p:cond delay="0"/>
                                          </p:stCondLst>
                                        </p:cTn>
                                        <p:tgtEl>
                                          <p:spTgt spid="9219">
                                            <p:txEl>
                                              <p:pRg st="5" end="5"/>
                                            </p:txEl>
                                          </p:spTgt>
                                        </p:tgtEl>
                                        <p:attrNameLst>
                                          <p:attrName>style.visibility</p:attrName>
                                        </p:attrNameLst>
                                      </p:cBhvr>
                                      <p:to>
                                        <p:strVal val="visible"/>
                                      </p:to>
                                    </p:set>
                                    <p:animEffect transition="in" filter="fade">
                                      <p:cBhvr>
                                        <p:cTn id="27"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And now in 2010:</a:t>
            </a:r>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pic>
        <p:nvPicPr>
          <p:cNvPr id="6" name="Picture 5" descr="ShrPt-Svr10_h_rgb.png"/>
          <p:cNvPicPr>
            <a:picLocks noChangeAspect="1"/>
          </p:cNvPicPr>
          <p:nvPr/>
        </p:nvPicPr>
        <p:blipFill>
          <a:blip r:embed="rId3"/>
          <a:stretch>
            <a:fillRect/>
          </a:stretch>
        </p:blipFill>
        <p:spPr>
          <a:xfrm>
            <a:off x="2362200" y="4191000"/>
            <a:ext cx="5629006" cy="838200"/>
          </a:xfrm>
          <a:prstGeom prst="rect">
            <a:avLst/>
          </a:prstGeom>
        </p:spPr>
      </p:pic>
      <p:pic>
        <p:nvPicPr>
          <p:cNvPr id="7" name="Picture 6" descr="ShrPt-Foundation10_h_rgb.png"/>
          <p:cNvPicPr>
            <a:picLocks noChangeAspect="1"/>
          </p:cNvPicPr>
          <p:nvPr/>
        </p:nvPicPr>
        <p:blipFill>
          <a:blip r:embed="rId4"/>
          <a:stretch>
            <a:fillRect/>
          </a:stretch>
        </p:blipFill>
        <p:spPr>
          <a:xfrm>
            <a:off x="685800" y="2514600"/>
            <a:ext cx="6844010" cy="838200"/>
          </a:xfrm>
          <a:prstGeom prst="rect">
            <a:avLst/>
          </a:prstGeom>
        </p:spPr>
      </p:pic>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4818"/>
          <p:cNvSpPr>
            <a:spLocks noGrp="1"/>
          </p:cNvSpPr>
          <p:nvPr>
            <p:ph type="body" idx="4294967295"/>
          </p:nvPr>
        </p:nvSpPr>
        <p:spPr>
          <a:xfrm>
            <a:off x="381000" y="2057400"/>
            <a:ext cx="8356600" cy="4419600"/>
          </a:xfrm>
        </p:spPr>
        <p:txBody>
          <a:bodyPr/>
          <a:lstStyle/>
          <a:p>
            <a:pPr>
              <a:buNone/>
            </a:pPr>
            <a:r>
              <a:rPr lang="en-US" dirty="0" smtClean="0"/>
              <a:t>But it is more complicated than that…</a:t>
            </a:r>
          </a:p>
          <a:p>
            <a:pPr>
              <a:buNone/>
            </a:pPr>
            <a:endParaRPr lang="en-US" dirty="0" smtClean="0"/>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
        <p:nvSpPr>
          <p:cNvPr id="4" name="Rectangle 3"/>
          <p:cNvSpPr/>
          <p:nvPr/>
        </p:nvSpPr>
        <p:spPr>
          <a:xfrm>
            <a:off x="-304800" y="1066800"/>
            <a:ext cx="9753600" cy="60960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1066800"/>
            <a:ext cx="9144000" cy="5943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bwMode="auto">
          <a:xfrm>
            <a:off x="1" y="3584249"/>
            <a:ext cx="9144000" cy="1978351"/>
          </a:xfrm>
          <a:prstGeom prst="rect">
            <a:avLst/>
          </a:prstGeom>
          <a:gradFill flip="none" rotWithShape="1">
            <a:gsLst>
              <a:gs pos="0">
                <a:schemeClr val="bg1">
                  <a:alpha val="46000"/>
                </a:schemeClr>
              </a:gs>
              <a:gs pos="4000">
                <a:schemeClr val="bg1">
                  <a:alpha val="45000"/>
                </a:schemeClr>
              </a:gs>
              <a:gs pos="100000">
                <a:srgbClr val="181CC7">
                  <a:alpha val="0"/>
                </a:srgbClr>
              </a:gs>
            </a:gsLst>
            <a:lin ang="5400000" scaled="1"/>
            <a:tileRect/>
          </a:gra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ffectLst>
                <a:outerShdw blurRad="38100" dist="38100" dir="2700000" algn="tl">
                  <a:srgbClr val="000000">
                    <a:alpha val="43137"/>
                  </a:srgbClr>
                </a:outerShdw>
              </a:effectLst>
              <a:latin typeface="Segoe" pitchFamily="34" charset="0"/>
            </a:endParaRPr>
          </a:p>
        </p:txBody>
      </p:sp>
      <p:sp>
        <p:nvSpPr>
          <p:cNvPr id="4" name="Rounded Rectangle 3"/>
          <p:cNvSpPr/>
          <p:nvPr/>
        </p:nvSpPr>
        <p:spPr bwMode="auto">
          <a:xfrm>
            <a:off x="381000" y="5562600"/>
            <a:ext cx="8382000" cy="1066800"/>
          </a:xfrm>
          <a:prstGeom prst="roundRect">
            <a:avLst>
              <a:gd name="adj" fmla="val 0"/>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36" tIns="45718" rIns="91436" bIns="45718" numCol="1" rtlCol="0" anchor="t" anchorCtr="0" compatLnSpc="1">
            <a:prstTxWarp prst="textNoShape">
              <a:avLst/>
            </a:prstTxWarp>
          </a:bodyPr>
          <a:lstStyle/>
          <a:p>
            <a:pPr marL="119063" indent="-119063" defTabSz="914099" fontAlgn="base">
              <a:spcBef>
                <a:spcPct val="0"/>
              </a:spcBef>
              <a:spcAft>
                <a:spcPct val="0"/>
              </a:spcAft>
              <a:buFont typeface="Arial" pitchFamily="34" charset="0"/>
              <a:buChar char="•"/>
            </a:pPr>
            <a:endParaRPr lang="en-US" sz="1600" dirty="0" smtClean="0">
              <a:gradFill>
                <a:gsLst>
                  <a:gs pos="0">
                    <a:srgbClr val="FFFFFF"/>
                  </a:gs>
                  <a:gs pos="100000">
                    <a:srgbClr val="FFFFFF"/>
                  </a:gs>
                </a:gsLst>
                <a:lin ang="5400000" scaled="0"/>
              </a:gradFill>
            </a:endParaRPr>
          </a:p>
        </p:txBody>
      </p:sp>
      <p:sp>
        <p:nvSpPr>
          <p:cNvPr id="38" name="&quot;GLASS&quot;; White to Transparent to White Linear; Shadow; 1pt stroke;"/>
          <p:cNvSpPr/>
          <p:nvPr/>
        </p:nvSpPr>
        <p:spPr bwMode="auto">
          <a:xfrm>
            <a:off x="381000" y="5562600"/>
            <a:ext cx="8382000" cy="457200"/>
          </a:xfrm>
          <a:prstGeom prst="roundRect">
            <a:avLst>
              <a:gd name="adj" fmla="val 0"/>
            </a:avLst>
          </a:prstGeom>
          <a:gradFill>
            <a:gsLst>
              <a:gs pos="0">
                <a:schemeClr val="bg1">
                  <a:alpha val="28000"/>
                </a:schemeClr>
              </a:gs>
              <a:gs pos="20000">
                <a:schemeClr val="bg1"/>
              </a:gs>
              <a:gs pos="93000">
                <a:schemeClr val="bg1">
                  <a:alpha val="40000"/>
                </a:schemeClr>
              </a:gs>
              <a:gs pos="100000">
                <a:schemeClr val="tx1"/>
              </a:gs>
            </a:gsLst>
            <a:lin ang="15900000" scaled="0"/>
          </a:gra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sp>
        <p:nvSpPr>
          <p:cNvPr id="8" name="Rounded Rectangle 7"/>
          <p:cNvSpPr/>
          <p:nvPr/>
        </p:nvSpPr>
        <p:spPr bwMode="auto">
          <a:xfrm>
            <a:off x="4648200" y="2133600"/>
            <a:ext cx="4114800" cy="3352800"/>
          </a:xfrm>
          <a:prstGeom prst="roundRect">
            <a:avLst>
              <a:gd name="adj" fmla="val 0"/>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t" anchorCtr="0" compatLnSpc="1">
            <a:prstTxWarp prst="textNoShape">
              <a:avLst/>
            </a:prstTxWarp>
          </a:bodyPr>
          <a:lstStyle/>
          <a:p>
            <a:pPr marL="119063" indent="-119063" defTabSz="914099" fontAlgn="base">
              <a:spcBef>
                <a:spcPct val="0"/>
              </a:spcBef>
              <a:spcAft>
                <a:spcPct val="0"/>
              </a:spcAft>
            </a:pPr>
            <a:endParaRPr lang="en-US" sz="2000" dirty="0" smtClean="0">
              <a:gradFill>
                <a:gsLst>
                  <a:gs pos="0">
                    <a:srgbClr val="FFFFFF"/>
                  </a:gs>
                  <a:gs pos="100000">
                    <a:srgbClr val="FFFFFF"/>
                  </a:gs>
                </a:gsLst>
                <a:lin ang="5400000" scaled="0"/>
              </a:gradFill>
            </a:endParaRPr>
          </a:p>
        </p:txBody>
      </p:sp>
      <p:sp>
        <p:nvSpPr>
          <p:cNvPr id="9" name="Rounded Rectangle 8"/>
          <p:cNvSpPr/>
          <p:nvPr/>
        </p:nvSpPr>
        <p:spPr bwMode="auto">
          <a:xfrm>
            <a:off x="381000" y="2133600"/>
            <a:ext cx="4114800" cy="3352800"/>
          </a:xfrm>
          <a:prstGeom prst="roundRect">
            <a:avLst>
              <a:gd name="adj" fmla="val 0"/>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t" anchorCtr="0" compatLnSpc="1">
            <a:prstTxWarp prst="textNoShape">
              <a:avLst/>
            </a:prstTxWarp>
          </a:bodyPr>
          <a:lstStyle/>
          <a:p>
            <a:pPr lvl="1" algn="ctr" defTabSz="914099"/>
            <a:endParaRPr lang="en-US" sz="1600" dirty="0" smtClean="0">
              <a:gradFill>
                <a:gsLst>
                  <a:gs pos="0">
                    <a:srgbClr val="FFFFFF"/>
                  </a:gs>
                  <a:gs pos="100000">
                    <a:srgbClr val="FFFFFF"/>
                  </a:gs>
                </a:gsLst>
                <a:lin ang="5400000" scaled="0"/>
              </a:gradFill>
            </a:endParaRPr>
          </a:p>
        </p:txBody>
      </p:sp>
      <p:sp>
        <p:nvSpPr>
          <p:cNvPr id="27" name="&quot;GLASS&quot;; White to Transparent to White Linear; Shadow; 1pt stroke;"/>
          <p:cNvSpPr/>
          <p:nvPr/>
        </p:nvSpPr>
        <p:spPr bwMode="auto">
          <a:xfrm>
            <a:off x="381000" y="3581400"/>
            <a:ext cx="8382000" cy="457200"/>
          </a:xfrm>
          <a:prstGeom prst="roundRect">
            <a:avLst>
              <a:gd name="adj" fmla="val 0"/>
            </a:avLst>
          </a:prstGeom>
          <a:gradFill>
            <a:gsLst>
              <a:gs pos="0">
                <a:schemeClr val="bg1">
                  <a:alpha val="28000"/>
                </a:schemeClr>
              </a:gs>
              <a:gs pos="20000">
                <a:schemeClr val="bg1"/>
              </a:gs>
              <a:gs pos="93000">
                <a:schemeClr val="bg1">
                  <a:alpha val="40000"/>
                </a:schemeClr>
              </a:gs>
              <a:gs pos="100000">
                <a:schemeClr val="tx1"/>
              </a:gs>
            </a:gsLst>
            <a:lin ang="15900000" scaled="0"/>
          </a:gra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sp>
        <p:nvSpPr>
          <p:cNvPr id="26" name="&quot;GLASS&quot;; White to Transparent to White Linear; Shadow; 1pt stroke;"/>
          <p:cNvSpPr/>
          <p:nvPr/>
        </p:nvSpPr>
        <p:spPr bwMode="auto">
          <a:xfrm>
            <a:off x="4648200" y="1600200"/>
            <a:ext cx="4114800" cy="457200"/>
          </a:xfrm>
          <a:prstGeom prst="roundRect">
            <a:avLst>
              <a:gd name="adj" fmla="val 0"/>
            </a:avLst>
          </a:prstGeom>
          <a:gradFill>
            <a:gsLst>
              <a:gs pos="0">
                <a:schemeClr val="bg1">
                  <a:alpha val="28000"/>
                </a:schemeClr>
              </a:gs>
              <a:gs pos="20000">
                <a:schemeClr val="bg1"/>
              </a:gs>
              <a:gs pos="93000">
                <a:schemeClr val="bg1">
                  <a:alpha val="40000"/>
                </a:schemeClr>
              </a:gs>
              <a:gs pos="100000">
                <a:schemeClr val="tx1"/>
              </a:gs>
            </a:gsLst>
            <a:lin ang="15900000" scaled="0"/>
          </a:gra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sp>
        <p:nvSpPr>
          <p:cNvPr id="28" name="&quot;GLASS&quot;; White to Transparent to White Linear; Shadow; 1pt stroke;"/>
          <p:cNvSpPr/>
          <p:nvPr/>
        </p:nvSpPr>
        <p:spPr bwMode="auto">
          <a:xfrm>
            <a:off x="381000" y="1600200"/>
            <a:ext cx="4114800" cy="457200"/>
          </a:xfrm>
          <a:prstGeom prst="roundRect">
            <a:avLst>
              <a:gd name="adj" fmla="val 0"/>
            </a:avLst>
          </a:prstGeom>
          <a:gradFill>
            <a:gsLst>
              <a:gs pos="0">
                <a:schemeClr val="bg1">
                  <a:alpha val="28000"/>
                </a:schemeClr>
              </a:gs>
              <a:gs pos="20000">
                <a:schemeClr val="bg1"/>
              </a:gs>
              <a:gs pos="93000">
                <a:schemeClr val="bg1">
                  <a:alpha val="40000"/>
                </a:schemeClr>
              </a:gs>
              <a:gs pos="100000">
                <a:schemeClr val="tx1"/>
              </a:gs>
            </a:gsLst>
            <a:lin ang="15900000" scaled="0"/>
          </a:gra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pic>
        <p:nvPicPr>
          <p:cNvPr id="16" name="Picture 15" descr="ShrPt-Foundation10_h_rgb.png"/>
          <p:cNvPicPr>
            <a:picLocks noChangeAspect="1"/>
          </p:cNvPicPr>
          <p:nvPr/>
        </p:nvPicPr>
        <p:blipFill>
          <a:blip r:embed="rId4"/>
          <a:stretch>
            <a:fillRect/>
          </a:stretch>
        </p:blipFill>
        <p:spPr>
          <a:xfrm>
            <a:off x="838200" y="6082474"/>
            <a:ext cx="3221355" cy="394526"/>
          </a:xfrm>
          <a:prstGeom prst="rect">
            <a:avLst/>
          </a:prstGeom>
        </p:spPr>
      </p:pic>
      <p:pic>
        <p:nvPicPr>
          <p:cNvPr id="17" name="Picture 16" descr="ShPtDe2010_bL.png"/>
          <p:cNvPicPr>
            <a:picLocks noChangeAspect="1"/>
          </p:cNvPicPr>
          <p:nvPr/>
        </p:nvPicPr>
        <p:blipFill>
          <a:blip r:embed="rId5"/>
          <a:stretch>
            <a:fillRect/>
          </a:stretch>
        </p:blipFill>
        <p:spPr>
          <a:xfrm>
            <a:off x="5155311" y="6129528"/>
            <a:ext cx="2540889" cy="347472"/>
          </a:xfrm>
          <a:prstGeom prst="rect">
            <a:avLst/>
          </a:prstGeom>
        </p:spPr>
      </p:pic>
      <p:pic>
        <p:nvPicPr>
          <p:cNvPr id="18" name="Picture 17" descr="ShrPt-Svr10_h_rgb.png"/>
          <p:cNvPicPr>
            <a:picLocks noChangeAspect="1"/>
          </p:cNvPicPr>
          <p:nvPr/>
        </p:nvPicPr>
        <p:blipFill>
          <a:blip r:embed="rId6"/>
          <a:stretch>
            <a:fillRect/>
          </a:stretch>
        </p:blipFill>
        <p:spPr>
          <a:xfrm>
            <a:off x="685800" y="2355850"/>
            <a:ext cx="2649474" cy="394526"/>
          </a:xfrm>
          <a:prstGeom prst="rect">
            <a:avLst/>
          </a:prstGeom>
        </p:spPr>
      </p:pic>
      <p:pic>
        <p:nvPicPr>
          <p:cNvPr id="14" name="Picture 13" descr="FASTSrchSvr2010-SP_h_rgb.png"/>
          <p:cNvPicPr>
            <a:picLocks noChangeAspect="1"/>
          </p:cNvPicPr>
          <p:nvPr/>
        </p:nvPicPr>
        <p:blipFill>
          <a:blip r:embed="rId7"/>
          <a:stretch>
            <a:fillRect/>
          </a:stretch>
        </p:blipFill>
        <p:spPr>
          <a:xfrm>
            <a:off x="1090031" y="4191000"/>
            <a:ext cx="2674906" cy="539210"/>
          </a:xfrm>
          <a:prstGeom prst="rect">
            <a:avLst/>
          </a:prstGeom>
        </p:spPr>
      </p:pic>
      <p:pic>
        <p:nvPicPr>
          <p:cNvPr id="15" name="Picture 14" descr="FASTSrchSvr2010-SPIS_h_rgb.png"/>
          <p:cNvPicPr>
            <a:picLocks noChangeAspect="1"/>
          </p:cNvPicPr>
          <p:nvPr/>
        </p:nvPicPr>
        <p:blipFill>
          <a:blip r:embed="rId8"/>
          <a:stretch>
            <a:fillRect/>
          </a:stretch>
        </p:blipFill>
        <p:spPr>
          <a:xfrm>
            <a:off x="5415725" y="4108990"/>
            <a:ext cx="2674906" cy="539210"/>
          </a:xfrm>
          <a:prstGeom prst="rect">
            <a:avLst/>
          </a:prstGeom>
        </p:spPr>
      </p:pic>
      <p:sp>
        <p:nvSpPr>
          <p:cNvPr id="33" name="TextBox 32"/>
          <p:cNvSpPr txBox="1"/>
          <p:nvPr/>
        </p:nvSpPr>
        <p:spPr>
          <a:xfrm>
            <a:off x="3429000" y="3657600"/>
            <a:ext cx="2286000" cy="307777"/>
          </a:xfrm>
          <a:prstGeom prst="rect">
            <a:avLst/>
          </a:prstGeom>
          <a:noFill/>
        </p:spPr>
        <p:txBody>
          <a:bodyPr wrap="square" lIns="0" tIns="0" rIns="0" bIns="0" rtlCol="0">
            <a:spAutoFit/>
          </a:bodyPr>
          <a:lstStyle/>
          <a:p>
            <a:pPr algn="ctr"/>
            <a:r>
              <a:rPr lang="en-US" sz="2000" b="1" dirty="0" smtClean="0">
                <a:gradFill>
                  <a:gsLst>
                    <a:gs pos="0">
                      <a:schemeClr val="tx1"/>
                    </a:gs>
                    <a:gs pos="86000">
                      <a:schemeClr val="tx1"/>
                    </a:gs>
                  </a:gsLst>
                  <a:lin ang="5400000" scaled="0"/>
                </a:gradFill>
              </a:rPr>
              <a:t>High-End Search</a:t>
            </a:r>
          </a:p>
        </p:txBody>
      </p:sp>
      <p:pic>
        <p:nvPicPr>
          <p:cNvPr id="22" name="Picture 21" descr="ShrPtSvr10-IntSitesEnt_h_rgb.png"/>
          <p:cNvPicPr>
            <a:picLocks noChangeAspect="1"/>
          </p:cNvPicPr>
          <p:nvPr/>
        </p:nvPicPr>
        <p:blipFill>
          <a:blip r:embed="rId9"/>
          <a:stretch>
            <a:fillRect/>
          </a:stretch>
        </p:blipFill>
        <p:spPr>
          <a:xfrm>
            <a:off x="5415725" y="2355850"/>
            <a:ext cx="2579751" cy="546259"/>
          </a:xfrm>
          <a:prstGeom prst="rect">
            <a:avLst/>
          </a:prstGeom>
        </p:spPr>
      </p:pic>
      <p:pic>
        <p:nvPicPr>
          <p:cNvPr id="24" name="Picture 23" descr="ShrPtSvr10-IntSitesStd_h_rgb.png"/>
          <p:cNvPicPr>
            <a:picLocks noChangeAspect="1"/>
          </p:cNvPicPr>
          <p:nvPr/>
        </p:nvPicPr>
        <p:blipFill>
          <a:blip r:embed="rId10"/>
          <a:stretch>
            <a:fillRect/>
          </a:stretch>
        </p:blipFill>
        <p:spPr>
          <a:xfrm>
            <a:off x="5415725" y="2917984"/>
            <a:ext cx="2579751" cy="511016"/>
          </a:xfrm>
          <a:prstGeom prst="rect">
            <a:avLst/>
          </a:prstGeom>
        </p:spPr>
      </p:pic>
      <p:sp>
        <p:nvSpPr>
          <p:cNvPr id="21" name="TextBox 20"/>
          <p:cNvSpPr txBox="1"/>
          <p:nvPr/>
        </p:nvSpPr>
        <p:spPr>
          <a:xfrm rot="20815153">
            <a:off x="4985804" y="3048724"/>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1" name="Rounded Rectangle 30"/>
          <p:cNvSpPr/>
          <p:nvPr/>
        </p:nvSpPr>
        <p:spPr bwMode="auto">
          <a:xfrm>
            <a:off x="984250" y="2590800"/>
            <a:ext cx="3238500" cy="990600"/>
          </a:xfrm>
          <a:prstGeom prst="roundRect">
            <a:avLst>
              <a:gd name="adj" fmla="val 0"/>
            </a:avLst>
          </a:prstGeom>
          <a:no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t" anchorCtr="0" compatLnSpc="1">
            <a:prstTxWarp prst="textNoShape">
              <a:avLst/>
            </a:prstTxWarp>
          </a:bodyPr>
          <a:lstStyle/>
          <a:p>
            <a:pPr>
              <a:lnSpc>
                <a:spcPct val="90000"/>
              </a:lnSpc>
              <a:spcBef>
                <a:spcPct val="20000"/>
              </a:spcBef>
            </a:pPr>
            <a:endParaRPr lang="en-US" sz="1400" dirty="0" smtClean="0">
              <a:gradFill>
                <a:gsLst>
                  <a:gs pos="0">
                    <a:schemeClr val="bg1"/>
                  </a:gs>
                  <a:gs pos="80000">
                    <a:schemeClr val="bg1"/>
                  </a:gs>
                </a:gsLst>
                <a:lin ang="16200000" scaled="0"/>
              </a:gradFill>
            </a:endParaRPr>
          </a:p>
          <a:p>
            <a:pPr marL="0" lvl="1">
              <a:lnSpc>
                <a:spcPct val="90000"/>
              </a:lnSpc>
              <a:spcBef>
                <a:spcPct val="20000"/>
              </a:spcBef>
              <a:spcAft>
                <a:spcPts val="600"/>
              </a:spcAft>
            </a:pPr>
            <a:r>
              <a:rPr lang="en-US" sz="1400" dirty="0" smtClean="0">
                <a:gradFill>
                  <a:gsLst>
                    <a:gs pos="0">
                      <a:schemeClr val="bg1"/>
                    </a:gs>
                    <a:gs pos="80000">
                      <a:schemeClr val="bg1"/>
                    </a:gs>
                  </a:gsLst>
                  <a:lin ang="16200000" scaled="0"/>
                </a:gradFill>
              </a:rPr>
              <a:t>Enterprise Client Access License (CAL)</a:t>
            </a:r>
            <a:br>
              <a:rPr lang="en-US" sz="1400" dirty="0" smtClean="0">
                <a:gradFill>
                  <a:gsLst>
                    <a:gs pos="0">
                      <a:schemeClr val="bg1"/>
                    </a:gs>
                    <a:gs pos="80000">
                      <a:schemeClr val="bg1"/>
                    </a:gs>
                  </a:gsLst>
                  <a:lin ang="16200000" scaled="0"/>
                </a:gradFill>
              </a:rPr>
            </a:br>
            <a:r>
              <a:rPr lang="en-US" sz="1400" dirty="0" smtClean="0">
                <a:gradFill>
                  <a:gsLst>
                    <a:gs pos="0">
                      <a:schemeClr val="bg1"/>
                    </a:gs>
                    <a:gs pos="80000">
                      <a:schemeClr val="bg1"/>
                    </a:gs>
                  </a:gsLst>
                  <a:lin ang="16200000" scaled="0"/>
                </a:gradFill>
              </a:rPr>
              <a:t>Standard Client Access License (CAL)</a:t>
            </a:r>
          </a:p>
          <a:p>
            <a:pPr marL="0" lvl="1">
              <a:lnSpc>
                <a:spcPct val="90000"/>
              </a:lnSpc>
              <a:spcBef>
                <a:spcPct val="20000"/>
              </a:spcBef>
            </a:pPr>
            <a:endParaRPr lang="en-US" sz="1400" dirty="0" smtClean="0">
              <a:gradFill>
                <a:gsLst>
                  <a:gs pos="0">
                    <a:schemeClr val="bg1"/>
                  </a:gs>
                  <a:gs pos="80000">
                    <a:schemeClr val="bg1"/>
                  </a:gs>
                </a:gsLst>
                <a:lin ang="16200000" scaled="0"/>
              </a:gradFill>
            </a:endParaRPr>
          </a:p>
        </p:txBody>
      </p:sp>
      <p:sp>
        <p:nvSpPr>
          <p:cNvPr id="35" name="TextBox 34"/>
          <p:cNvSpPr txBox="1"/>
          <p:nvPr/>
        </p:nvSpPr>
        <p:spPr>
          <a:xfrm>
            <a:off x="685800" y="1676400"/>
            <a:ext cx="3505200" cy="307777"/>
          </a:xfrm>
          <a:prstGeom prst="rect">
            <a:avLst/>
          </a:prstGeom>
          <a:noFill/>
        </p:spPr>
        <p:txBody>
          <a:bodyPr wrap="square" lIns="0" tIns="0" rIns="0" bIns="0" rtlCol="0">
            <a:spAutoFit/>
          </a:bodyPr>
          <a:lstStyle/>
          <a:p>
            <a:pPr algn="ctr"/>
            <a:r>
              <a:rPr lang="en-US" sz="2000" b="1" dirty="0" smtClean="0">
                <a:gradFill>
                  <a:gsLst>
                    <a:gs pos="0">
                      <a:schemeClr val="tx1"/>
                    </a:gs>
                    <a:gs pos="86000">
                      <a:schemeClr val="tx1"/>
                    </a:gs>
                  </a:gsLst>
                  <a:lin ang="5400000" scaled="0"/>
                </a:gradFill>
              </a:rPr>
              <a:t>Intranet</a:t>
            </a:r>
          </a:p>
        </p:txBody>
      </p:sp>
      <p:sp>
        <p:nvSpPr>
          <p:cNvPr id="36" name="TextBox 35"/>
          <p:cNvSpPr txBox="1"/>
          <p:nvPr/>
        </p:nvSpPr>
        <p:spPr>
          <a:xfrm>
            <a:off x="4953000" y="1676400"/>
            <a:ext cx="3505200" cy="307777"/>
          </a:xfrm>
          <a:prstGeom prst="rect">
            <a:avLst/>
          </a:prstGeom>
          <a:noFill/>
        </p:spPr>
        <p:txBody>
          <a:bodyPr wrap="square" lIns="0" tIns="0" rIns="0" bIns="0" rtlCol="0">
            <a:spAutoFit/>
          </a:bodyPr>
          <a:lstStyle/>
          <a:p>
            <a:pPr algn="ctr" fontAlgn="base">
              <a:spcBef>
                <a:spcPct val="0"/>
              </a:spcBef>
              <a:spcAft>
                <a:spcPct val="0"/>
              </a:spcAft>
            </a:pPr>
            <a:r>
              <a:rPr lang="en-US" sz="2000" b="1" dirty="0" smtClean="0">
                <a:gradFill>
                  <a:gsLst>
                    <a:gs pos="0">
                      <a:schemeClr val="tx1"/>
                    </a:gs>
                    <a:gs pos="86000">
                      <a:schemeClr val="tx1"/>
                    </a:gs>
                  </a:gsLst>
                  <a:lin ang="5400000" scaled="0"/>
                </a:gradFill>
              </a:rPr>
              <a:t>Internet/Extranet</a:t>
            </a:r>
          </a:p>
        </p:txBody>
      </p:sp>
      <p:sp>
        <p:nvSpPr>
          <p:cNvPr id="29" name="TextBox 28"/>
          <p:cNvSpPr txBox="1"/>
          <p:nvPr/>
        </p:nvSpPr>
        <p:spPr>
          <a:xfrm rot="20815153">
            <a:off x="4985803" y="4267924"/>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0" name="TextBox 29"/>
          <p:cNvSpPr txBox="1"/>
          <p:nvPr/>
        </p:nvSpPr>
        <p:spPr>
          <a:xfrm rot="20815153">
            <a:off x="4985802" y="4877524"/>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7" name="TextBox 36"/>
          <p:cNvSpPr txBox="1"/>
          <p:nvPr/>
        </p:nvSpPr>
        <p:spPr>
          <a:xfrm rot="20815153">
            <a:off x="685508" y="4349923"/>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9" name="TextBox 38"/>
          <p:cNvSpPr txBox="1"/>
          <p:nvPr/>
        </p:nvSpPr>
        <p:spPr>
          <a:xfrm>
            <a:off x="2895600" y="5638800"/>
            <a:ext cx="3352800" cy="307777"/>
          </a:xfrm>
          <a:prstGeom prst="rect">
            <a:avLst/>
          </a:prstGeom>
          <a:noFill/>
        </p:spPr>
        <p:txBody>
          <a:bodyPr wrap="square" lIns="0" tIns="0" rIns="0" bIns="0" rtlCol="0">
            <a:spAutoFit/>
          </a:bodyPr>
          <a:lstStyle/>
          <a:p>
            <a:pPr algn="ctr" defTabSz="914099" fontAlgn="base">
              <a:spcBef>
                <a:spcPct val="0"/>
              </a:spcBef>
              <a:spcAft>
                <a:spcPct val="0"/>
              </a:spcAft>
            </a:pPr>
            <a:r>
              <a:rPr lang="en-US" sz="2000" b="1" dirty="0" smtClean="0"/>
              <a:t>Enabling Technologies</a:t>
            </a:r>
            <a:endParaRPr lang="en-US" sz="1600" dirty="0" smtClean="0"/>
          </a:p>
        </p:txBody>
      </p:sp>
      <p:pic>
        <p:nvPicPr>
          <p:cNvPr id="34" name="Picture 33" descr="FASTSrchSvr2010-IB_h_rgb.png"/>
          <p:cNvPicPr>
            <a:picLocks noChangeAspect="1"/>
          </p:cNvPicPr>
          <p:nvPr/>
        </p:nvPicPr>
        <p:blipFill>
          <a:blip r:embed="rId11">
            <a:extLst>
              <a:ext uri="{BEBA8EAE-BF5A-486C-A8C5-ECC9F3942E4B}">
                <a14:imgProps xmlns="" xmlns:a14="http://schemas.microsoft.com/office/drawing/2010/main">
                  <a14:imgLayer r:embed="">
                    <a14:imgEffect>
                      <a14:saturation sat="400000"/>
                    </a14:imgEffect>
                  </a14:imgLayer>
                </a14:imgProps>
              </a:ext>
            </a:extLst>
          </a:blip>
          <a:stretch>
            <a:fillRect/>
          </a:stretch>
        </p:blipFill>
        <p:spPr>
          <a:xfrm>
            <a:off x="5415725" y="4794790"/>
            <a:ext cx="2674906" cy="539210"/>
          </a:xfrm>
          <a:prstGeom prst="rect">
            <a:avLst/>
          </a:prstGeom>
        </p:spPr>
      </p:pic>
      <p:pic>
        <p:nvPicPr>
          <p:cNvPr id="42" name="Picture 41" descr="FASTSrchSvr2010-IB_h_rgb.png"/>
          <p:cNvPicPr>
            <a:picLocks noChangeAspect="1"/>
          </p:cNvPicPr>
          <p:nvPr/>
        </p:nvPicPr>
        <p:blipFill rotWithShape="1">
          <a:blip r:embed="rId12">
            <a:biLevel thresh="75000"/>
            <a:extLst>
              <a:ext uri="{BEBA8EAE-BF5A-486C-A8C5-ECC9F3942E4B}">
                <a14:imgProps xmlns="" xmlns:a14="http://schemas.microsoft.com/office/drawing/2010/main">
                  <a14:imgLayer r:embed="">
                    <a14:imgEffect>
                      <a14:sharpenSoften amount="50000"/>
                    </a14:imgEffect>
                    <a14:imgEffect>
                      <a14:saturation sat="400000"/>
                    </a14:imgEffect>
                  </a14:imgLayer>
                </a14:imgProps>
              </a:ext>
            </a:extLst>
          </a:blip>
          <a:srcRect l="13800" t="8696" r="-1"/>
          <a:stretch/>
        </p:blipFill>
        <p:spPr>
          <a:xfrm>
            <a:off x="5784850" y="4842732"/>
            <a:ext cx="2305780" cy="492321"/>
          </a:xfrm>
          <a:prstGeom prst="rect">
            <a:avLst/>
          </a:prstGeom>
        </p:spPr>
      </p:pic>
      <p:sp>
        <p:nvSpPr>
          <p:cNvPr id="32" name="Rectangle 31"/>
          <p:cNvSpPr/>
          <p:nvPr/>
        </p:nvSpPr>
        <p:spPr>
          <a:xfrm>
            <a:off x="0" y="1066800"/>
            <a:ext cx="9144000" cy="5943600"/>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0"/>
                                        <p:tgtEl>
                                          <p:spTgt spid="32"/>
                                        </p:tgtEl>
                                      </p:cBhvr>
                                    </p:animEffect>
                                    <p:set>
                                      <p:cBhvr>
                                        <p:cTn id="7" dur="1" fill="hold">
                                          <p:stCondLst>
                                            <p:cond delay="4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1066800"/>
            <a:ext cx="9144000" cy="5943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52400" y="2362200"/>
            <a:ext cx="8839200" cy="3429000"/>
          </a:xfrm>
          <a:prstGeom prst="rect">
            <a:avLst/>
          </a:prstGeom>
          <a:gradFill flip="none" rotWithShape="1">
            <a:gsLst>
              <a:gs pos="5000">
                <a:schemeClr val="bg1"/>
              </a:gs>
              <a:gs pos="23000">
                <a:schemeClr val="bg1"/>
              </a:gs>
              <a:gs pos="91000">
                <a:schemeClr val="bg1">
                  <a:alpha val="68000"/>
                </a:schemeClr>
              </a:gs>
              <a:gs pos="100000">
                <a:schemeClr val="tx1"/>
              </a:gs>
            </a:gsLst>
            <a:lin ang="15600000" scaled="0"/>
            <a:tileRect/>
          </a:gradFill>
          <a:ln w="3175">
            <a:solidFill>
              <a:schemeClr val="tx1">
                <a:alpha val="39000"/>
              </a:schemeClr>
            </a:solidFill>
            <a:headEnd type="none" w="med" len="med"/>
            <a:tailEnd type="none" w="med" len="med"/>
          </a:ln>
          <a:effectLst>
            <a:glow rad="63500">
              <a:schemeClr val="accent5">
                <a:satMod val="175000"/>
                <a:alpha val="40000"/>
              </a:schemeClr>
            </a:glow>
            <a:reflection blurRad="6350" stA="50000" endA="300" endPos="38500" dist="50800" dir="5400000" sy="-100000" algn="bl" rotWithShape="0"/>
          </a:effectLst>
        </p:spPr>
        <p:style>
          <a:lnRef idx="2">
            <a:schemeClr val="accent6"/>
          </a:lnRef>
          <a:fillRef idx="1">
            <a:schemeClr val="lt1"/>
          </a:fillRef>
          <a:effectRef idx="0">
            <a:schemeClr val="accent6"/>
          </a:effectRef>
          <a:fontRef idx="minor">
            <a:schemeClr val="dk1"/>
          </a:fontRef>
        </p:style>
      </p:sp>
      <p:sp>
        <p:nvSpPr>
          <p:cNvPr id="2" name="Title 1"/>
          <p:cNvSpPr>
            <a:spLocks noGrp="1"/>
          </p:cNvSpPr>
          <p:nvPr>
            <p:ph type="title"/>
          </p:nvPr>
        </p:nvSpPr>
        <p:spPr>
          <a:xfrm>
            <a:off x="381000" y="534007"/>
            <a:ext cx="8382000" cy="1828193"/>
          </a:xfrm>
        </p:spPr>
        <p:txBody>
          <a:bodyPr/>
          <a:lstStyle/>
          <a:p>
            <a:r>
              <a:rPr lang="en-US" sz="3200" dirty="0" smtClean="0">
                <a:solidFill>
                  <a:schemeClr val="bg1"/>
                </a:solidFill>
              </a:rPr>
              <a:t>Internet/Extranet</a:t>
            </a:r>
            <a:endParaRPr lang="en-US" sz="3200" dirty="0">
              <a:solidFill>
                <a:schemeClr val="bg1"/>
              </a:solidFill>
            </a:endParaRPr>
          </a:p>
        </p:txBody>
      </p:sp>
      <p:graphicFrame>
        <p:nvGraphicFramePr>
          <p:cNvPr id="25" name="Table 24"/>
          <p:cNvGraphicFramePr>
            <a:graphicFrameLocks noGrp="1"/>
          </p:cNvGraphicFramePr>
          <p:nvPr>
            <p:extLst/>
          </p:nvPr>
        </p:nvGraphicFramePr>
        <p:xfrm>
          <a:off x="152400" y="2362200"/>
          <a:ext cx="8839200" cy="3429000"/>
        </p:xfrm>
        <a:graphic>
          <a:graphicData uri="http://schemas.openxmlformats.org/drawingml/2006/table">
            <a:tbl>
              <a:tblPr firstRow="1" bandRow="1">
                <a:tableStyleId>{5940675A-B579-460E-94D1-54222C63F5DA}</a:tableStyleId>
              </a:tblPr>
              <a:tblGrid>
                <a:gridCol w="3581400"/>
                <a:gridCol w="5257800"/>
              </a:tblGrid>
              <a:tr h="1759128">
                <a:tc>
                  <a:txBody>
                    <a:bodyPr/>
                    <a:lstStyle/>
                    <a:p>
                      <a:pPr marL="457200" indent="0"/>
                      <a:endParaRPr lang="en-US" sz="1200" b="0" dirty="0"/>
                    </a:p>
                  </a:txBody>
                  <a:tcPr anchor="ctr">
                    <a:solidFill>
                      <a:schemeClr val="tx1"/>
                    </a:solidFill>
                  </a:tcPr>
                </a:tc>
                <a:tc>
                  <a:txBody>
                    <a:bodyPr/>
                    <a:lstStyle/>
                    <a:p>
                      <a:pPr marL="460375" marR="0" lvl="0" indent="-460375" algn="l" defTabSz="914363" rtl="0" eaLnBrk="1" latinLnBrk="0" hangingPunct="1">
                        <a:lnSpc>
                          <a:spcPct val="90000"/>
                        </a:lnSpc>
                        <a:spcBef>
                          <a:spcPct val="20000"/>
                        </a:spcBef>
                        <a:spcAft>
                          <a:spcPts val="0"/>
                        </a:spcAft>
                        <a:buFontTx/>
                        <a:buBlip>
                          <a:blip r:embed="rId3"/>
                        </a:buBlip>
                      </a:pPr>
                      <a:endParaRPr lang="en-US" sz="1600" kern="1200" dirty="0" smtClean="0">
                        <a:gradFill>
                          <a:gsLst>
                            <a:gs pos="0">
                              <a:schemeClr val="tx1"/>
                            </a:gs>
                            <a:gs pos="100000">
                              <a:schemeClr val="tx1"/>
                            </a:gs>
                          </a:gsLst>
                          <a:lin ang="5400000" scaled="0"/>
                        </a:gradFill>
                        <a:latin typeface="+mn-lt"/>
                        <a:ea typeface="+mn-ea"/>
                        <a:cs typeface="+mn-cs"/>
                      </a:endParaRP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Create Rich Sites for Customers and Partners Using All of SharePoint’s Capabilities</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For organizations looking to create customer-facing public internet sites or private extranets</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This is our premier internet site edition, with full SharePoint Enterprise functionality</a:t>
                      </a:r>
                    </a:p>
                    <a:p>
                      <a:pPr marL="342900" marR="0" lvl="0" indent="-342900">
                        <a:lnSpc>
                          <a:spcPct val="100000"/>
                        </a:lnSpc>
                        <a:spcBef>
                          <a:spcPts val="0"/>
                        </a:spcBef>
                        <a:spcAft>
                          <a:spcPts val="0"/>
                        </a:spcAft>
                        <a:buFont typeface="Symbol"/>
                        <a:buNone/>
                      </a:pPr>
                      <a:endParaRPr lang="en-US" sz="900" dirty="0">
                        <a:effectLst/>
                        <a:latin typeface="+mn-lt"/>
                        <a:ea typeface="Calibri"/>
                        <a:cs typeface="Times New Roman"/>
                      </a:endParaRPr>
                    </a:p>
                  </a:txBody>
                  <a:tcPr marL="182880" marR="182880" marT="0" marB="0"/>
                </a:tc>
              </a:tr>
              <a:tr h="1669872">
                <a:tc>
                  <a:txBody>
                    <a:bodyPr/>
                    <a:lstStyle/>
                    <a:p>
                      <a:endParaRPr lang="en-US" dirty="0"/>
                    </a:p>
                  </a:txBody>
                  <a:tcPr anchor="ctr">
                    <a:solidFill>
                      <a:schemeClr val="tx1"/>
                    </a:solidFill>
                  </a:tcPr>
                </a:tc>
                <a:tc>
                  <a:txBody>
                    <a:bodyPr/>
                    <a:lstStyle/>
                    <a:p>
                      <a:pPr marL="342900" marR="0" lvl="0" indent="-342900">
                        <a:lnSpc>
                          <a:spcPct val="100000"/>
                        </a:lnSpc>
                        <a:spcBef>
                          <a:spcPts val="0"/>
                        </a:spcBef>
                        <a:spcAft>
                          <a:spcPts val="0"/>
                        </a:spcAft>
                        <a:buFont typeface="Symbol"/>
                        <a:buNone/>
                      </a:pPr>
                      <a:endParaRPr lang="en-US" sz="1100" dirty="0" smtClean="0">
                        <a:effectLst/>
                      </a:endParaRP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Build Small-Scale Internet Sites on the </a:t>
                      </a:r>
                      <a:br>
                        <a:rPr lang="en-US" sz="1600" b="1" kern="1200" dirty="0" smtClean="0">
                          <a:gradFill>
                            <a:gsLst>
                              <a:gs pos="0">
                                <a:schemeClr val="tx1"/>
                              </a:gs>
                              <a:gs pos="100000">
                                <a:schemeClr val="tx1"/>
                              </a:gs>
                            </a:gsLst>
                            <a:lin ang="5400000" scaled="0"/>
                          </a:gradFill>
                          <a:latin typeface="+mn-lt"/>
                          <a:ea typeface="+mn-ea"/>
                          <a:cs typeface="+mn-cs"/>
                        </a:rPr>
                      </a:br>
                      <a:r>
                        <a:rPr lang="en-US" sz="1600" b="1" kern="1200" dirty="0" smtClean="0">
                          <a:gradFill>
                            <a:gsLst>
                              <a:gs pos="0">
                                <a:schemeClr val="tx1"/>
                              </a:gs>
                              <a:gs pos="100000">
                                <a:schemeClr val="tx1"/>
                              </a:gs>
                            </a:gsLst>
                            <a:lin ang="5400000" scaled="0"/>
                          </a:gradFill>
                          <a:latin typeface="+mn-lt"/>
                          <a:ea typeface="+mn-ea"/>
                          <a:cs typeface="+mn-cs"/>
                        </a:rPr>
                        <a:t>SharePoint Platform</a:t>
                      </a:r>
                      <a:endParaRPr lang="en-US" sz="1600" kern="1200" dirty="0" smtClean="0">
                        <a:gradFill>
                          <a:gsLst>
                            <a:gs pos="0">
                              <a:schemeClr val="tx1"/>
                            </a:gs>
                            <a:gs pos="100000">
                              <a:schemeClr val="tx1"/>
                            </a:gs>
                          </a:gsLst>
                          <a:lin ang="5400000" scaled="0"/>
                        </a:gradFill>
                        <a:latin typeface="+mn-lt"/>
                        <a:ea typeface="+mn-ea"/>
                        <a:cs typeface="+mn-cs"/>
                      </a:endParaRP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For small and mid-size organizations looking to create customer-facing public internet sites or basic extranets using the Standard features of SharePoint Server 2010</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Note that this edition</a:t>
                      </a:r>
                      <a:r>
                        <a:rPr lang="en-US" sz="1400" kern="1200" baseline="0" dirty="0" smtClean="0">
                          <a:gradFill>
                            <a:gsLst>
                              <a:gs pos="0">
                                <a:schemeClr val="tx1"/>
                              </a:gs>
                              <a:gs pos="100000">
                                <a:schemeClr val="tx1"/>
                              </a:gs>
                            </a:gsLst>
                            <a:lin ang="5400000" scaled="0"/>
                          </a:gradFill>
                          <a:latin typeface="+mn-lt"/>
                          <a:ea typeface="+mn-ea"/>
                          <a:cs typeface="+mn-cs"/>
                        </a:rPr>
                        <a:t> will have performance/scale limits</a:t>
                      </a:r>
                      <a:endParaRPr lang="en-US" sz="1400" kern="1200" dirty="0" smtClean="0">
                        <a:gradFill>
                          <a:gsLst>
                            <a:gs pos="0">
                              <a:schemeClr val="tx1"/>
                            </a:gs>
                            <a:gs pos="100000">
                              <a:schemeClr val="tx1"/>
                            </a:gs>
                          </a:gsLst>
                          <a:lin ang="5400000" scaled="0"/>
                        </a:gradFill>
                        <a:latin typeface="+mn-lt"/>
                        <a:ea typeface="+mn-ea"/>
                        <a:cs typeface="+mn-cs"/>
                      </a:endParaRPr>
                    </a:p>
                    <a:p>
                      <a:pPr marL="342900" marR="0" lvl="0" indent="-223838">
                        <a:lnSpc>
                          <a:spcPct val="100000"/>
                        </a:lnSpc>
                        <a:spcBef>
                          <a:spcPts val="0"/>
                        </a:spcBef>
                        <a:spcAft>
                          <a:spcPts val="0"/>
                        </a:spcAft>
                        <a:buFont typeface="Symbol"/>
                        <a:buNone/>
                      </a:pPr>
                      <a:endParaRPr lang="en-US" sz="1000" dirty="0">
                        <a:effectLst/>
                        <a:latin typeface="+mn-lt"/>
                        <a:cs typeface="Times New Roman"/>
                      </a:endParaRPr>
                    </a:p>
                  </a:txBody>
                  <a:tcPr marL="182880" marR="182880" marT="0" marB="0"/>
                </a:tc>
              </a:tr>
            </a:tbl>
          </a:graphicData>
        </a:graphic>
      </p:graphicFrame>
      <p:pic>
        <p:nvPicPr>
          <p:cNvPr id="8" name="Picture 7" descr="ShrPtSvr10-IntSitesEnt_h_rgb_r.png"/>
          <p:cNvPicPr>
            <a:picLocks noChangeAspect="1"/>
          </p:cNvPicPr>
          <p:nvPr/>
        </p:nvPicPr>
        <p:blipFill>
          <a:blip r:embed="rId4"/>
          <a:stretch>
            <a:fillRect/>
          </a:stretch>
        </p:blipFill>
        <p:spPr>
          <a:xfrm>
            <a:off x="304800" y="2895600"/>
            <a:ext cx="3118104" cy="660254"/>
          </a:xfrm>
          <a:prstGeom prst="rect">
            <a:avLst/>
          </a:prstGeom>
        </p:spPr>
      </p:pic>
      <p:pic>
        <p:nvPicPr>
          <p:cNvPr id="9" name="Picture 8" descr="ShrPtSvr10-IntSitesStd_h_rgb_r.png"/>
          <p:cNvPicPr>
            <a:picLocks noChangeAspect="1"/>
          </p:cNvPicPr>
          <p:nvPr/>
        </p:nvPicPr>
        <p:blipFill>
          <a:blip r:embed="rId5"/>
          <a:stretch>
            <a:fillRect/>
          </a:stretch>
        </p:blipFill>
        <p:spPr>
          <a:xfrm>
            <a:off x="304800" y="4335343"/>
            <a:ext cx="3118104" cy="617657"/>
          </a:xfrm>
          <a:prstGeom prst="rect">
            <a:avLst/>
          </a:prstGeom>
        </p:spPr>
      </p:pic>
      <p:sp>
        <p:nvSpPr>
          <p:cNvPr id="10" name="TextBox 9"/>
          <p:cNvSpPr txBox="1"/>
          <p:nvPr/>
        </p:nvSpPr>
        <p:spPr>
          <a:xfrm rot="21354897">
            <a:off x="760361" y="5181600"/>
            <a:ext cx="2362200" cy="369332"/>
          </a:xfrm>
          <a:prstGeom prst="rect">
            <a:avLst/>
          </a:prstGeom>
          <a:noFill/>
        </p:spPr>
        <p:txBody>
          <a:bodyPr wrap="square" lIns="0" tIns="0" rIns="0" bIns="0" rtlCol="0">
            <a:spAutoFit/>
          </a:bodyPr>
          <a:lstStyle/>
          <a:p>
            <a:pPr algn="ctr"/>
            <a:r>
              <a:rPr lang="en-US" sz="2400" b="1" dirty="0" smtClean="0">
                <a:solidFill>
                  <a:srgbClr val="F8F57B"/>
                </a:solidFill>
              </a:rPr>
              <a:t>New in 2010</a:t>
            </a:r>
          </a:p>
        </p:txBody>
      </p:sp>
    </p:spTree>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1066800"/>
            <a:ext cx="9144000" cy="5943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52400" y="1676400"/>
            <a:ext cx="8839200" cy="4648200"/>
          </a:xfrm>
          <a:prstGeom prst="rect">
            <a:avLst/>
          </a:prstGeom>
          <a:gradFill flip="none" rotWithShape="1">
            <a:gsLst>
              <a:gs pos="5000">
                <a:schemeClr val="bg1"/>
              </a:gs>
              <a:gs pos="23000">
                <a:schemeClr val="bg1"/>
              </a:gs>
              <a:gs pos="91000">
                <a:schemeClr val="bg1">
                  <a:alpha val="68000"/>
                </a:schemeClr>
              </a:gs>
              <a:gs pos="100000">
                <a:schemeClr val="tx1"/>
              </a:gs>
            </a:gsLst>
            <a:lin ang="15600000" scaled="0"/>
            <a:tileRect/>
          </a:gradFill>
          <a:ln w="3175">
            <a:solidFill>
              <a:schemeClr val="tx1">
                <a:alpha val="39000"/>
              </a:schemeClr>
            </a:solidFill>
            <a:headEnd type="none" w="med" len="med"/>
            <a:tailEnd type="none" w="med" len="med"/>
          </a:ln>
          <a:effectLst>
            <a:glow rad="63500">
              <a:schemeClr val="accent5">
                <a:satMod val="175000"/>
                <a:alpha val="40000"/>
              </a:schemeClr>
            </a:glow>
            <a:reflection blurRad="6350" stA="50000" endA="300" endPos="38500" dist="50800" dir="5400000" sy="-100000" algn="bl" rotWithShape="0"/>
          </a:effectLst>
        </p:spPr>
        <p:style>
          <a:lnRef idx="2">
            <a:schemeClr val="accent6"/>
          </a:lnRef>
          <a:fillRef idx="1">
            <a:schemeClr val="lt1"/>
          </a:fillRef>
          <a:effectRef idx="0">
            <a:schemeClr val="accent6"/>
          </a:effectRef>
          <a:fontRef idx="minor">
            <a:schemeClr val="dk1"/>
          </a:fontRef>
        </p:style>
      </p:sp>
      <p:sp>
        <p:nvSpPr>
          <p:cNvPr id="2" name="Title 1"/>
          <p:cNvSpPr>
            <a:spLocks noGrp="1"/>
          </p:cNvSpPr>
          <p:nvPr>
            <p:ph type="title"/>
          </p:nvPr>
        </p:nvSpPr>
        <p:spPr>
          <a:xfrm>
            <a:off x="381000" y="741605"/>
            <a:ext cx="8382000" cy="1163395"/>
          </a:xfrm>
        </p:spPr>
        <p:txBody>
          <a:bodyPr/>
          <a:lstStyle/>
          <a:p>
            <a:r>
              <a:rPr lang="en-US" sz="3200" dirty="0">
                <a:solidFill>
                  <a:schemeClr val="bg1"/>
                </a:solidFill>
              </a:rPr>
              <a:t>Microsoft Enterprise </a:t>
            </a:r>
            <a:r>
              <a:rPr lang="en-US" sz="3200" dirty="0" smtClean="0">
                <a:solidFill>
                  <a:schemeClr val="bg1"/>
                </a:solidFill>
              </a:rPr>
              <a:t>Search</a:t>
            </a:r>
            <a:endParaRPr lang="en-US" sz="3200" dirty="0">
              <a:solidFill>
                <a:schemeClr val="bg1"/>
              </a:solidFill>
            </a:endParaRPr>
          </a:p>
        </p:txBody>
      </p:sp>
      <p:graphicFrame>
        <p:nvGraphicFramePr>
          <p:cNvPr id="25" name="Table 24"/>
          <p:cNvGraphicFramePr>
            <a:graphicFrameLocks noGrp="1"/>
          </p:cNvGraphicFramePr>
          <p:nvPr>
            <p:extLst/>
          </p:nvPr>
        </p:nvGraphicFramePr>
        <p:xfrm>
          <a:off x="152400" y="1676400"/>
          <a:ext cx="8839200" cy="4648200"/>
        </p:xfrm>
        <a:graphic>
          <a:graphicData uri="http://schemas.openxmlformats.org/drawingml/2006/table">
            <a:tbl>
              <a:tblPr firstRow="1" bandRow="1">
                <a:tableStyleId>{5940675A-B579-460E-94D1-54222C63F5DA}</a:tableStyleId>
              </a:tblPr>
              <a:tblGrid>
                <a:gridCol w="3733800"/>
                <a:gridCol w="5105400"/>
              </a:tblGrid>
              <a:tr h="1944044">
                <a:tc>
                  <a:txBody>
                    <a:bodyPr/>
                    <a:lstStyle/>
                    <a:p>
                      <a:pPr marL="457200" indent="0"/>
                      <a:endParaRPr lang="en-US" sz="1400" dirty="0" smtClean="0"/>
                    </a:p>
                  </a:txBody>
                  <a:tcPr anchor="b">
                    <a:solidFill>
                      <a:schemeClr val="tx1"/>
                    </a:solidFill>
                  </a:tcPr>
                </a:tc>
                <a:tc>
                  <a:txBody>
                    <a:bodyPr/>
                    <a:lstStyle/>
                    <a:p>
                      <a:pPr marL="0" marR="0" lvl="0" indent="0">
                        <a:lnSpc>
                          <a:spcPct val="100000"/>
                        </a:lnSpc>
                        <a:spcBef>
                          <a:spcPts val="0"/>
                        </a:spcBef>
                        <a:spcAft>
                          <a:spcPts val="0"/>
                        </a:spcAft>
                        <a:buFont typeface="Symbol"/>
                        <a:buNone/>
                      </a:pPr>
                      <a:endParaRPr lang="en-US" sz="1000" dirty="0" smtClean="0">
                        <a:effectLst/>
                      </a:endParaRP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Powerful High-end Search </a:t>
                      </a: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Delivered Through SharePoint</a:t>
                      </a:r>
                      <a:endParaRPr lang="en-US" sz="1600" dirty="0" smtClean="0">
                        <a:effectLst/>
                      </a:endParaRP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Search </a:t>
                      </a:r>
                      <a:r>
                        <a:rPr lang="en-US" sz="1400" kern="1200" dirty="0">
                          <a:gradFill>
                            <a:gsLst>
                              <a:gs pos="0">
                                <a:schemeClr val="tx1"/>
                              </a:gs>
                              <a:gs pos="100000">
                                <a:schemeClr val="tx1"/>
                              </a:gs>
                            </a:gsLst>
                            <a:lin ang="5400000" scaled="0"/>
                          </a:gradFill>
                          <a:latin typeface="+mn-lt"/>
                          <a:ea typeface="+mn-ea"/>
                          <a:cs typeface="+mn-cs"/>
                        </a:rPr>
                        <a:t>is strategic</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Want high-end </a:t>
                      </a:r>
                      <a:r>
                        <a:rPr lang="en-US" sz="1400" kern="1200" dirty="0">
                          <a:gradFill>
                            <a:gsLst>
                              <a:gs pos="0">
                                <a:schemeClr val="tx1"/>
                              </a:gs>
                              <a:gs pos="100000">
                                <a:schemeClr val="tx1"/>
                              </a:gs>
                            </a:gsLst>
                            <a:lin ang="5400000" scaled="0"/>
                          </a:gradFill>
                          <a:latin typeface="+mn-lt"/>
                          <a:ea typeface="+mn-ea"/>
                          <a:cs typeface="+mn-cs"/>
                        </a:rPr>
                        <a:t>capabilities </a:t>
                      </a:r>
                      <a:r>
                        <a:rPr lang="en-US" sz="1400" kern="1200" dirty="0" smtClean="0">
                          <a:gradFill>
                            <a:gsLst>
                              <a:gs pos="0">
                                <a:schemeClr val="tx1"/>
                              </a:gs>
                              <a:gs pos="100000">
                                <a:schemeClr val="tx1"/>
                              </a:gs>
                            </a:gsLst>
                            <a:lin ang="5400000" scaled="0"/>
                          </a:gradFill>
                          <a:latin typeface="+mn-lt"/>
                          <a:ea typeface="+mn-ea"/>
                          <a:cs typeface="+mn-cs"/>
                        </a:rPr>
                        <a:t>and easy </a:t>
                      </a:r>
                      <a:r>
                        <a:rPr lang="en-US" sz="1400" kern="1200" dirty="0">
                          <a:gradFill>
                            <a:gsLst>
                              <a:gs pos="0">
                                <a:schemeClr val="tx1"/>
                              </a:gs>
                              <a:gs pos="100000">
                                <a:schemeClr val="tx1"/>
                              </a:gs>
                            </a:gsLst>
                            <a:lin ang="5400000" scaled="0"/>
                          </a:gradFill>
                          <a:latin typeface="+mn-lt"/>
                          <a:ea typeface="+mn-ea"/>
                          <a:cs typeface="+mn-cs"/>
                        </a:rPr>
                        <a:t>deployment and manageability </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Are building </a:t>
                      </a:r>
                      <a:r>
                        <a:rPr lang="en-US" sz="1400" kern="1200" dirty="0">
                          <a:gradFill>
                            <a:gsLst>
                              <a:gs pos="0">
                                <a:schemeClr val="tx1"/>
                              </a:gs>
                              <a:gs pos="100000">
                                <a:schemeClr val="tx1"/>
                              </a:gs>
                            </a:gsLst>
                            <a:lin ang="5400000" scaled="0"/>
                          </a:gradFill>
                          <a:latin typeface="+mn-lt"/>
                          <a:ea typeface="+mn-ea"/>
                          <a:cs typeface="+mn-cs"/>
                        </a:rPr>
                        <a:t>custom search solutions and integrated </a:t>
                      </a:r>
                      <a:r>
                        <a:rPr lang="en-US" sz="1400" kern="1200" dirty="0" smtClean="0">
                          <a:gradFill>
                            <a:gsLst>
                              <a:gs pos="0">
                                <a:schemeClr val="tx1"/>
                              </a:gs>
                              <a:gs pos="100000">
                                <a:schemeClr val="tx1"/>
                              </a:gs>
                            </a:gsLst>
                            <a:lin ang="5400000" scaled="0"/>
                          </a:gradFill>
                          <a:latin typeface="+mn-lt"/>
                          <a:ea typeface="+mn-ea"/>
                          <a:cs typeface="+mn-cs"/>
                        </a:rPr>
                        <a:t>applications</a:t>
                      </a:r>
                    </a:p>
                    <a:p>
                      <a:pPr marL="342900" marR="0" lvl="0" indent="-342900">
                        <a:lnSpc>
                          <a:spcPct val="100000"/>
                        </a:lnSpc>
                        <a:spcBef>
                          <a:spcPts val="0"/>
                        </a:spcBef>
                        <a:spcAft>
                          <a:spcPts val="0"/>
                        </a:spcAft>
                        <a:buFont typeface="Symbol"/>
                        <a:buNone/>
                      </a:pPr>
                      <a:endParaRPr lang="en-US" sz="1000" dirty="0">
                        <a:effectLst/>
                        <a:latin typeface="+mn-lt"/>
                        <a:ea typeface="Calibri"/>
                        <a:cs typeface="Times New Roman"/>
                      </a:endParaRPr>
                    </a:p>
                  </a:txBody>
                  <a:tcPr marL="182880" marR="182880" marT="0" marB="0"/>
                </a:tc>
              </a:tr>
              <a:tr h="1259175">
                <a:tc>
                  <a:txBody>
                    <a:bodyPr/>
                    <a:lstStyle/>
                    <a:p>
                      <a:endParaRPr lang="en-US" dirty="0"/>
                    </a:p>
                  </a:txBody>
                  <a:tcPr anchor="ctr">
                    <a:solidFill>
                      <a:schemeClr val="tx1"/>
                    </a:solidFill>
                  </a:tcPr>
                </a:tc>
                <a:tc>
                  <a:txBody>
                    <a:bodyPr/>
                    <a:lstStyle/>
                    <a:p>
                      <a:pPr marL="342900" marR="0" lvl="0" indent="-342900">
                        <a:lnSpc>
                          <a:spcPct val="100000"/>
                        </a:lnSpc>
                        <a:spcBef>
                          <a:spcPts val="0"/>
                        </a:spcBef>
                        <a:spcAft>
                          <a:spcPts val="0"/>
                        </a:spcAft>
                        <a:buFont typeface="Symbol"/>
                        <a:buNone/>
                      </a:pPr>
                      <a:endParaRPr lang="en-US" sz="1100" dirty="0" smtClean="0">
                        <a:effectLst/>
                      </a:endParaRP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Complete Intranet Search Solution</a:t>
                      </a:r>
                      <a:endParaRPr lang="en-US" sz="1600" dirty="0" smtClean="0">
                        <a:effectLst/>
                      </a:endParaRP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Want enterprise-class </a:t>
                      </a:r>
                      <a:r>
                        <a:rPr lang="en-US" sz="1400" kern="1200" dirty="0">
                          <a:gradFill>
                            <a:gsLst>
                              <a:gs pos="0">
                                <a:schemeClr val="tx1"/>
                              </a:gs>
                              <a:gs pos="100000">
                                <a:schemeClr val="tx1"/>
                              </a:gs>
                            </a:gsLst>
                            <a:lin ang="5400000" scaled="0"/>
                          </a:gradFill>
                          <a:latin typeface="+mn-lt"/>
                          <a:ea typeface="+mn-ea"/>
                          <a:cs typeface="+mn-cs"/>
                        </a:rPr>
                        <a:t>intranet search </a:t>
                      </a:r>
                      <a:r>
                        <a:rPr lang="en-US" sz="1400" kern="1200" dirty="0" smtClean="0">
                          <a:gradFill>
                            <a:gsLst>
                              <a:gs pos="0">
                                <a:schemeClr val="tx1"/>
                              </a:gs>
                              <a:gs pos="100000">
                                <a:schemeClr val="tx1"/>
                              </a:gs>
                            </a:gsLst>
                            <a:lin ang="5400000" scaled="0"/>
                          </a:gradFill>
                          <a:latin typeface="+mn-lt"/>
                          <a:ea typeface="+mn-ea"/>
                          <a:cs typeface="+mn-cs"/>
                        </a:rPr>
                        <a:t/>
                      </a:r>
                      <a:br>
                        <a:rPr lang="en-US" sz="1400" kern="1200" dirty="0" smtClean="0">
                          <a:gradFill>
                            <a:gsLst>
                              <a:gs pos="0">
                                <a:schemeClr val="tx1"/>
                              </a:gs>
                              <a:gs pos="100000">
                                <a:schemeClr val="tx1"/>
                              </a:gs>
                            </a:gsLst>
                            <a:lin ang="5400000" scaled="0"/>
                          </a:gradFill>
                          <a:latin typeface="+mn-lt"/>
                          <a:ea typeface="+mn-ea"/>
                          <a:cs typeface="+mn-cs"/>
                        </a:rPr>
                      </a:br>
                      <a:r>
                        <a:rPr lang="en-US" sz="1400" kern="1200" dirty="0" smtClean="0">
                          <a:gradFill>
                            <a:gsLst>
                              <a:gs pos="0">
                                <a:schemeClr val="tx1"/>
                              </a:gs>
                              <a:gs pos="100000">
                                <a:schemeClr val="tx1"/>
                              </a:gs>
                            </a:gsLst>
                            <a:lin ang="5400000" scaled="0"/>
                          </a:gradFill>
                          <a:latin typeface="+mn-lt"/>
                          <a:ea typeface="+mn-ea"/>
                          <a:cs typeface="+mn-cs"/>
                        </a:rPr>
                        <a:t>with </a:t>
                      </a:r>
                      <a:r>
                        <a:rPr lang="en-US" sz="1400" kern="1200" dirty="0">
                          <a:gradFill>
                            <a:gsLst>
                              <a:gs pos="0">
                                <a:schemeClr val="tx1"/>
                              </a:gs>
                              <a:gs pos="100000">
                                <a:schemeClr val="tx1"/>
                              </a:gs>
                            </a:gsLst>
                            <a:lin ang="5400000" scaled="0"/>
                          </a:gradFill>
                          <a:latin typeface="+mn-lt"/>
                          <a:ea typeface="+mn-ea"/>
                          <a:cs typeface="+mn-cs"/>
                        </a:rPr>
                        <a:t>low touch from </a:t>
                      </a:r>
                      <a:r>
                        <a:rPr lang="en-US" sz="1400" kern="1200" dirty="0" smtClean="0">
                          <a:gradFill>
                            <a:gsLst>
                              <a:gs pos="0">
                                <a:schemeClr val="tx1"/>
                              </a:gs>
                              <a:gs pos="100000">
                                <a:schemeClr val="tx1"/>
                              </a:gs>
                            </a:gsLst>
                            <a:lin ang="5400000" scaled="0"/>
                          </a:gradFill>
                          <a:latin typeface="+mn-lt"/>
                          <a:ea typeface="+mn-ea"/>
                          <a:cs typeface="+mn-cs"/>
                        </a:rPr>
                        <a:t>IT</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Scalable,</a:t>
                      </a:r>
                      <a:r>
                        <a:rPr lang="en-US" sz="1400" kern="1200" baseline="0" dirty="0" smtClean="0">
                          <a:gradFill>
                            <a:gsLst>
                              <a:gs pos="0">
                                <a:schemeClr val="tx1"/>
                              </a:gs>
                              <a:gs pos="100000">
                                <a:schemeClr val="tx1"/>
                              </a:gs>
                            </a:gsLst>
                            <a:lin ang="5400000" scaled="0"/>
                          </a:gradFill>
                          <a:latin typeface="+mn-lt"/>
                          <a:ea typeface="+mn-ea"/>
                          <a:cs typeface="+mn-cs"/>
                        </a:rPr>
                        <a:t> searches LOB systems, improved people search</a:t>
                      </a:r>
                      <a:endParaRPr lang="en-US" sz="1400" kern="1200" dirty="0">
                        <a:gradFill>
                          <a:gsLst>
                            <a:gs pos="0">
                              <a:schemeClr val="tx1"/>
                            </a:gs>
                            <a:gs pos="100000">
                              <a:schemeClr val="tx1"/>
                            </a:gs>
                          </a:gsLst>
                          <a:lin ang="5400000" scaled="0"/>
                        </a:gradFill>
                        <a:latin typeface="+mn-lt"/>
                        <a:ea typeface="+mn-ea"/>
                        <a:cs typeface="+mn-cs"/>
                      </a:endParaRPr>
                    </a:p>
                  </a:txBody>
                  <a:tcPr marL="182880" marR="182880" marT="0" marB="0"/>
                </a:tc>
              </a:tr>
              <a:tr h="1444981">
                <a:tc>
                  <a:txBody>
                    <a:bodyPr/>
                    <a:lstStyle/>
                    <a:p>
                      <a:endParaRPr lang="en-US" dirty="0"/>
                    </a:p>
                  </a:txBody>
                  <a:tcPr anchor="ctr">
                    <a:solidFill>
                      <a:schemeClr val="tx1"/>
                    </a:solidFill>
                  </a:tcPr>
                </a:tc>
                <a:tc>
                  <a:txBody>
                    <a:bodyPr/>
                    <a:lstStyle/>
                    <a:p>
                      <a:pPr marL="342900" marR="0" lvl="0" indent="-342900">
                        <a:lnSpc>
                          <a:spcPct val="100000"/>
                        </a:lnSpc>
                        <a:spcBef>
                          <a:spcPts val="0"/>
                        </a:spcBef>
                        <a:spcAft>
                          <a:spcPts val="0"/>
                        </a:spcAft>
                        <a:buFont typeface="Symbol"/>
                        <a:buNone/>
                      </a:pPr>
                      <a:endParaRPr lang="en-US" sz="1050" dirty="0" smtClean="0">
                        <a:effectLst/>
                      </a:endParaRPr>
                    </a:p>
                    <a:p>
                      <a:pPr marL="0" marR="0" lvl="0" indent="0" algn="l" defTabSz="914363" rtl="0" eaLnBrk="1" latinLnBrk="0" hangingPunct="1">
                        <a:lnSpc>
                          <a:spcPct val="90000"/>
                        </a:lnSpc>
                        <a:spcBef>
                          <a:spcPct val="20000"/>
                        </a:spcBef>
                        <a:spcAft>
                          <a:spcPts val="0"/>
                        </a:spcAft>
                        <a:buFont typeface="Arial" pitchFamily="34" charset="0"/>
                        <a:buNone/>
                      </a:pPr>
                      <a:r>
                        <a:rPr lang="en-US" sz="1600" b="1" kern="1200" dirty="0" smtClean="0">
                          <a:gradFill>
                            <a:gsLst>
                              <a:gs pos="0">
                                <a:schemeClr val="tx1"/>
                              </a:gs>
                              <a:gs pos="100000">
                                <a:schemeClr val="tx1"/>
                              </a:gs>
                            </a:gsLst>
                            <a:lin ang="5400000" scaled="0"/>
                          </a:gradFill>
                          <a:latin typeface="+mn-lt"/>
                          <a:ea typeface="+mn-ea"/>
                          <a:cs typeface="+mn-cs"/>
                        </a:rPr>
                        <a:t>Departmental Search</a:t>
                      </a:r>
                      <a:endParaRPr lang="en-US" sz="1600" dirty="0" smtClean="0">
                        <a:effectLst/>
                      </a:endParaRP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smtClean="0">
                          <a:gradFill>
                            <a:gsLst>
                              <a:gs pos="0">
                                <a:schemeClr val="tx1"/>
                              </a:gs>
                              <a:gs pos="100000">
                                <a:schemeClr val="tx1"/>
                              </a:gs>
                            </a:gsLst>
                            <a:lin ang="5400000" scaled="0"/>
                          </a:gradFill>
                          <a:latin typeface="+mn-lt"/>
                          <a:ea typeface="+mn-ea"/>
                          <a:cs typeface="+mn-cs"/>
                        </a:rPr>
                        <a:t>Have </a:t>
                      </a:r>
                      <a:r>
                        <a:rPr lang="en-US" sz="1400" kern="1200" dirty="0">
                          <a:gradFill>
                            <a:gsLst>
                              <a:gs pos="0">
                                <a:schemeClr val="tx1"/>
                              </a:gs>
                              <a:gs pos="100000">
                                <a:schemeClr val="tx1"/>
                              </a:gs>
                            </a:gsLst>
                            <a:lin ang="5400000" scaled="0"/>
                          </a:gradFill>
                          <a:latin typeface="+mn-lt"/>
                          <a:ea typeface="+mn-ea"/>
                          <a:cs typeface="+mn-cs"/>
                        </a:rPr>
                        <a:t>tactical, low scale search applications </a:t>
                      </a:r>
                      <a:r>
                        <a:rPr lang="en-US" sz="1400" kern="1200" dirty="0" smtClean="0">
                          <a:gradFill>
                            <a:gsLst>
                              <a:gs pos="0">
                                <a:schemeClr val="tx1"/>
                              </a:gs>
                              <a:gs pos="100000">
                                <a:schemeClr val="tx1"/>
                              </a:gs>
                            </a:gsLst>
                            <a:lin ang="5400000" scaled="0"/>
                          </a:gradFill>
                          <a:latin typeface="+mn-lt"/>
                          <a:ea typeface="+mn-ea"/>
                          <a:cs typeface="+mn-cs"/>
                        </a:rPr>
                        <a:t/>
                      </a:r>
                      <a:br>
                        <a:rPr lang="en-US" sz="1400" kern="1200" dirty="0" smtClean="0">
                          <a:gradFill>
                            <a:gsLst>
                              <a:gs pos="0">
                                <a:schemeClr val="tx1"/>
                              </a:gs>
                              <a:gs pos="100000">
                                <a:schemeClr val="tx1"/>
                              </a:gs>
                            </a:gsLst>
                            <a:lin ang="5400000" scaled="0"/>
                          </a:gradFill>
                          <a:latin typeface="+mn-lt"/>
                          <a:ea typeface="+mn-ea"/>
                          <a:cs typeface="+mn-cs"/>
                        </a:rPr>
                      </a:br>
                      <a:r>
                        <a:rPr lang="en-US" sz="1400" kern="1200" dirty="0" smtClean="0">
                          <a:gradFill>
                            <a:gsLst>
                              <a:gs pos="0">
                                <a:schemeClr val="tx1"/>
                              </a:gs>
                              <a:gs pos="100000">
                                <a:schemeClr val="tx1"/>
                              </a:gs>
                            </a:gsLst>
                            <a:lin ang="5400000" scaled="0"/>
                          </a:gradFill>
                          <a:latin typeface="+mn-lt"/>
                          <a:ea typeface="+mn-ea"/>
                          <a:cs typeface="+mn-cs"/>
                        </a:rPr>
                        <a:t>(</a:t>
                      </a:r>
                      <a:r>
                        <a:rPr lang="en-US" sz="1400" kern="1200" dirty="0">
                          <a:gradFill>
                            <a:gsLst>
                              <a:gs pos="0">
                                <a:schemeClr val="tx1"/>
                              </a:gs>
                              <a:gs pos="100000">
                                <a:schemeClr val="tx1"/>
                              </a:gs>
                            </a:gsLst>
                            <a:lin ang="5400000" scaled="0"/>
                          </a:gradFill>
                          <a:latin typeface="+mn-lt"/>
                          <a:ea typeface="+mn-ea"/>
                          <a:cs typeface="+mn-cs"/>
                        </a:rPr>
                        <a:t>such as departmental sites)</a:t>
                      </a:r>
                    </a:p>
                    <a:p>
                      <a:pPr marL="228600" marR="0" lvl="0" indent="-228600" algn="l" defTabSz="914363" rtl="0" eaLnBrk="1" latinLnBrk="0" hangingPunct="1">
                        <a:lnSpc>
                          <a:spcPct val="90000"/>
                        </a:lnSpc>
                        <a:spcBef>
                          <a:spcPct val="20000"/>
                        </a:spcBef>
                        <a:spcAft>
                          <a:spcPts val="0"/>
                        </a:spcAft>
                        <a:buFontTx/>
                        <a:buBlip>
                          <a:blip r:embed="rId3"/>
                        </a:buBlip>
                      </a:pPr>
                      <a:r>
                        <a:rPr lang="en-US" sz="1400" kern="1200" dirty="0">
                          <a:gradFill>
                            <a:gsLst>
                              <a:gs pos="0">
                                <a:schemeClr val="tx1"/>
                              </a:gs>
                              <a:gs pos="100000">
                                <a:schemeClr val="tx1"/>
                              </a:gs>
                            </a:gsLst>
                            <a:lin ang="5400000" scaled="0"/>
                          </a:gradFill>
                          <a:latin typeface="+mn-lt"/>
                          <a:ea typeface="+mn-ea"/>
                          <a:cs typeface="+mn-cs"/>
                        </a:rPr>
                        <a:t>Want quick, basic projects requiring little </a:t>
                      </a:r>
                      <a:r>
                        <a:rPr lang="en-US" sz="1400" kern="1200" dirty="0" smtClean="0">
                          <a:gradFill>
                            <a:gsLst>
                              <a:gs pos="0">
                                <a:schemeClr val="tx1"/>
                              </a:gs>
                              <a:gs pos="100000">
                                <a:schemeClr val="tx1"/>
                              </a:gs>
                            </a:gsLst>
                            <a:lin ang="5400000" scaled="0"/>
                          </a:gradFill>
                          <a:latin typeface="+mn-lt"/>
                          <a:ea typeface="+mn-ea"/>
                          <a:cs typeface="+mn-cs"/>
                        </a:rPr>
                        <a:t/>
                      </a:r>
                      <a:br>
                        <a:rPr lang="en-US" sz="1400" kern="1200" dirty="0" smtClean="0">
                          <a:gradFill>
                            <a:gsLst>
                              <a:gs pos="0">
                                <a:schemeClr val="tx1"/>
                              </a:gs>
                              <a:gs pos="100000">
                                <a:schemeClr val="tx1"/>
                              </a:gs>
                            </a:gsLst>
                            <a:lin ang="5400000" scaled="0"/>
                          </a:gradFill>
                          <a:latin typeface="+mn-lt"/>
                          <a:ea typeface="+mn-ea"/>
                          <a:cs typeface="+mn-cs"/>
                        </a:rPr>
                      </a:br>
                      <a:r>
                        <a:rPr lang="en-US" sz="1400" kern="1200" dirty="0" smtClean="0">
                          <a:gradFill>
                            <a:gsLst>
                              <a:gs pos="0">
                                <a:schemeClr val="tx1"/>
                              </a:gs>
                              <a:gs pos="100000">
                                <a:schemeClr val="tx1"/>
                              </a:gs>
                            </a:gsLst>
                            <a:lin ang="5400000" scaled="0"/>
                          </a:gradFill>
                          <a:latin typeface="+mn-lt"/>
                          <a:ea typeface="+mn-ea"/>
                          <a:cs typeface="+mn-cs"/>
                        </a:rPr>
                        <a:t>or </a:t>
                      </a:r>
                      <a:r>
                        <a:rPr lang="en-US" sz="1400" kern="1200" dirty="0">
                          <a:gradFill>
                            <a:gsLst>
                              <a:gs pos="0">
                                <a:schemeClr val="tx1"/>
                              </a:gs>
                              <a:gs pos="100000">
                                <a:schemeClr val="tx1"/>
                              </a:gs>
                            </a:gsLst>
                            <a:lin ang="5400000" scaled="0"/>
                          </a:gradFill>
                          <a:latin typeface="+mn-lt"/>
                          <a:ea typeface="+mn-ea"/>
                          <a:cs typeface="+mn-cs"/>
                        </a:rPr>
                        <a:t>no cost and IT </a:t>
                      </a:r>
                      <a:r>
                        <a:rPr lang="en-US" sz="1400" kern="1200" dirty="0" smtClean="0">
                          <a:gradFill>
                            <a:gsLst>
                              <a:gs pos="0">
                                <a:schemeClr val="tx1"/>
                              </a:gs>
                              <a:gs pos="100000">
                                <a:schemeClr val="tx1"/>
                              </a:gs>
                            </a:gsLst>
                            <a:lin ang="5400000" scaled="0"/>
                          </a:gradFill>
                          <a:latin typeface="+mn-lt"/>
                          <a:ea typeface="+mn-ea"/>
                          <a:cs typeface="+mn-cs"/>
                        </a:rPr>
                        <a:t>effort</a:t>
                      </a:r>
                    </a:p>
                    <a:p>
                      <a:pPr marL="342900" marR="0" lvl="0" indent="-223838">
                        <a:lnSpc>
                          <a:spcPct val="100000"/>
                        </a:lnSpc>
                        <a:spcBef>
                          <a:spcPts val="0"/>
                        </a:spcBef>
                        <a:spcAft>
                          <a:spcPts val="0"/>
                        </a:spcAft>
                        <a:buFont typeface="Symbol"/>
                        <a:buNone/>
                      </a:pPr>
                      <a:endParaRPr lang="en-US" sz="1000" dirty="0" smtClean="0">
                        <a:effectLst/>
                      </a:endParaRPr>
                    </a:p>
                  </a:txBody>
                  <a:tcPr marL="182880" marR="182880" marT="0" marB="0"/>
                </a:tc>
              </a:tr>
            </a:tbl>
          </a:graphicData>
        </a:graphic>
      </p:graphicFrame>
      <p:pic>
        <p:nvPicPr>
          <p:cNvPr id="26" name="Picture 25" descr="FASTSrchSvr2010-SP_h_rgb_r.png"/>
          <p:cNvPicPr>
            <a:picLocks noChangeAspect="1"/>
          </p:cNvPicPr>
          <p:nvPr/>
        </p:nvPicPr>
        <p:blipFill>
          <a:blip r:embed="rId4" cstate="print"/>
          <a:stretch>
            <a:fillRect/>
          </a:stretch>
        </p:blipFill>
        <p:spPr>
          <a:xfrm>
            <a:off x="304800" y="1945002"/>
            <a:ext cx="3470148" cy="699516"/>
          </a:xfrm>
          <a:prstGeom prst="rect">
            <a:avLst/>
          </a:prstGeom>
        </p:spPr>
      </p:pic>
      <p:pic>
        <p:nvPicPr>
          <p:cNvPr id="27" name="Picture 26" descr="Search-Svr10-Exp_h_rgb_r.png"/>
          <p:cNvPicPr>
            <a:picLocks noChangeAspect="1"/>
          </p:cNvPicPr>
          <p:nvPr/>
        </p:nvPicPr>
        <p:blipFill>
          <a:blip r:embed="rId5" cstate="print"/>
          <a:stretch>
            <a:fillRect/>
          </a:stretch>
        </p:blipFill>
        <p:spPr>
          <a:xfrm>
            <a:off x="304800" y="5248184"/>
            <a:ext cx="2761488" cy="736092"/>
          </a:xfrm>
          <a:prstGeom prst="rect">
            <a:avLst/>
          </a:prstGeom>
        </p:spPr>
      </p:pic>
      <p:pic>
        <p:nvPicPr>
          <p:cNvPr id="28" name="Picture 27" descr="ShrPt-Svr10_h_rgb_r.png"/>
          <p:cNvPicPr>
            <a:picLocks noChangeAspect="1"/>
          </p:cNvPicPr>
          <p:nvPr/>
        </p:nvPicPr>
        <p:blipFill>
          <a:blip r:embed="rId6" cstate="print"/>
          <a:stretch>
            <a:fillRect/>
          </a:stretch>
        </p:blipFill>
        <p:spPr>
          <a:xfrm>
            <a:off x="304800" y="3952784"/>
            <a:ext cx="3346704" cy="498348"/>
          </a:xfrm>
          <a:prstGeom prst="rect">
            <a:avLst/>
          </a:prstGeom>
        </p:spPr>
      </p:pic>
      <p:sp>
        <p:nvSpPr>
          <p:cNvPr id="9" name="TextBox 8"/>
          <p:cNvSpPr txBox="1"/>
          <p:nvPr/>
        </p:nvSpPr>
        <p:spPr>
          <a:xfrm>
            <a:off x="304800" y="3114584"/>
            <a:ext cx="3200400" cy="369332"/>
          </a:xfrm>
          <a:prstGeom prst="rect">
            <a:avLst/>
          </a:prstGeom>
          <a:noFill/>
        </p:spPr>
        <p:txBody>
          <a:bodyPr wrap="square" lIns="0" tIns="0" rIns="0" bIns="0" rtlCol="0">
            <a:spAutoFit/>
          </a:bodyPr>
          <a:lstStyle/>
          <a:p>
            <a:pPr algn="ctr"/>
            <a:r>
              <a:rPr lang="en-US" sz="1200" dirty="0" smtClean="0">
                <a:solidFill>
                  <a:schemeClr val="bg1"/>
                </a:solidFill>
              </a:rPr>
              <a:t>(Requires SharePoint Server 2010</a:t>
            </a:r>
          </a:p>
          <a:p>
            <a:pPr algn="ctr"/>
            <a:r>
              <a:rPr lang="en-US" sz="1200" dirty="0" smtClean="0">
                <a:solidFill>
                  <a:schemeClr val="bg1"/>
                </a:solidFill>
              </a:rPr>
              <a:t>and SharePoint Enterprise CAL)</a:t>
            </a:r>
            <a:endParaRPr lang="en-US" sz="1200" dirty="0">
              <a:solidFill>
                <a:schemeClr val="bg1"/>
              </a:solidFill>
            </a:endParaRPr>
          </a:p>
        </p:txBody>
      </p:sp>
    </p:spTree>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0" y="1066800"/>
            <a:ext cx="9144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SharePoint-The Core of a Web Strategy</a:t>
            </a:r>
            <a:endParaRPr kumimoji="0" lang="en-US" sz="36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5" name="Content Placeholder 4"/>
          <p:cNvGraphicFramePr>
            <a:graphicFrameLocks/>
          </p:cNvGraphicFramePr>
          <p:nvPr/>
        </p:nvGraphicFramePr>
        <p:xfrm>
          <a:off x="-923925" y="1981200"/>
          <a:ext cx="6943725" cy="391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ontent Placeholder 2"/>
          <p:cNvSpPr txBox="1">
            <a:spLocks/>
          </p:cNvSpPr>
          <p:nvPr/>
        </p:nvSpPr>
        <p:spPr>
          <a:xfrm>
            <a:off x="4800600" y="2179637"/>
            <a:ext cx="4343400" cy="4754563"/>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rgbClr val="333333"/>
                </a:solidFill>
                <a:effectLst/>
                <a:uLnTx/>
                <a:uFillTx/>
                <a:latin typeface="+mn-lt"/>
                <a:ea typeface="+mn-ea"/>
                <a:cs typeface="+mn-cs"/>
              </a:rPr>
              <a:t>Core Audiences</a:t>
            </a:r>
          </a:p>
          <a:p>
            <a:pPr marL="800100" lvl="1" indent="-342900">
              <a:spcBef>
                <a:spcPct val="20000"/>
              </a:spcBef>
              <a:buFontTx/>
              <a:buChar char="•"/>
              <a:defRPr/>
            </a:pPr>
            <a:r>
              <a:rPr kumimoji="0" lang="en-US" sz="2400" b="0" i="0" u="none" strike="noStrike" kern="0" cap="none" spc="0" normalizeH="0" baseline="0" noProof="0" dirty="0" smtClean="0">
                <a:ln>
                  <a:noFill/>
                </a:ln>
                <a:solidFill>
                  <a:srgbClr val="333333"/>
                </a:solidFill>
                <a:effectLst/>
                <a:uLnTx/>
                <a:uFillTx/>
                <a:latin typeface="+mn-lt"/>
                <a:ea typeface="+mn-ea"/>
                <a:cs typeface="+mn-cs"/>
              </a:rPr>
              <a:t>Intranet</a:t>
            </a:r>
          </a:p>
          <a:p>
            <a:pPr marL="1257300" lvl="2" indent="-342900">
              <a:spcBef>
                <a:spcPct val="20000"/>
              </a:spcBef>
              <a:buFontTx/>
              <a:buChar char="•"/>
              <a:defRPr/>
            </a:pPr>
            <a:r>
              <a:rPr lang="en-US" sz="2400" kern="0" dirty="0" smtClean="0">
                <a:solidFill>
                  <a:srgbClr val="333333"/>
                </a:solidFill>
                <a:latin typeface="+mn-lt"/>
              </a:rPr>
              <a:t>Internal employees</a:t>
            </a:r>
            <a:r>
              <a:rPr kumimoji="0" lang="en-US" sz="2400" b="0" i="0" u="none" strike="noStrike" kern="0" cap="none" spc="0" normalizeH="0" baseline="0" noProof="0" dirty="0" smtClean="0">
                <a:ln>
                  <a:noFill/>
                </a:ln>
                <a:solidFill>
                  <a:srgbClr val="333333"/>
                </a:solidFill>
                <a:effectLst/>
                <a:uLnTx/>
                <a:uFillTx/>
                <a:latin typeface="+mn-lt"/>
                <a:ea typeface="+mn-ea"/>
                <a:cs typeface="+mn-cs"/>
              </a:rPr>
              <a:t> </a:t>
            </a:r>
          </a:p>
          <a:p>
            <a:pPr marL="800100" lvl="1" indent="-342900">
              <a:spcBef>
                <a:spcPct val="20000"/>
              </a:spcBef>
              <a:buFontTx/>
              <a:buChar char="•"/>
              <a:defRPr/>
            </a:pPr>
            <a:r>
              <a:rPr lang="en-US" sz="2400" kern="0" dirty="0" smtClean="0">
                <a:solidFill>
                  <a:srgbClr val="333333"/>
                </a:solidFill>
                <a:latin typeface="+mn-lt"/>
              </a:rPr>
              <a:t>Extranet</a:t>
            </a:r>
          </a:p>
          <a:p>
            <a:pPr marL="1257300" lvl="2" indent="-342900">
              <a:spcBef>
                <a:spcPct val="20000"/>
              </a:spcBef>
              <a:buFontTx/>
              <a:buChar char="•"/>
              <a:defRPr/>
            </a:pPr>
            <a:r>
              <a:rPr lang="en-US" sz="2400" kern="0" dirty="0" smtClean="0">
                <a:solidFill>
                  <a:srgbClr val="333333"/>
                </a:solidFill>
                <a:latin typeface="+mn-lt"/>
              </a:rPr>
              <a:t>Customers</a:t>
            </a:r>
          </a:p>
          <a:p>
            <a:pPr marL="1257300" lvl="2" indent="-342900">
              <a:spcBef>
                <a:spcPct val="20000"/>
              </a:spcBef>
              <a:buFontTx/>
              <a:buChar char="•"/>
              <a:defRPr/>
            </a:pPr>
            <a:r>
              <a:rPr lang="en-US" sz="2400" kern="0" dirty="0" smtClean="0">
                <a:solidFill>
                  <a:srgbClr val="333333"/>
                </a:solidFill>
                <a:latin typeface="+mn-lt"/>
              </a:rPr>
              <a:t>Partners</a:t>
            </a:r>
          </a:p>
          <a:p>
            <a:pPr marL="800100" lvl="1" indent="-342900">
              <a:spcBef>
                <a:spcPct val="20000"/>
              </a:spcBef>
              <a:buFontTx/>
              <a:buChar char="•"/>
              <a:defRPr/>
            </a:pPr>
            <a:r>
              <a:rPr lang="en-US" sz="2400" kern="0" dirty="0" smtClean="0">
                <a:solidFill>
                  <a:srgbClr val="333333"/>
                </a:solidFill>
                <a:latin typeface="+mn-lt"/>
              </a:rPr>
              <a:t>Internet</a:t>
            </a:r>
          </a:p>
          <a:p>
            <a:pPr marL="1257300" lvl="2" indent="-342900">
              <a:spcBef>
                <a:spcPct val="20000"/>
              </a:spcBef>
              <a:buFontTx/>
              <a:buChar char="•"/>
              <a:defRPr/>
            </a:pPr>
            <a:r>
              <a:rPr lang="en-US" sz="2400" kern="0" dirty="0" smtClean="0">
                <a:solidFill>
                  <a:srgbClr val="333333"/>
                </a:solidFill>
                <a:latin typeface="+mn-lt"/>
              </a:rPr>
              <a:t>External web users </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rgbClr val="333333"/>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smtClean="0">
              <a:ln>
                <a:noFill/>
              </a:ln>
              <a:solidFill>
                <a:srgbClr val="333333"/>
              </a:solidFill>
              <a:effectLst/>
              <a:uLnTx/>
              <a:uFillTx/>
              <a:latin typeface="+mn-lt"/>
              <a:ea typeface="+mn-ea"/>
              <a:cs typeface="+mn-cs"/>
            </a:endParaRPr>
          </a:p>
          <a:p>
            <a:pPr marL="742950" marR="0" lvl="1" indent="-285750" algn="just"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smtClean="0">
              <a:ln>
                <a:noFill/>
              </a:ln>
              <a:solidFill>
                <a:srgbClr val="333333"/>
              </a:solidFill>
              <a:effectLst/>
              <a:uLnTx/>
              <a:uFillTx/>
              <a:latin typeface="+mn-lt"/>
            </a:endParaRP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endParaRPr kumimoji="0" lang="en-US" sz="3200" b="0" i="0" u="none" strike="noStrike" kern="0" cap="none" spc="0" normalizeH="0" baseline="0" noProof="0" dirty="0">
              <a:ln>
                <a:noFill/>
              </a:ln>
              <a:solidFill>
                <a:srgbClr val="333333"/>
              </a:solidFill>
              <a:effectLst/>
              <a:uLnTx/>
              <a:uFillTx/>
              <a:latin typeface="+mn-lt"/>
              <a:ea typeface="+mn-ea"/>
              <a:cs typeface="+mn-cs"/>
            </a:endParaRPr>
          </a:p>
        </p:txBody>
      </p:sp>
      <p:grpSp>
        <p:nvGrpSpPr>
          <p:cNvPr id="8" name="Group 83"/>
          <p:cNvGrpSpPr/>
          <p:nvPr/>
        </p:nvGrpSpPr>
        <p:grpSpPr>
          <a:xfrm>
            <a:off x="1752600" y="3683070"/>
            <a:ext cx="1600200" cy="1422329"/>
            <a:chOff x="-4185" y="2082467"/>
            <a:chExt cx="4122018" cy="3609483"/>
          </a:xfrm>
        </p:grpSpPr>
        <p:grpSp>
          <p:nvGrpSpPr>
            <p:cNvPr id="15" name="Group 50"/>
            <p:cNvGrpSpPr/>
            <p:nvPr/>
          </p:nvGrpSpPr>
          <p:grpSpPr>
            <a:xfrm>
              <a:off x="-4185" y="2085970"/>
              <a:ext cx="4122018" cy="3605980"/>
              <a:chOff x="-4186" y="2145975"/>
              <a:chExt cx="4001959" cy="3500951"/>
            </a:xfrm>
          </p:grpSpPr>
          <p:sp>
            <p:nvSpPr>
              <p:cNvPr id="20" name="Oval 19"/>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400">
                  <a:solidFill>
                    <a:srgbClr val="FFFFFF"/>
                  </a:solidFill>
                </a:endParaRPr>
              </a:p>
            </p:txBody>
          </p:sp>
          <p:pic>
            <p:nvPicPr>
              <p:cNvPr id="21" name="Picture 2" descr="\\SERVER3\Restrict\FTP_Root\Clients\White_Whale\2-20070_TAP_Airlift\Art\6-star pie cuts.png"/>
              <p:cNvPicPr>
                <a:picLocks noChangeAspect="1" noChangeArrowheads="1"/>
              </p:cNvPicPr>
              <p:nvPr/>
            </p:nvPicPr>
            <p:blipFill>
              <a:blip r:embed="rId7" cstate="print"/>
              <a:stretch>
                <a:fillRect/>
              </a:stretch>
            </p:blipFill>
            <p:spPr bwMode="auto">
              <a:xfrm rot="5400000">
                <a:off x="246318" y="1895471"/>
                <a:ext cx="3500951" cy="4001959"/>
              </a:xfrm>
              <a:prstGeom prst="rect">
                <a:avLst/>
              </a:prstGeom>
              <a:noFill/>
            </p:spPr>
          </p:pic>
        </p:grpSp>
        <p:grpSp>
          <p:nvGrpSpPr>
            <p:cNvPr id="16" name="Group 82"/>
            <p:cNvGrpSpPr/>
            <p:nvPr/>
          </p:nvGrpSpPr>
          <p:grpSpPr>
            <a:xfrm>
              <a:off x="388388" y="2082467"/>
              <a:ext cx="3297617" cy="3416111"/>
              <a:chOff x="388388" y="2082467"/>
              <a:chExt cx="3297617" cy="3416111"/>
            </a:xfrm>
          </p:grpSpPr>
          <p:sp>
            <p:nvSpPr>
              <p:cNvPr id="17" name="Oval 16"/>
              <p:cNvSpPr/>
              <p:nvPr/>
            </p:nvSpPr>
            <p:spPr bwMode="auto">
              <a:xfrm>
                <a:off x="388388" y="2082467"/>
                <a:ext cx="3297617" cy="3416111"/>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3200" dirty="0" err="1">
                  <a:solidFill>
                    <a:srgbClr val="FFFFFF"/>
                  </a:solidFill>
                  <a:latin typeface="Segoe" pitchFamily="34" charset="0"/>
                </a:endParaRPr>
              </a:p>
            </p:txBody>
          </p:sp>
          <p:pic>
            <p:nvPicPr>
              <p:cNvPr id="18" name="Content Placeholder 4" descr="ShrPt_h_rgb.png"/>
              <p:cNvPicPr>
                <a:picLocks noChangeAspect="1"/>
              </p:cNvPicPr>
              <p:nvPr/>
            </p:nvPicPr>
            <p:blipFill>
              <a:blip r:embed="rId8" cstate="print"/>
              <a:srcRect r="83105" b="-8078"/>
              <a:stretch>
                <a:fillRect/>
              </a:stretch>
            </p:blipFill>
            <p:spPr>
              <a:xfrm>
                <a:off x="1882721" y="3482810"/>
                <a:ext cx="453526" cy="539301"/>
              </a:xfrm>
              <a:prstGeom prst="rect">
                <a:avLst/>
              </a:prstGeom>
            </p:spPr>
          </p:pic>
          <p:pic>
            <p:nvPicPr>
              <p:cNvPr id="19" name="Content Placeholder 4" descr="ShrPt_h_rgb.png"/>
              <p:cNvPicPr>
                <a:picLocks noChangeAspect="1"/>
              </p:cNvPicPr>
              <p:nvPr/>
            </p:nvPicPr>
            <p:blipFill>
              <a:blip r:embed="rId9"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bwMode="auto">
          <a:xfrm>
            <a:off x="1" y="4073477"/>
            <a:ext cx="9144000" cy="1978351"/>
          </a:xfrm>
          <a:prstGeom prst="rect">
            <a:avLst/>
          </a:prstGeom>
          <a:gradFill flip="none" rotWithShape="1">
            <a:gsLst>
              <a:gs pos="0">
                <a:schemeClr val="bg1">
                  <a:alpha val="46000"/>
                </a:schemeClr>
              </a:gs>
              <a:gs pos="4000">
                <a:schemeClr val="bg1">
                  <a:alpha val="45000"/>
                </a:schemeClr>
              </a:gs>
              <a:gs pos="100000">
                <a:srgbClr val="181CC7">
                  <a:alpha val="0"/>
                </a:srgbClr>
              </a:gs>
            </a:gsLst>
            <a:lin ang="5400000" scaled="1"/>
            <a:tileRect/>
          </a:gra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ffectLst>
                <a:outerShdw blurRad="38100" dist="38100" dir="2700000" algn="tl">
                  <a:srgbClr val="000000">
                    <a:alpha val="43137"/>
                  </a:srgbClr>
                </a:outerShdw>
              </a:effectLst>
              <a:latin typeface="Segoe" pitchFamily="34" charset="0"/>
            </a:endParaRPr>
          </a:p>
        </p:txBody>
      </p:sp>
      <p:sp>
        <p:nvSpPr>
          <p:cNvPr id="20" name="&quot;GLASS&quot;; White to Transparent to White Linear; Shadow; 1pt stroke;"/>
          <p:cNvSpPr/>
          <p:nvPr/>
        </p:nvSpPr>
        <p:spPr bwMode="auto">
          <a:xfrm>
            <a:off x="4648200" y="2089428"/>
            <a:ext cx="4114800" cy="457200"/>
          </a:xfrm>
          <a:prstGeom prst="roundRect">
            <a:avLst>
              <a:gd name="adj" fmla="val 0"/>
            </a:avLst>
          </a:prstGeom>
          <a:solidFill>
            <a:schemeClr val="tx1"/>
          </a:soli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sp>
        <p:nvSpPr>
          <p:cNvPr id="2" name="Title 1"/>
          <p:cNvSpPr>
            <a:spLocks noGrp="1"/>
          </p:cNvSpPr>
          <p:nvPr>
            <p:ph type="title"/>
          </p:nvPr>
        </p:nvSpPr>
        <p:spPr>
          <a:xfrm>
            <a:off x="381000" y="1022628"/>
            <a:ext cx="8382000" cy="1163395"/>
          </a:xfrm>
        </p:spPr>
        <p:txBody>
          <a:bodyPr/>
          <a:lstStyle/>
          <a:p>
            <a:r>
              <a:rPr lang="en-US" sz="3600" dirty="0" smtClean="0"/>
              <a:t>SharePoint Online</a:t>
            </a:r>
            <a:endParaRPr lang="en-US" sz="3600" dirty="0">
              <a:gradFill>
                <a:gsLst>
                  <a:gs pos="50000">
                    <a:schemeClr val="accent2"/>
                  </a:gs>
                  <a:gs pos="100000">
                    <a:schemeClr val="accent2"/>
                  </a:gs>
                </a:gsLst>
                <a:lin ang="5400000" scaled="0"/>
              </a:gradFill>
            </a:endParaRPr>
          </a:p>
        </p:txBody>
      </p:sp>
      <p:sp>
        <p:nvSpPr>
          <p:cNvPr id="12" name="Rounded Rectangle 11"/>
          <p:cNvSpPr/>
          <p:nvPr/>
        </p:nvSpPr>
        <p:spPr bwMode="auto">
          <a:xfrm>
            <a:off x="4648200" y="2622828"/>
            <a:ext cx="4114800" cy="2057400"/>
          </a:xfrm>
          <a:prstGeom prst="roundRect">
            <a:avLst>
              <a:gd name="adj" fmla="val 0"/>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t" anchorCtr="0" compatLnSpc="1">
            <a:prstTxWarp prst="textNoShape">
              <a:avLst/>
            </a:prstTxWarp>
          </a:bodyPr>
          <a:lstStyle/>
          <a:p>
            <a:pPr marL="119063" indent="-119063" defTabSz="914099" fontAlgn="base">
              <a:spcBef>
                <a:spcPct val="0"/>
              </a:spcBef>
              <a:spcAft>
                <a:spcPct val="0"/>
              </a:spcAft>
            </a:pPr>
            <a:endParaRPr lang="en-US" sz="2000" dirty="0" smtClean="0">
              <a:gradFill>
                <a:gsLst>
                  <a:gs pos="0">
                    <a:srgbClr val="FFFFFF"/>
                  </a:gs>
                  <a:gs pos="100000">
                    <a:srgbClr val="FFFFFF"/>
                  </a:gs>
                </a:gsLst>
                <a:lin ang="5400000" scaled="0"/>
              </a:gradFill>
            </a:endParaRPr>
          </a:p>
        </p:txBody>
      </p:sp>
      <p:sp>
        <p:nvSpPr>
          <p:cNvPr id="13" name="Rounded Rectangle 12"/>
          <p:cNvSpPr/>
          <p:nvPr/>
        </p:nvSpPr>
        <p:spPr bwMode="auto">
          <a:xfrm>
            <a:off x="381000" y="2622828"/>
            <a:ext cx="4114800" cy="2057400"/>
          </a:xfrm>
          <a:prstGeom prst="roundRect">
            <a:avLst>
              <a:gd name="adj" fmla="val 0"/>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t" anchorCtr="0" compatLnSpc="1">
            <a:prstTxWarp prst="textNoShape">
              <a:avLst/>
            </a:prstTxWarp>
          </a:bodyPr>
          <a:lstStyle/>
          <a:p>
            <a:pPr lvl="1" algn="ctr" defTabSz="914099"/>
            <a:endParaRPr lang="en-US" sz="1600" dirty="0" smtClean="0">
              <a:gradFill>
                <a:gsLst>
                  <a:gs pos="0">
                    <a:srgbClr val="FFFFFF"/>
                  </a:gs>
                  <a:gs pos="100000">
                    <a:srgbClr val="FFFFFF"/>
                  </a:gs>
                </a:gsLst>
                <a:lin ang="5400000" scaled="0"/>
              </a:gradFill>
            </a:endParaRPr>
          </a:p>
        </p:txBody>
      </p:sp>
      <p:sp>
        <p:nvSpPr>
          <p:cNvPr id="14" name="&quot;GLASS&quot;; White to Transparent to White Linear; Shadow; 1pt stroke;"/>
          <p:cNvSpPr/>
          <p:nvPr/>
        </p:nvSpPr>
        <p:spPr bwMode="auto">
          <a:xfrm>
            <a:off x="381000" y="2089428"/>
            <a:ext cx="4114800" cy="457200"/>
          </a:xfrm>
          <a:prstGeom prst="roundRect">
            <a:avLst>
              <a:gd name="adj" fmla="val 0"/>
            </a:avLst>
          </a:prstGeom>
          <a:solidFill>
            <a:schemeClr val="tx1"/>
          </a:solidFill>
          <a:ln w="3175">
            <a:gradFill>
              <a:gsLst>
                <a:gs pos="0">
                  <a:schemeClr val="tx1">
                    <a:alpha val="50000"/>
                  </a:schemeClr>
                </a:gs>
                <a:gs pos="50000">
                  <a:schemeClr val="tx1">
                    <a:alpha val="11000"/>
                  </a:schemeClr>
                </a:gs>
                <a:gs pos="100000">
                  <a:schemeClr val="tx1">
                    <a:alpha val="0"/>
                  </a:schemeClr>
                </a:gs>
              </a:gsLst>
              <a:lin ang="5400000" scaled="0"/>
            </a:gra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6" tIns="45712" rIns="91426" bIns="45712" numCol="1" rtlCol="0" anchor="ctr" anchorCtr="0" compatLnSpc="1">
            <a:prstTxWarp prst="textNoShape">
              <a:avLst/>
            </a:prstTxWarp>
          </a:bodyPr>
          <a:lstStyle/>
          <a:p>
            <a:pPr indent="-227178" algn="ctr" defTabSz="914256" fontAlgn="base">
              <a:lnSpc>
                <a:spcPct val="90000"/>
              </a:lnSpc>
              <a:spcBef>
                <a:spcPct val="0"/>
              </a:spcBef>
              <a:spcAft>
                <a:spcPct val="0"/>
              </a:spcAft>
              <a:buSzPct val="70000"/>
              <a:buBlip>
                <a:blip r:embed="rId3"/>
              </a:buBlip>
              <a:defRPr/>
            </a:pPr>
            <a:endParaRPr lang="en-US" altLang="zh-CN" sz="1100" b="1" kern="0" dirty="0" smtClean="0">
              <a:gradFill>
                <a:gsLst>
                  <a:gs pos="0">
                    <a:schemeClr val="tx1"/>
                  </a:gs>
                  <a:gs pos="20000">
                    <a:schemeClr val="tx1"/>
                  </a:gs>
                </a:gsLst>
                <a:lin ang="15900000" scaled="0"/>
              </a:gradFill>
            </a:endParaRPr>
          </a:p>
        </p:txBody>
      </p:sp>
      <p:sp>
        <p:nvSpPr>
          <p:cNvPr id="15" name="TextBox 14"/>
          <p:cNvSpPr txBox="1"/>
          <p:nvPr/>
        </p:nvSpPr>
        <p:spPr>
          <a:xfrm>
            <a:off x="723900" y="2165628"/>
            <a:ext cx="3505200" cy="307777"/>
          </a:xfrm>
          <a:prstGeom prst="rect">
            <a:avLst/>
          </a:prstGeom>
          <a:noFill/>
        </p:spPr>
        <p:txBody>
          <a:bodyPr wrap="square" lIns="0" tIns="0" rIns="0" bIns="0" rtlCol="0">
            <a:spAutoFit/>
          </a:bodyPr>
          <a:lstStyle/>
          <a:p>
            <a:pPr algn="ctr"/>
            <a:r>
              <a:rPr lang="en-US" sz="2000" b="1" dirty="0" smtClean="0">
                <a:solidFill>
                  <a:schemeClr val="bg1"/>
                </a:solidFill>
              </a:rPr>
              <a:t>Intranet</a:t>
            </a:r>
          </a:p>
        </p:txBody>
      </p:sp>
      <p:sp>
        <p:nvSpPr>
          <p:cNvPr id="16" name="TextBox 15"/>
          <p:cNvSpPr txBox="1"/>
          <p:nvPr/>
        </p:nvSpPr>
        <p:spPr>
          <a:xfrm>
            <a:off x="4956048" y="2165628"/>
            <a:ext cx="3505200" cy="307777"/>
          </a:xfrm>
          <a:prstGeom prst="rect">
            <a:avLst/>
          </a:prstGeom>
          <a:noFill/>
        </p:spPr>
        <p:txBody>
          <a:bodyPr wrap="square" lIns="0" tIns="0" rIns="0" bIns="0" rtlCol="0">
            <a:spAutoFit/>
          </a:bodyPr>
          <a:lstStyle/>
          <a:p>
            <a:pPr algn="ctr"/>
            <a:r>
              <a:rPr lang="en-US" sz="2000" b="1" dirty="0" smtClean="0">
                <a:solidFill>
                  <a:schemeClr val="bg1"/>
                </a:solidFill>
              </a:rPr>
              <a:t>Internet/Extranet</a:t>
            </a:r>
          </a:p>
        </p:txBody>
      </p:sp>
      <p:pic>
        <p:nvPicPr>
          <p:cNvPr id="21" name="Picture 20" descr="ShrPt-Online_h_rgb.png"/>
          <p:cNvPicPr>
            <a:picLocks noChangeAspect="1"/>
          </p:cNvPicPr>
          <p:nvPr/>
        </p:nvPicPr>
        <p:blipFill>
          <a:blip r:embed="rId4"/>
          <a:stretch>
            <a:fillRect/>
          </a:stretch>
        </p:blipFill>
        <p:spPr>
          <a:xfrm>
            <a:off x="730250" y="2845078"/>
            <a:ext cx="2276666" cy="394526"/>
          </a:xfrm>
          <a:prstGeom prst="rect">
            <a:avLst/>
          </a:prstGeom>
        </p:spPr>
      </p:pic>
      <p:pic>
        <p:nvPicPr>
          <p:cNvPr id="23" name="Picture 22" descr="ShrPt-Online_h_rgb.png"/>
          <p:cNvPicPr>
            <a:picLocks noChangeAspect="1"/>
          </p:cNvPicPr>
          <p:nvPr/>
        </p:nvPicPr>
        <p:blipFill>
          <a:blip r:embed="rId4"/>
          <a:stretch>
            <a:fillRect/>
          </a:stretch>
        </p:blipFill>
        <p:spPr>
          <a:xfrm>
            <a:off x="5410200" y="2845078"/>
            <a:ext cx="2209800" cy="382939"/>
          </a:xfrm>
          <a:prstGeom prst="rect">
            <a:avLst/>
          </a:prstGeom>
        </p:spPr>
      </p:pic>
      <p:sp>
        <p:nvSpPr>
          <p:cNvPr id="24" name="Rounded Rectangle 23"/>
          <p:cNvSpPr/>
          <p:nvPr/>
        </p:nvSpPr>
        <p:spPr bwMode="auto">
          <a:xfrm>
            <a:off x="990600" y="3384828"/>
            <a:ext cx="3657600" cy="1447800"/>
          </a:xfrm>
          <a:prstGeom prst="roundRect">
            <a:avLst>
              <a:gd name="adj" fmla="val 0"/>
            </a:avLst>
          </a:prstGeom>
          <a:no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t" anchorCtr="0" compatLnSpc="1">
            <a:prstTxWarp prst="textNoShape">
              <a:avLst/>
            </a:prstTxWarp>
          </a:bodyPr>
          <a:lstStyle/>
          <a:p>
            <a:pPr marL="0" lvl="1">
              <a:lnSpc>
                <a:spcPct val="90000"/>
              </a:lnSpc>
              <a:spcBef>
                <a:spcPct val="20000"/>
              </a:spcBef>
              <a:spcAft>
                <a:spcPts val="600"/>
              </a:spcAft>
            </a:pPr>
            <a:r>
              <a:rPr lang="en-US" sz="1400" dirty="0" smtClean="0">
                <a:gradFill>
                  <a:gsLst>
                    <a:gs pos="0">
                      <a:schemeClr val="bg1"/>
                    </a:gs>
                    <a:gs pos="80000">
                      <a:schemeClr val="bg1"/>
                    </a:gs>
                  </a:gsLst>
                  <a:lin ang="16200000" scaled="0"/>
                </a:gradFill>
              </a:rPr>
              <a:t>Enterprise User Subscription License (USL)</a:t>
            </a:r>
          </a:p>
          <a:p>
            <a:pPr marL="0" lvl="1">
              <a:lnSpc>
                <a:spcPct val="90000"/>
              </a:lnSpc>
              <a:spcBef>
                <a:spcPct val="20000"/>
              </a:spcBef>
              <a:spcAft>
                <a:spcPts val="600"/>
              </a:spcAft>
            </a:pPr>
            <a:r>
              <a:rPr lang="en-US" sz="1400" dirty="0" smtClean="0">
                <a:gradFill>
                  <a:gsLst>
                    <a:gs pos="0">
                      <a:schemeClr val="bg1"/>
                    </a:gs>
                    <a:gs pos="80000">
                      <a:schemeClr val="bg1"/>
                    </a:gs>
                  </a:gsLst>
                  <a:lin ang="16200000" scaled="0"/>
                </a:gradFill>
              </a:rPr>
              <a:t>Standard User Subscription License (USL)</a:t>
            </a:r>
          </a:p>
          <a:p>
            <a:pPr marL="0" lvl="1">
              <a:lnSpc>
                <a:spcPct val="90000"/>
              </a:lnSpc>
              <a:spcBef>
                <a:spcPct val="20000"/>
              </a:spcBef>
              <a:spcAft>
                <a:spcPts val="600"/>
              </a:spcAft>
            </a:pPr>
            <a:r>
              <a:rPr lang="en-US" sz="1400" dirty="0" err="1" smtClean="0">
                <a:gradFill>
                  <a:gsLst>
                    <a:gs pos="0">
                      <a:schemeClr val="bg1"/>
                    </a:gs>
                    <a:gs pos="80000">
                      <a:schemeClr val="bg1"/>
                    </a:gs>
                  </a:gsLst>
                  <a:lin ang="16200000" scaled="0"/>
                </a:gradFill>
              </a:rPr>
              <a:t>Deskless</a:t>
            </a:r>
            <a:r>
              <a:rPr lang="en-US" sz="1400" dirty="0" smtClean="0">
                <a:gradFill>
                  <a:gsLst>
                    <a:gs pos="0">
                      <a:schemeClr val="bg1"/>
                    </a:gs>
                    <a:gs pos="80000">
                      <a:schemeClr val="bg1"/>
                    </a:gs>
                  </a:gsLst>
                  <a:lin ang="16200000" scaled="0"/>
                </a:gradFill>
              </a:rPr>
              <a:t> User Subscription License (USL)</a:t>
            </a:r>
          </a:p>
        </p:txBody>
      </p:sp>
      <p:sp>
        <p:nvSpPr>
          <p:cNvPr id="25" name="TextBox 24"/>
          <p:cNvSpPr txBox="1"/>
          <p:nvPr/>
        </p:nvSpPr>
        <p:spPr>
          <a:xfrm rot="20815153">
            <a:off x="601442" y="3504246"/>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smtClean="0">
                <a:solidFill>
                  <a:schemeClr val="bg1"/>
                </a:solidFill>
              </a:rPr>
              <a:t>New</a:t>
            </a:r>
            <a:endParaRPr lang="en-US" sz="1200" b="1" dirty="0">
              <a:solidFill>
                <a:schemeClr val="bg1"/>
              </a:solidFill>
            </a:endParaRPr>
          </a:p>
        </p:txBody>
      </p:sp>
      <p:sp>
        <p:nvSpPr>
          <p:cNvPr id="27" name="Rounded Rectangle 26"/>
          <p:cNvSpPr/>
          <p:nvPr/>
        </p:nvSpPr>
        <p:spPr bwMode="auto">
          <a:xfrm>
            <a:off x="5486400" y="3461028"/>
            <a:ext cx="3657600" cy="1447800"/>
          </a:xfrm>
          <a:prstGeom prst="roundRect">
            <a:avLst>
              <a:gd name="adj" fmla="val 0"/>
            </a:avLst>
          </a:prstGeom>
          <a:no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t" anchorCtr="0" compatLnSpc="1">
            <a:prstTxWarp prst="textNoShape">
              <a:avLst/>
            </a:prstTxWarp>
          </a:bodyPr>
          <a:lstStyle/>
          <a:p>
            <a:pPr marL="236538" lvl="1" indent="-236538">
              <a:lnSpc>
                <a:spcPct val="90000"/>
              </a:lnSpc>
              <a:spcBef>
                <a:spcPct val="20000"/>
              </a:spcBef>
              <a:spcAft>
                <a:spcPts val="600"/>
              </a:spcAft>
            </a:pPr>
            <a:r>
              <a:rPr lang="en-US" sz="1400" dirty="0" smtClean="0">
                <a:gradFill>
                  <a:gsLst>
                    <a:gs pos="0">
                      <a:schemeClr val="bg1"/>
                    </a:gs>
                    <a:gs pos="80000">
                      <a:schemeClr val="bg1"/>
                    </a:gs>
                  </a:gsLst>
                  <a:lin ang="16200000" scaled="0"/>
                </a:gradFill>
              </a:rPr>
              <a:t>	Internet Sites Offer</a:t>
            </a:r>
          </a:p>
          <a:p>
            <a:pPr marL="236538" lvl="1" indent="-236538">
              <a:lnSpc>
                <a:spcPct val="90000"/>
              </a:lnSpc>
              <a:spcBef>
                <a:spcPct val="20000"/>
              </a:spcBef>
              <a:spcAft>
                <a:spcPts val="600"/>
              </a:spcAft>
            </a:pPr>
            <a:r>
              <a:rPr lang="en-US" sz="1400" dirty="0" smtClean="0">
                <a:gradFill>
                  <a:gsLst>
                    <a:gs pos="0">
                      <a:schemeClr val="bg1"/>
                    </a:gs>
                    <a:gs pos="80000">
                      <a:schemeClr val="bg1"/>
                    </a:gs>
                  </a:gsLst>
                  <a:lin ang="16200000" scaled="0"/>
                </a:gradFill>
              </a:rPr>
              <a:t>	Partner Access Offer</a:t>
            </a:r>
          </a:p>
        </p:txBody>
      </p:sp>
      <p:sp>
        <p:nvSpPr>
          <p:cNvPr id="29" name="TextBox 28"/>
          <p:cNvSpPr txBox="1"/>
          <p:nvPr/>
        </p:nvSpPr>
        <p:spPr>
          <a:xfrm rot="20815153">
            <a:off x="5310477" y="3504245"/>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0" name="TextBox 29"/>
          <p:cNvSpPr txBox="1"/>
          <p:nvPr/>
        </p:nvSpPr>
        <p:spPr>
          <a:xfrm rot="20815153">
            <a:off x="5333708" y="3842752"/>
            <a:ext cx="328615" cy="184666"/>
          </a:xfrm>
          <a:prstGeom prst="rect">
            <a:avLst/>
          </a:prstGeom>
          <a:noFill/>
        </p:spPr>
        <p:txBody>
          <a:bodyPr wrap="none" lIns="0" tIns="0" rIns="0" bIns="0" rtlCol="0">
            <a:spAutoFit/>
          </a:bodyPr>
          <a:lstStyle/>
          <a:p>
            <a:pPr algn="ctr" fontAlgn="base">
              <a:spcBef>
                <a:spcPct val="0"/>
              </a:spcBef>
              <a:spcAft>
                <a:spcPct val="0"/>
              </a:spcAft>
            </a:pPr>
            <a:r>
              <a:rPr lang="en-US" sz="1200" b="1" dirty="0">
                <a:solidFill>
                  <a:schemeClr val="bg1"/>
                </a:solidFill>
              </a:rPr>
              <a:t>New</a:t>
            </a:r>
          </a:p>
        </p:txBody>
      </p:sp>
      <p:sp>
        <p:nvSpPr>
          <p:cNvPr id="31" name="Text Placeholder 2"/>
          <p:cNvSpPr txBox="1">
            <a:spLocks/>
          </p:cNvSpPr>
          <p:nvPr/>
        </p:nvSpPr>
        <p:spPr>
          <a:xfrm>
            <a:off x="304800" y="4985028"/>
            <a:ext cx="8534400" cy="1009507"/>
          </a:xfrm>
          <a:prstGeom prst="rect">
            <a:avLst/>
          </a:prstGeom>
        </p:spPr>
        <p:txBody>
          <a:bodyPr vert="horz" wrap="square" lIns="0" tIns="0" rIns="0" bIns="0" rtlCol="0">
            <a:spAutoFit/>
          </a:bodyPr>
          <a:lstStyle/>
          <a:p>
            <a:pPr marL="393700" marR="0" lvl="0" indent="-393700" algn="l" defTabSz="914363" rtl="0" eaLnBrk="1" fontAlgn="auto" latinLnBrk="0" hangingPunct="1">
              <a:lnSpc>
                <a:spcPct val="90000"/>
              </a:lnSpc>
              <a:spcBef>
                <a:spcPct val="20000"/>
              </a:spcBef>
              <a:spcAft>
                <a:spcPts val="0"/>
              </a:spcAft>
              <a:buClrTx/>
              <a:buSzTx/>
              <a:buFontTx/>
              <a:buBlip>
                <a:blip r:embed="rId5"/>
              </a:buBlip>
              <a:tabLst/>
              <a:defRPr/>
            </a:pPr>
            <a:r>
              <a:rPr kumimoji="0" lang="en-US" sz="2400" b="0" i="0" u="none" strike="noStrike" kern="1200" cap="none" spc="0" normalizeH="0" baseline="0" noProof="0" dirty="0" smtClean="0">
                <a:ln>
                  <a:noFill/>
                </a:ln>
                <a:gradFill>
                  <a:gsLst>
                    <a:gs pos="0">
                      <a:schemeClr val="tx1"/>
                    </a:gs>
                    <a:gs pos="100000">
                      <a:schemeClr val="tx1"/>
                    </a:gs>
                  </a:gsLst>
                  <a:lin ang="5400000" scaled="0"/>
                </a:gradFill>
                <a:effectLst/>
                <a:uLnTx/>
                <a:uFillTx/>
                <a:latin typeface="+mn-lt"/>
                <a:ea typeface="+mn-ea"/>
                <a:cs typeface="+mn-cs"/>
              </a:rPr>
              <a:t>Moving towards parity between on-premises and online</a:t>
            </a:r>
          </a:p>
          <a:p>
            <a:pPr marL="693738" marR="0" lvl="1" indent="-300038" algn="l" defTabSz="914363" rtl="0" eaLnBrk="1" fontAlgn="auto" latinLnBrk="0" hangingPunct="1">
              <a:lnSpc>
                <a:spcPct val="90000"/>
              </a:lnSpc>
              <a:spcBef>
                <a:spcPct val="20000"/>
              </a:spcBef>
              <a:spcAft>
                <a:spcPts val="0"/>
              </a:spcAft>
              <a:buClrTx/>
              <a:buSzTx/>
              <a:buFontTx/>
              <a:buBlip>
                <a:blip r:embed="rId6"/>
              </a:buBlip>
              <a:tabLst/>
              <a:defRPr/>
            </a:pPr>
            <a:r>
              <a:rPr kumimoji="0" lang="en-US" sz="2000" b="0" i="0" u="none" strike="noStrike" kern="1200" cap="none" spc="0" normalizeH="0" baseline="0" noProof="0" dirty="0" smtClean="0">
                <a:ln>
                  <a:noFill/>
                </a:ln>
                <a:gradFill>
                  <a:gsLst>
                    <a:gs pos="0">
                      <a:schemeClr val="tx1"/>
                    </a:gs>
                    <a:gs pos="100000">
                      <a:schemeClr val="tx1"/>
                    </a:gs>
                  </a:gsLst>
                  <a:lin ang="5400000" scaled="0"/>
                </a:gradFill>
                <a:effectLst/>
                <a:uLnTx/>
                <a:uFillTx/>
                <a:latin typeface="+mn-lt"/>
                <a:ea typeface="+mn-ea"/>
                <a:cs typeface="+mn-cs"/>
              </a:rPr>
              <a:t>Parity in features and scenarios enabled</a:t>
            </a:r>
          </a:p>
          <a:p>
            <a:pPr marL="693738" marR="0" lvl="1" indent="-300038" algn="l" defTabSz="914363" rtl="0" eaLnBrk="1" fontAlgn="auto" latinLnBrk="0" hangingPunct="1">
              <a:lnSpc>
                <a:spcPct val="90000"/>
              </a:lnSpc>
              <a:spcBef>
                <a:spcPct val="20000"/>
              </a:spcBef>
              <a:spcAft>
                <a:spcPts val="0"/>
              </a:spcAft>
              <a:buClrTx/>
              <a:buSzTx/>
              <a:buFontTx/>
              <a:buBlip>
                <a:blip r:embed="rId6"/>
              </a:buBlip>
              <a:tabLst/>
              <a:defRPr/>
            </a:pPr>
            <a:r>
              <a:rPr kumimoji="0" lang="en-US" sz="2000" b="0" i="0" u="none" strike="noStrike" kern="1200" cap="none" spc="0" normalizeH="0" baseline="0" noProof="0" dirty="0" smtClean="0">
                <a:ln>
                  <a:noFill/>
                </a:ln>
                <a:gradFill>
                  <a:gsLst>
                    <a:gs pos="0">
                      <a:schemeClr val="tx1"/>
                    </a:gs>
                    <a:gs pos="100000">
                      <a:schemeClr val="tx1"/>
                    </a:gs>
                  </a:gsLst>
                  <a:lin ang="5400000" scaled="0"/>
                </a:gradFill>
                <a:effectLst/>
                <a:uLnTx/>
                <a:uFillTx/>
                <a:latin typeface="+mn-lt"/>
                <a:ea typeface="+mn-ea"/>
                <a:cs typeface="+mn-cs"/>
              </a:rPr>
              <a:t>Introducing: Enterprise USL, Internet Sites, and Partner Access offers</a:t>
            </a:r>
            <a:endParaRPr kumimoji="0" lang="en-US" sz="2400" b="0" i="0" u="none" strike="noStrike" kern="1200" cap="none" spc="0" normalizeH="0" baseline="0" noProof="0" dirty="0" smtClean="0">
              <a:ln>
                <a:noFill/>
              </a:ln>
              <a:gradFill>
                <a:gsLst>
                  <a:gs pos="0">
                    <a:schemeClr val="tx1"/>
                  </a:gs>
                  <a:gs pos="100000">
                    <a:schemeClr val="tx1"/>
                  </a:gs>
                </a:gsLst>
                <a:lin ang="5400000" scaled="0"/>
              </a:gradFill>
              <a:effectLst/>
              <a:uLnTx/>
              <a:uFillTx/>
              <a:latin typeface="+mn-lt"/>
              <a:ea typeface="+mn-ea"/>
              <a:cs typeface="+mn-cs"/>
            </a:endParaRPr>
          </a:p>
        </p:txBody>
      </p:sp>
    </p:spTree>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Where did “Office” go?</a:t>
            </a:r>
          </a:p>
        </p:txBody>
      </p:sp>
      <p:sp>
        <p:nvSpPr>
          <p:cNvPr id="9219" name="Rectangle 34818"/>
          <p:cNvSpPr>
            <a:spLocks noGrp="1"/>
          </p:cNvSpPr>
          <p:nvPr>
            <p:ph type="body" idx="4294967295"/>
          </p:nvPr>
        </p:nvSpPr>
        <p:spPr>
          <a:xfrm>
            <a:off x="381000" y="2057400"/>
            <a:ext cx="8356600" cy="4419600"/>
          </a:xfrm>
        </p:spPr>
        <p:txBody>
          <a:bodyPr/>
          <a:lstStyle/>
          <a:p>
            <a:r>
              <a:rPr lang="en-US" sz="2400" dirty="0" smtClean="0"/>
              <a:t>Office has been dropped from the product name – NOT from the story.</a:t>
            </a:r>
          </a:p>
          <a:p>
            <a:r>
              <a:rPr lang="en-US" sz="2400" dirty="0" smtClean="0"/>
              <a:t>Continued “Better Together” story for Office Client and SharePoint</a:t>
            </a:r>
          </a:p>
          <a:p>
            <a:r>
              <a:rPr lang="en-US" sz="2400" dirty="0" smtClean="0"/>
              <a:t>Additional investment in server versions of Office Client Applications (Visio, Access)</a:t>
            </a:r>
            <a:endParaRPr lang="en-US" sz="2000" dirty="0" smtClean="0"/>
          </a:p>
          <a:p>
            <a:r>
              <a:rPr lang="en-US" sz="2400" dirty="0" smtClean="0"/>
              <a:t>Office Clients available in the web browser:</a:t>
            </a:r>
          </a:p>
          <a:p>
            <a:endParaRPr lang="en-US" sz="2400" dirty="0" smtClean="0"/>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grpSp>
        <p:nvGrpSpPr>
          <p:cNvPr id="5" name="Group 4"/>
          <p:cNvGrpSpPr/>
          <p:nvPr/>
        </p:nvGrpSpPr>
        <p:grpSpPr>
          <a:xfrm>
            <a:off x="4343400" y="5181600"/>
            <a:ext cx="3137219" cy="862124"/>
            <a:chOff x="623950" y="3956815"/>
            <a:chExt cx="3137219" cy="862124"/>
          </a:xfrm>
        </p:grpSpPr>
        <p:grpSp>
          <p:nvGrpSpPr>
            <p:cNvPr id="6" name="Group 15"/>
            <p:cNvGrpSpPr/>
            <p:nvPr/>
          </p:nvGrpSpPr>
          <p:grpSpPr>
            <a:xfrm>
              <a:off x="623950" y="3956815"/>
              <a:ext cx="3137219" cy="862124"/>
              <a:chOff x="443" y="907022"/>
              <a:chExt cx="3137219" cy="862124"/>
            </a:xfrm>
            <a:scene3d>
              <a:camera prst="orthographicFront"/>
              <a:lightRig rig="flat" dir="t"/>
            </a:scene3d>
          </p:grpSpPr>
          <p:sp>
            <p:nvSpPr>
              <p:cNvPr id="8" name="Rounded Rectangle 7"/>
              <p:cNvSpPr/>
              <p:nvPr/>
            </p:nvSpPr>
            <p:spPr>
              <a:xfrm>
                <a:off x="443" y="907022"/>
                <a:ext cx="3137219" cy="862124"/>
              </a:xfrm>
              <a:prstGeom prst="roundRect">
                <a:avLst/>
              </a:prstGeom>
              <a:sp3d prstMaterial="dkEdge">
                <a:bevelT w="820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sp>
          <p:sp>
            <p:nvSpPr>
              <p:cNvPr id="9" name="Rounded Rectangle 10"/>
              <p:cNvSpPr/>
              <p:nvPr/>
            </p:nvSpPr>
            <p:spPr>
              <a:xfrm>
                <a:off x="42528" y="949107"/>
                <a:ext cx="2991565" cy="77795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02870" tIns="51435" rIns="102870" bIns="51435" numCol="1" spcCol="1270" anchor="ctr" anchorCtr="0">
                <a:noAutofit/>
              </a:bodyPr>
              <a:lstStyle/>
              <a:p>
                <a:pPr lvl="0" algn="ctr" defTabSz="1200150">
                  <a:lnSpc>
                    <a:spcPct val="90000"/>
                  </a:lnSpc>
                  <a:spcBef>
                    <a:spcPct val="0"/>
                  </a:spcBef>
                  <a:spcAft>
                    <a:spcPct val="35000"/>
                  </a:spcAft>
                </a:pPr>
                <a:endParaRPr lang="en-US" sz="2700" kern="1200" dirty="0" smtClean="0"/>
              </a:p>
              <a:p>
                <a:pPr lvl="0" algn="ctr" defTabSz="1200150">
                  <a:lnSpc>
                    <a:spcPct val="90000"/>
                  </a:lnSpc>
                  <a:spcBef>
                    <a:spcPct val="0"/>
                  </a:spcBef>
                  <a:spcAft>
                    <a:spcPct val="35000"/>
                  </a:spcAft>
                </a:pPr>
                <a:r>
                  <a:rPr lang="en-US" sz="2000" kern="1200" dirty="0" smtClean="0"/>
                  <a:t>“Office Web Apps”</a:t>
                </a:r>
                <a:endParaRPr lang="en-US" sz="2000" kern="1200" dirty="0"/>
              </a:p>
            </p:txBody>
          </p:sp>
        </p:grpSp>
        <p:pic>
          <p:nvPicPr>
            <p:cNvPr id="7" name="Picture 6" descr="Ofc-Pro2010_rgb_r.png"/>
            <p:cNvPicPr>
              <a:picLocks noChangeAspect="1"/>
            </p:cNvPicPr>
            <p:nvPr/>
          </p:nvPicPr>
          <p:blipFill>
            <a:blip r:embed="rId3"/>
            <a:srcRect r="85833"/>
            <a:stretch>
              <a:fillRect/>
            </a:stretch>
          </p:blipFill>
          <p:spPr>
            <a:xfrm>
              <a:off x="1968885" y="4038600"/>
              <a:ext cx="447349" cy="442159"/>
            </a:xfrm>
            <a:prstGeom prst="rect">
              <a:avLst/>
            </a:prstGeom>
          </p:spPr>
        </p:pic>
      </p:gr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fade">
                                      <p:cBhvr>
                                        <p:cTn id="15" dur="500"/>
                                        <p:tgtEl>
                                          <p:spTgt spid="92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219">
                                            <p:txEl>
                                              <p:pRg st="3" end="3"/>
                                            </p:txEl>
                                          </p:spTgt>
                                        </p:tgtEl>
                                        <p:attrNameLst>
                                          <p:attrName>style.visibility</p:attrName>
                                        </p:attrNameLst>
                                      </p:cBhvr>
                                      <p:to>
                                        <p:strVal val="visible"/>
                                      </p:to>
                                    </p:set>
                                    <p:animEffect transition="in" filter="fade">
                                      <p:cBhvr>
                                        <p:cTn id="20" dur="500"/>
                                        <p:tgtEl>
                                          <p:spTgt spid="9219">
                                            <p:txEl>
                                              <p:pRg st="3" end="3"/>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Building Solutions with SharePoint</a:t>
            </a:r>
          </a:p>
        </p:txBody>
      </p:sp>
      <p:sp>
        <p:nvSpPr>
          <p:cNvPr id="9219" name="Rectangle 34818"/>
          <p:cNvSpPr>
            <a:spLocks noGrp="1"/>
          </p:cNvSpPr>
          <p:nvPr>
            <p:ph type="body" idx="4294967295"/>
          </p:nvPr>
        </p:nvSpPr>
        <p:spPr>
          <a:xfrm>
            <a:off x="381000" y="2057400"/>
            <a:ext cx="8356600" cy="4419600"/>
          </a:xfrm>
        </p:spPr>
        <p:txBody>
          <a:bodyPr/>
          <a:lstStyle/>
          <a:p>
            <a:r>
              <a:rPr lang="en-US" sz="2400" dirty="0" smtClean="0"/>
              <a:t>Out of the box functionality</a:t>
            </a:r>
          </a:p>
          <a:p>
            <a:r>
              <a:rPr lang="en-US" sz="2400" dirty="0" smtClean="0"/>
              <a:t>SharePoint Designer</a:t>
            </a:r>
          </a:p>
          <a:p>
            <a:r>
              <a:rPr lang="en-US" sz="2400" dirty="0" smtClean="0"/>
              <a:t>Visual Studio</a:t>
            </a:r>
          </a:p>
          <a:p>
            <a:r>
              <a:rPr lang="en-US" sz="2400" dirty="0" smtClean="0"/>
              <a:t>“Services”</a:t>
            </a:r>
          </a:p>
          <a:p>
            <a:pPr lvl="1"/>
            <a:r>
              <a:rPr lang="en-US" sz="2000" dirty="0" smtClean="0"/>
              <a:t>Forms</a:t>
            </a:r>
          </a:p>
          <a:p>
            <a:pPr lvl="1"/>
            <a:r>
              <a:rPr lang="en-US" sz="2000" dirty="0" smtClean="0"/>
              <a:t>Excel</a:t>
            </a:r>
          </a:p>
          <a:p>
            <a:pPr lvl="1"/>
            <a:r>
              <a:rPr lang="en-US" sz="2000" dirty="0" smtClean="0"/>
              <a:t>Access</a:t>
            </a:r>
          </a:p>
          <a:p>
            <a:pPr lvl="1"/>
            <a:r>
              <a:rPr lang="en-US" sz="2000" dirty="0" smtClean="0"/>
              <a:t>Visio</a:t>
            </a:r>
          </a:p>
          <a:p>
            <a:endParaRPr lang="en-US" sz="2400" dirty="0" smtClean="0"/>
          </a:p>
          <a:p>
            <a:r>
              <a:rPr lang="en-US" sz="2400" dirty="0" smtClean="0"/>
              <a:t>Bar showing OOB, SPD, VS – how there is more of each, + services, etc…</a:t>
            </a:r>
          </a:p>
          <a:p>
            <a:endParaRPr lang="en-US" sz="2400" dirty="0" smtClean="0"/>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4817"/>
          <p:cNvSpPr>
            <a:spLocks noGrp="1"/>
          </p:cNvSpPr>
          <p:nvPr>
            <p:ph type="title" idx="4294967295"/>
          </p:nvPr>
        </p:nvSpPr>
        <p:spPr>
          <a:xfrm>
            <a:off x="381000" y="1219200"/>
            <a:ext cx="8610600" cy="750888"/>
          </a:xfrm>
        </p:spPr>
        <p:txBody>
          <a:bodyPr/>
          <a:lstStyle/>
          <a:p>
            <a:pPr algn="l" eaLnBrk="1" hangingPunct="1"/>
            <a:r>
              <a:rPr lang="en-US" sz="2800" dirty="0" smtClean="0"/>
              <a:t>2010 is a BIG release</a:t>
            </a:r>
            <a:endParaRPr lang="en-US" sz="2800" dirty="0" smtClean="0"/>
          </a:p>
        </p:txBody>
      </p:sp>
      <p:sp>
        <p:nvSpPr>
          <p:cNvPr id="9220" name="TextBox 4"/>
          <p:cNvSpPr txBox="1">
            <a:spLocks noChangeArrowheads="1"/>
          </p:cNvSpPr>
          <p:nvPr/>
        </p:nvSpPr>
        <p:spPr bwMode="auto">
          <a:xfrm>
            <a:off x="990600" y="6629400"/>
            <a:ext cx="2405063" cy="553998"/>
          </a:xfrm>
          <a:prstGeom prst="rect">
            <a:avLst/>
          </a:prstGeom>
          <a:noFill/>
          <a:ln w="9525" algn="ctr">
            <a:noFill/>
            <a:miter lim="800000"/>
            <a:headEnd/>
            <a:tailEnd/>
          </a:ln>
        </p:spPr>
        <p:txBody>
          <a:bodyPr wrap="square">
            <a:spAutoFit/>
          </a:bodyPr>
          <a:lstStyle/>
          <a:p>
            <a:pPr>
              <a:spcBef>
                <a:spcPct val="50000"/>
              </a:spcBef>
            </a:pPr>
            <a:r>
              <a:rPr lang="en-US" sz="1200" dirty="0">
                <a:solidFill>
                  <a:srgbClr val="D8D8D8"/>
                </a:solidFill>
                <a:latin typeface="Calibri" pitchFamily="34" charset="0"/>
              </a:rPr>
              <a:t>http://www.sharepointmn.com</a:t>
            </a:r>
          </a:p>
          <a:p>
            <a:pPr>
              <a:spcBef>
                <a:spcPct val="50000"/>
              </a:spcBef>
            </a:pPr>
            <a:endParaRPr lang="en-US" sz="1200" dirty="0">
              <a:solidFill>
                <a:srgbClr val="D8D8D8"/>
              </a:solidFill>
              <a:latin typeface="Calibri" pitchFamily="34" charset="0"/>
            </a:endParaRPr>
          </a:p>
        </p:txBody>
      </p:sp>
      <p:sp>
        <p:nvSpPr>
          <p:cNvPr id="5" name="Rectangle 4"/>
          <p:cNvSpPr/>
          <p:nvPr/>
        </p:nvSpPr>
        <p:spPr>
          <a:xfrm>
            <a:off x="228600" y="6248400"/>
            <a:ext cx="1828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Team Services</a:t>
            </a:r>
            <a:endParaRPr lang="en-US" sz="1400" b="1" dirty="0">
              <a:solidFill>
                <a:schemeClr val="tx1"/>
              </a:solidFill>
            </a:endParaRPr>
          </a:p>
        </p:txBody>
      </p:sp>
      <p:sp>
        <p:nvSpPr>
          <p:cNvPr id="6" name="Rectangle 5"/>
          <p:cNvSpPr/>
          <p:nvPr/>
        </p:nvSpPr>
        <p:spPr>
          <a:xfrm>
            <a:off x="228600" y="5867400"/>
            <a:ext cx="2514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SharePoint Portal Server 2001</a:t>
            </a:r>
            <a:endParaRPr lang="en-US" sz="1400" b="1" dirty="0">
              <a:solidFill>
                <a:schemeClr val="tx1"/>
              </a:solidFill>
            </a:endParaRPr>
          </a:p>
        </p:txBody>
      </p:sp>
      <p:sp>
        <p:nvSpPr>
          <p:cNvPr id="7" name="Rectangle 6"/>
          <p:cNvSpPr/>
          <p:nvPr/>
        </p:nvSpPr>
        <p:spPr>
          <a:xfrm>
            <a:off x="228600" y="5334000"/>
            <a:ext cx="2895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WSS V2.0</a:t>
            </a:r>
            <a:endParaRPr lang="en-US" sz="1400" b="1" dirty="0">
              <a:solidFill>
                <a:schemeClr val="tx1"/>
              </a:solidFill>
            </a:endParaRPr>
          </a:p>
        </p:txBody>
      </p:sp>
      <p:sp>
        <p:nvSpPr>
          <p:cNvPr id="8" name="Rectangle 7"/>
          <p:cNvSpPr/>
          <p:nvPr/>
        </p:nvSpPr>
        <p:spPr>
          <a:xfrm>
            <a:off x="228600" y="4953000"/>
            <a:ext cx="4648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SharePoint Portal Server 2003</a:t>
            </a:r>
            <a:endParaRPr lang="en-US" sz="1400" b="1" dirty="0">
              <a:solidFill>
                <a:schemeClr val="tx1"/>
              </a:solidFill>
            </a:endParaRPr>
          </a:p>
        </p:txBody>
      </p:sp>
      <p:sp>
        <p:nvSpPr>
          <p:cNvPr id="9" name="Rectangle 8"/>
          <p:cNvSpPr/>
          <p:nvPr/>
        </p:nvSpPr>
        <p:spPr>
          <a:xfrm>
            <a:off x="228600" y="4419600"/>
            <a:ext cx="5715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WSS V3.0</a:t>
            </a:r>
            <a:endParaRPr lang="en-US" sz="1400" b="1" dirty="0">
              <a:solidFill>
                <a:schemeClr val="tx1"/>
              </a:solidFill>
            </a:endParaRPr>
          </a:p>
        </p:txBody>
      </p:sp>
      <p:sp>
        <p:nvSpPr>
          <p:cNvPr id="10" name="Rectangle 9"/>
          <p:cNvSpPr/>
          <p:nvPr/>
        </p:nvSpPr>
        <p:spPr>
          <a:xfrm>
            <a:off x="228600" y="4038600"/>
            <a:ext cx="7461584"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Microsoft Office SharePoint Server 2007</a:t>
            </a:r>
            <a:endParaRPr lang="en-US" sz="1400" b="1" dirty="0">
              <a:solidFill>
                <a:schemeClr val="tx1"/>
              </a:solidFill>
            </a:endParaRPr>
          </a:p>
        </p:txBody>
      </p:sp>
      <p:sp>
        <p:nvSpPr>
          <p:cNvPr id="11" name="Rectangle 10"/>
          <p:cNvSpPr/>
          <p:nvPr/>
        </p:nvSpPr>
        <p:spPr>
          <a:xfrm>
            <a:off x="228600" y="2971800"/>
            <a:ext cx="7162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SharePoint Foundation 2010</a:t>
            </a:r>
            <a:endParaRPr lang="en-US" sz="2400" b="1" dirty="0">
              <a:solidFill>
                <a:schemeClr val="tx1"/>
              </a:solidFill>
            </a:endParaRPr>
          </a:p>
        </p:txBody>
      </p:sp>
      <p:sp>
        <p:nvSpPr>
          <p:cNvPr id="12" name="Rectangle 11"/>
          <p:cNvSpPr/>
          <p:nvPr/>
        </p:nvSpPr>
        <p:spPr>
          <a:xfrm>
            <a:off x="228600" y="2057400"/>
            <a:ext cx="876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SharePoint Server 2010</a:t>
            </a:r>
            <a:endParaRPr lang="en-US" sz="2400" b="1" dirty="0">
              <a:solidFill>
                <a:schemeClr val="tx1"/>
              </a:solidFill>
            </a:endParaRPr>
          </a:p>
        </p:txBody>
      </p:sp>
    </p:spTree>
    <p:extLst>
      <p:ext uri="{BB962C8B-B14F-4D97-AF65-F5344CB8AC3E}">
        <p14:creationId xmlns:p14="http://schemas.microsoft.com/office/powerpoint/2007/7/12/main" xmlns="" val="164085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bwMode="auto">
          <a:xfrm>
            <a:off x="304800" y="1905000"/>
            <a:ext cx="2017724" cy="39624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23" name="Title 22"/>
          <p:cNvSpPr>
            <a:spLocks noGrp="1"/>
          </p:cNvSpPr>
          <p:nvPr>
            <p:ph type="title"/>
          </p:nvPr>
        </p:nvSpPr>
        <p:spPr/>
        <p:txBody>
          <a:bodyPr/>
          <a:lstStyle/>
          <a:p>
            <a:r>
              <a:rPr lang="en-US" sz="3600" dirty="0" smtClean="0"/>
              <a:t>SharePoint Core Features</a:t>
            </a:r>
            <a:br>
              <a:rPr lang="en-US" sz="3600" dirty="0" smtClean="0"/>
            </a:br>
            <a:endParaRPr lang="en-US" sz="3600" dirty="0"/>
          </a:p>
        </p:txBody>
      </p:sp>
      <p:sp>
        <p:nvSpPr>
          <p:cNvPr id="25" name="TextBox 24"/>
          <p:cNvSpPr txBox="1"/>
          <p:nvPr/>
        </p:nvSpPr>
        <p:spPr>
          <a:xfrm>
            <a:off x="458806" y="2057401"/>
            <a:ext cx="2131994" cy="2646878"/>
          </a:xfrm>
          <a:prstGeom prst="rect">
            <a:avLst/>
          </a:prstGeom>
        </p:spPr>
        <p:txBody>
          <a:bodyPr vert="horz" wrap="square" lIns="0" tIns="0" rIns="0" bIns="0" rtlCol="0">
            <a:spAutoFit/>
          </a:bodyPr>
          <a:lstStyle/>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r>
              <a:rPr lang="en-US" sz="2000" dirty="0" smtClean="0"/>
              <a:t>Sites</a:t>
            </a:r>
          </a:p>
          <a:p>
            <a:pPr>
              <a:lnSpc>
                <a:spcPct val="90000"/>
              </a:lnSpc>
              <a:spcBef>
                <a:spcPct val="20000"/>
              </a:spcBef>
              <a:buClr>
                <a:srgbClr val="777777"/>
              </a:buClr>
              <a:buSzPct val="130000"/>
            </a:pPr>
            <a:r>
              <a:rPr lang="en-US" sz="2000" dirty="0" smtClean="0"/>
              <a:t>Lists / Libraries</a:t>
            </a:r>
          </a:p>
          <a:p>
            <a:pPr>
              <a:lnSpc>
                <a:spcPct val="90000"/>
              </a:lnSpc>
              <a:spcBef>
                <a:spcPct val="20000"/>
              </a:spcBef>
              <a:buClr>
                <a:srgbClr val="777777"/>
              </a:buClr>
              <a:buSzPct val="130000"/>
            </a:pPr>
            <a:r>
              <a:rPr lang="en-US" sz="2000" dirty="0" smtClean="0"/>
              <a:t>Web Parts</a:t>
            </a:r>
          </a:p>
          <a:p>
            <a:pPr>
              <a:lnSpc>
                <a:spcPct val="90000"/>
              </a:lnSpc>
              <a:spcBef>
                <a:spcPct val="20000"/>
              </a:spcBef>
              <a:buClr>
                <a:srgbClr val="777777"/>
              </a:buClr>
              <a:buSzPct val="130000"/>
            </a:pPr>
            <a:r>
              <a:rPr lang="en-US" sz="2000" dirty="0" smtClean="0"/>
              <a:t>Pages</a:t>
            </a:r>
          </a:p>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endParaRPr lang="en-US" sz="2000" dirty="0" smtClean="0"/>
          </a:p>
        </p:txBody>
      </p:sp>
      <p:grpSp>
        <p:nvGrpSpPr>
          <p:cNvPr id="2" name="Group 25"/>
          <p:cNvGrpSpPr/>
          <p:nvPr/>
        </p:nvGrpSpPr>
        <p:grpSpPr>
          <a:xfrm>
            <a:off x="2286000" y="1862344"/>
            <a:ext cx="4496217" cy="4005056"/>
            <a:chOff x="-406294" y="1828799"/>
            <a:chExt cx="6094413" cy="3962400"/>
          </a:xfrm>
        </p:grpSpPr>
        <p:grpSp>
          <p:nvGrpSpPr>
            <p:cNvPr id="3" name="Group 83"/>
            <p:cNvGrpSpPr/>
            <p:nvPr/>
          </p:nvGrpSpPr>
          <p:grpSpPr>
            <a:xfrm>
              <a:off x="-406294" y="1828799"/>
              <a:ext cx="6094413" cy="3962400"/>
              <a:chOff x="-4185" y="2085973"/>
              <a:chExt cx="4122018" cy="3605979"/>
            </a:xfrm>
          </p:grpSpPr>
          <p:grpSp>
            <p:nvGrpSpPr>
              <p:cNvPr id="4" name="Group 50"/>
              <p:cNvGrpSpPr/>
              <p:nvPr/>
            </p:nvGrpSpPr>
            <p:grpSpPr>
              <a:xfrm>
                <a:off x="-4185" y="2085973"/>
                <a:ext cx="4122018" cy="3605979"/>
                <a:chOff x="-4186" y="2145978"/>
                <a:chExt cx="4001959" cy="3500950"/>
              </a:xfrm>
            </p:grpSpPr>
            <p:sp>
              <p:nvSpPr>
                <p:cNvPr id="39" name="Oval 38"/>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000">
                    <a:solidFill>
                      <a:srgbClr val="FFFFFF"/>
                    </a:solidFill>
                  </a:endParaRPr>
                </a:p>
              </p:txBody>
            </p:sp>
            <p:pic>
              <p:nvPicPr>
                <p:cNvPr id="40" name="Picture 2" descr="\\SERVER3\Restrict\FTP_Root\Clients\White_Whale\2-20070_TAP_Airlift\Art\6-star pie cuts.png"/>
                <p:cNvPicPr>
                  <a:picLocks noChangeAspect="1" noChangeArrowheads="1"/>
                </p:cNvPicPr>
                <p:nvPr/>
              </p:nvPicPr>
              <p:blipFill>
                <a:blip r:embed="rId3" cstate="print"/>
                <a:stretch>
                  <a:fillRect/>
                </a:stretch>
              </p:blipFill>
              <p:spPr bwMode="auto">
                <a:xfrm rot="5400000">
                  <a:off x="246319" y="1895473"/>
                  <a:ext cx="3500950" cy="4001959"/>
                </a:xfrm>
                <a:prstGeom prst="rect">
                  <a:avLst/>
                </a:prstGeom>
                <a:noFill/>
              </p:spPr>
            </p:pic>
          </p:grpSp>
          <p:grpSp>
            <p:nvGrpSpPr>
              <p:cNvPr id="5" name="Group 82"/>
              <p:cNvGrpSpPr/>
              <p:nvPr/>
            </p:nvGrpSpPr>
            <p:grpSpPr>
              <a:xfrm>
                <a:off x="1197089" y="3056816"/>
                <a:ext cx="1774433" cy="1838194"/>
                <a:chOff x="1197089" y="3056816"/>
                <a:chExt cx="1774433" cy="1838194"/>
              </a:xfrm>
            </p:grpSpPr>
            <p:sp>
              <p:nvSpPr>
                <p:cNvPr id="36" name="Oval 35"/>
                <p:cNvSpPr/>
                <p:nvPr/>
              </p:nvSpPr>
              <p:spPr bwMode="auto">
                <a:xfrm>
                  <a:off x="1197089" y="3056816"/>
                  <a:ext cx="1774433" cy="1838194"/>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800" dirty="0" err="1">
                    <a:solidFill>
                      <a:srgbClr val="FFFFFF"/>
                    </a:solidFill>
                    <a:latin typeface="Segoe" pitchFamily="34" charset="0"/>
                  </a:endParaRPr>
                </a:p>
              </p:txBody>
            </p:sp>
            <p:pic>
              <p:nvPicPr>
                <p:cNvPr id="37" name="Content Placeholder 4" descr="ShrPt_h_rgb.png"/>
                <p:cNvPicPr>
                  <a:picLocks noChangeAspect="1"/>
                </p:cNvPicPr>
                <p:nvPr/>
              </p:nvPicPr>
              <p:blipFill>
                <a:blip r:embed="rId4" cstate="print"/>
                <a:srcRect r="83105" b="-8078"/>
                <a:stretch>
                  <a:fillRect/>
                </a:stretch>
              </p:blipFill>
              <p:spPr>
                <a:xfrm>
                  <a:off x="1882721" y="3482810"/>
                  <a:ext cx="453526" cy="539301"/>
                </a:xfrm>
                <a:prstGeom prst="rect">
                  <a:avLst/>
                </a:prstGeom>
              </p:spPr>
            </p:pic>
            <p:pic>
              <p:nvPicPr>
                <p:cNvPr id="38" name="Content Placeholder 4" descr="ShrPt_h_rgb.png"/>
                <p:cNvPicPr>
                  <a:picLocks noChangeAspect="1"/>
                </p:cNvPicPr>
                <p:nvPr/>
              </p:nvPicPr>
              <p:blipFill>
                <a:blip r:embed="rId4"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
          <p:nvSpPr>
            <p:cNvPr id="28" name="Rectangle 27"/>
            <p:cNvSpPr/>
            <p:nvPr/>
          </p:nvSpPr>
          <p:spPr>
            <a:xfrm>
              <a:off x="3189355" y="3124200"/>
              <a:ext cx="1889320" cy="389758"/>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Communities</a:t>
              </a:r>
            </a:p>
          </p:txBody>
        </p:sp>
        <p:sp>
          <p:nvSpPr>
            <p:cNvPr id="29" name="Rectangle 28"/>
            <p:cNvSpPr/>
            <p:nvPr/>
          </p:nvSpPr>
          <p:spPr>
            <a:xfrm>
              <a:off x="1726749" y="5055692"/>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Search</a:t>
              </a:r>
            </a:p>
          </p:txBody>
        </p:sp>
        <p:sp>
          <p:nvSpPr>
            <p:cNvPr id="30" name="Rectangle 29"/>
            <p:cNvSpPr/>
            <p:nvPr/>
          </p:nvSpPr>
          <p:spPr>
            <a:xfrm>
              <a:off x="1726752" y="2514600"/>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Sites</a:t>
              </a:r>
            </a:p>
          </p:txBody>
        </p:sp>
        <p:sp>
          <p:nvSpPr>
            <p:cNvPr id="31" name="Rectangle 30"/>
            <p:cNvSpPr/>
            <p:nvPr/>
          </p:nvSpPr>
          <p:spPr>
            <a:xfrm>
              <a:off x="66375" y="3124200"/>
              <a:ext cx="206667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Composites</a:t>
              </a:r>
            </a:p>
          </p:txBody>
        </p:sp>
        <p:sp>
          <p:nvSpPr>
            <p:cNvPr id="32" name="Rectangle 31"/>
            <p:cNvSpPr/>
            <p:nvPr/>
          </p:nvSpPr>
          <p:spPr>
            <a:xfrm>
              <a:off x="3555073" y="4292914"/>
              <a:ext cx="1366217"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Content</a:t>
              </a:r>
            </a:p>
          </p:txBody>
        </p:sp>
        <p:sp>
          <p:nvSpPr>
            <p:cNvPr id="33" name="Rectangle 32"/>
            <p:cNvSpPr/>
            <p:nvPr/>
          </p:nvSpPr>
          <p:spPr>
            <a:xfrm>
              <a:off x="406295" y="4292914"/>
              <a:ext cx="1334322"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Insights</a:t>
              </a:r>
            </a:p>
          </p:txBody>
        </p:sp>
      </p:grpSp>
      <p:sp>
        <p:nvSpPr>
          <p:cNvPr id="27" name="Rounded Rectangle 26"/>
          <p:cNvSpPr/>
          <p:nvPr/>
        </p:nvSpPr>
        <p:spPr bwMode="auto">
          <a:xfrm>
            <a:off x="6707206" y="1905000"/>
            <a:ext cx="2017724" cy="39624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34" name="TextBox 33"/>
          <p:cNvSpPr txBox="1"/>
          <p:nvPr/>
        </p:nvSpPr>
        <p:spPr>
          <a:xfrm>
            <a:off x="6859606" y="2057401"/>
            <a:ext cx="2131994" cy="2985433"/>
          </a:xfrm>
          <a:prstGeom prst="rect">
            <a:avLst/>
          </a:prstGeom>
        </p:spPr>
        <p:txBody>
          <a:bodyPr vert="horz" wrap="square" lIns="0" tIns="0" rIns="0" bIns="0" rtlCol="0">
            <a:spAutoFit/>
          </a:bodyPr>
          <a:lstStyle/>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r>
              <a:rPr lang="en-US" sz="2000" dirty="0" smtClean="0"/>
              <a:t>Alerts</a:t>
            </a:r>
          </a:p>
          <a:p>
            <a:pPr>
              <a:lnSpc>
                <a:spcPct val="90000"/>
              </a:lnSpc>
              <a:spcBef>
                <a:spcPct val="20000"/>
              </a:spcBef>
              <a:buClr>
                <a:srgbClr val="777777"/>
              </a:buClr>
              <a:buSzPct val="130000"/>
            </a:pPr>
            <a:r>
              <a:rPr lang="en-US" sz="2000" dirty="0" smtClean="0"/>
              <a:t>Versioning</a:t>
            </a:r>
          </a:p>
          <a:p>
            <a:pPr>
              <a:lnSpc>
                <a:spcPct val="90000"/>
              </a:lnSpc>
              <a:spcBef>
                <a:spcPct val="20000"/>
              </a:spcBef>
              <a:buClr>
                <a:srgbClr val="777777"/>
              </a:buClr>
              <a:buSzPct val="130000"/>
            </a:pPr>
            <a:r>
              <a:rPr lang="en-US" sz="2000" dirty="0" smtClean="0"/>
              <a:t>Metadata</a:t>
            </a:r>
          </a:p>
          <a:p>
            <a:pPr>
              <a:lnSpc>
                <a:spcPct val="90000"/>
              </a:lnSpc>
              <a:spcBef>
                <a:spcPct val="20000"/>
              </a:spcBef>
              <a:buClr>
                <a:srgbClr val="777777"/>
              </a:buClr>
              <a:buSzPct val="130000"/>
            </a:pPr>
            <a:r>
              <a:rPr lang="en-US" sz="2000" dirty="0" smtClean="0"/>
              <a:t>Workflow</a:t>
            </a:r>
          </a:p>
          <a:p>
            <a:pPr>
              <a:lnSpc>
                <a:spcPct val="90000"/>
              </a:lnSpc>
              <a:spcBef>
                <a:spcPct val="20000"/>
              </a:spcBef>
              <a:buClr>
                <a:srgbClr val="777777"/>
              </a:buClr>
              <a:buSzPct val="130000"/>
            </a:pPr>
            <a:r>
              <a:rPr lang="en-US" sz="2000" dirty="0" smtClean="0"/>
              <a:t>Security</a:t>
            </a:r>
          </a:p>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endParaRPr lang="en-US" sz="2000" dirty="0" smtClean="0"/>
          </a:p>
          <a:p>
            <a:pPr>
              <a:lnSpc>
                <a:spcPct val="90000"/>
              </a:lnSpc>
              <a:spcBef>
                <a:spcPct val="20000"/>
              </a:spcBef>
              <a:buClr>
                <a:srgbClr val="777777"/>
              </a:buClr>
              <a:buSzPct val="130000"/>
            </a:pPr>
            <a:endParaRPr lang="en-US" sz="2000" dirty="0" smtClean="0"/>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5" grpId="0"/>
      <p:bldP spid="27" grpId="0" animBg="1"/>
      <p:bldP spid="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bwMode="auto">
          <a:xfrm>
            <a:off x="304800" y="1676400"/>
            <a:ext cx="2322524" cy="18288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63" name="Rounded Rectangle 62"/>
          <p:cNvSpPr/>
          <p:nvPr/>
        </p:nvSpPr>
        <p:spPr bwMode="auto">
          <a:xfrm>
            <a:off x="6629936" y="3257550"/>
            <a:ext cx="2209264" cy="161925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70" name="Rounded Rectangle 69"/>
          <p:cNvSpPr/>
          <p:nvPr/>
        </p:nvSpPr>
        <p:spPr bwMode="auto">
          <a:xfrm>
            <a:off x="6239148" y="1647824"/>
            <a:ext cx="2752451" cy="1400175"/>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cxnSp>
        <p:nvCxnSpPr>
          <p:cNvPr id="71" name="Straight Connector 70"/>
          <p:cNvCxnSpPr/>
          <p:nvPr/>
        </p:nvCxnSpPr>
        <p:spPr>
          <a:xfrm rot="10800000">
            <a:off x="4876800" y="1981200"/>
            <a:ext cx="1371600" cy="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0800000">
            <a:off x="5772464" y="3124200"/>
            <a:ext cx="856937" cy="3048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667000" y="2362200"/>
            <a:ext cx="590207" cy="22860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22"/>
          <p:cNvSpPr>
            <a:spLocks noGrp="1"/>
          </p:cNvSpPr>
          <p:nvPr>
            <p:ph type="title"/>
          </p:nvPr>
        </p:nvSpPr>
        <p:spPr/>
        <p:txBody>
          <a:bodyPr/>
          <a:lstStyle/>
          <a:p>
            <a:r>
              <a:rPr lang="en-US" sz="3600" dirty="0" smtClean="0"/>
              <a:t>SharePoint Foundation 2010</a:t>
            </a:r>
            <a:br>
              <a:rPr lang="en-US" sz="3600" dirty="0" smtClean="0"/>
            </a:br>
            <a:endParaRPr lang="en-US" sz="3600" dirty="0"/>
          </a:p>
        </p:txBody>
      </p:sp>
      <p:sp>
        <p:nvSpPr>
          <p:cNvPr id="7" name="TextBox 6"/>
          <p:cNvSpPr txBox="1"/>
          <p:nvPr/>
        </p:nvSpPr>
        <p:spPr>
          <a:xfrm>
            <a:off x="6366071" y="1789938"/>
            <a:ext cx="2320729" cy="1384995"/>
          </a:xfrm>
          <a:prstGeom prst="rect">
            <a:avLst/>
          </a:prstGeom>
        </p:spPr>
        <p:txBody>
          <a:bodyPr vert="horz" wrap="square" lIns="0" tIns="0" rIns="0" bIns="0" rtlCol="0">
            <a:spAutoFit/>
          </a:bodyPr>
          <a:lstStyle/>
          <a:p>
            <a:pPr>
              <a:lnSpc>
                <a:spcPct val="90000"/>
              </a:lnSpc>
              <a:spcBef>
                <a:spcPct val="20000"/>
              </a:spcBef>
              <a:buClr>
                <a:srgbClr val="777777"/>
              </a:buClr>
              <a:buSzPct val="130000"/>
            </a:pPr>
            <a:r>
              <a:rPr lang="en-US" sz="1200" dirty="0" smtClean="0"/>
              <a:t>Ribbon UI</a:t>
            </a:r>
          </a:p>
          <a:p>
            <a:pPr>
              <a:lnSpc>
                <a:spcPct val="90000"/>
              </a:lnSpc>
              <a:spcBef>
                <a:spcPct val="20000"/>
              </a:spcBef>
              <a:buClr>
                <a:srgbClr val="777777"/>
              </a:buClr>
              <a:buSzPct val="130000"/>
            </a:pPr>
            <a:r>
              <a:rPr lang="en-US" sz="1200" dirty="0" smtClean="0"/>
              <a:t>SharePoint Workspace</a:t>
            </a:r>
          </a:p>
          <a:p>
            <a:pPr>
              <a:lnSpc>
                <a:spcPct val="90000"/>
              </a:lnSpc>
              <a:spcBef>
                <a:spcPct val="20000"/>
              </a:spcBef>
              <a:buClr>
                <a:srgbClr val="777777"/>
              </a:buClr>
              <a:buSzPct val="130000"/>
            </a:pPr>
            <a:r>
              <a:rPr lang="en-US" sz="1200" dirty="0" smtClean="0"/>
              <a:t>SharePoint Mobile</a:t>
            </a:r>
          </a:p>
          <a:p>
            <a:pPr>
              <a:lnSpc>
                <a:spcPct val="90000"/>
              </a:lnSpc>
              <a:spcBef>
                <a:spcPct val="20000"/>
              </a:spcBef>
              <a:buClr>
                <a:srgbClr val="777777"/>
              </a:buClr>
              <a:buSzPct val="130000"/>
            </a:pPr>
            <a:r>
              <a:rPr lang="en-US" sz="1200" dirty="0" smtClean="0"/>
              <a:t>Office Client</a:t>
            </a:r>
          </a:p>
          <a:p>
            <a:pPr>
              <a:lnSpc>
                <a:spcPct val="90000"/>
              </a:lnSpc>
              <a:spcBef>
                <a:spcPct val="20000"/>
              </a:spcBef>
              <a:buClr>
                <a:srgbClr val="777777"/>
              </a:buClr>
              <a:buSzPct val="130000"/>
            </a:pPr>
            <a:r>
              <a:rPr lang="en-US" sz="1200" dirty="0" smtClean="0"/>
              <a:t>Office Web App Integration</a:t>
            </a:r>
          </a:p>
          <a:p>
            <a:pPr>
              <a:lnSpc>
                <a:spcPct val="90000"/>
              </a:lnSpc>
              <a:spcBef>
                <a:spcPct val="20000"/>
              </a:spcBef>
              <a:buClr>
                <a:srgbClr val="777777"/>
              </a:buClr>
              <a:buSzPct val="130000"/>
            </a:pPr>
            <a:r>
              <a:rPr lang="en-US" sz="1200" dirty="0" smtClean="0"/>
              <a:t>Standards Support</a:t>
            </a:r>
          </a:p>
          <a:p>
            <a:pPr>
              <a:lnSpc>
                <a:spcPct val="90000"/>
              </a:lnSpc>
              <a:spcBef>
                <a:spcPct val="20000"/>
              </a:spcBef>
              <a:buClr>
                <a:srgbClr val="777777"/>
              </a:buClr>
              <a:buSzPct val="130000"/>
            </a:pPr>
            <a:endParaRPr lang="en-US" sz="1200" dirty="0" err="1" smtClean="0"/>
          </a:p>
        </p:txBody>
      </p:sp>
      <p:sp>
        <p:nvSpPr>
          <p:cNvPr id="20" name="TextBox 19"/>
          <p:cNvSpPr txBox="1"/>
          <p:nvPr/>
        </p:nvSpPr>
        <p:spPr>
          <a:xfrm>
            <a:off x="6742999" y="3377506"/>
            <a:ext cx="1091646" cy="166199"/>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Blogs and Wikis</a:t>
            </a:r>
          </a:p>
        </p:txBody>
      </p:sp>
      <p:sp>
        <p:nvSpPr>
          <p:cNvPr id="25" name="TextBox 24"/>
          <p:cNvSpPr txBox="1"/>
          <p:nvPr/>
        </p:nvSpPr>
        <p:spPr>
          <a:xfrm>
            <a:off x="381000" y="1828801"/>
            <a:ext cx="2131994"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Business Connectivity Services</a:t>
            </a:r>
          </a:p>
          <a:p>
            <a:pPr>
              <a:lnSpc>
                <a:spcPct val="90000"/>
              </a:lnSpc>
              <a:spcBef>
                <a:spcPct val="20000"/>
              </a:spcBef>
              <a:buClr>
                <a:srgbClr val="777777"/>
              </a:buClr>
              <a:buSzPct val="130000"/>
            </a:pPr>
            <a:r>
              <a:rPr lang="en-US" sz="1200" dirty="0" smtClean="0"/>
              <a:t>External Lists</a:t>
            </a:r>
          </a:p>
          <a:p>
            <a:pPr>
              <a:lnSpc>
                <a:spcPct val="90000"/>
              </a:lnSpc>
              <a:spcBef>
                <a:spcPct val="20000"/>
              </a:spcBef>
              <a:buClr>
                <a:srgbClr val="777777"/>
              </a:buClr>
              <a:buSzPct val="130000"/>
            </a:pPr>
            <a:r>
              <a:rPr lang="en-US" sz="1200" dirty="0" smtClean="0"/>
              <a:t>Workflow</a:t>
            </a:r>
          </a:p>
          <a:p>
            <a:pPr>
              <a:lnSpc>
                <a:spcPct val="90000"/>
              </a:lnSpc>
              <a:spcBef>
                <a:spcPct val="20000"/>
              </a:spcBef>
              <a:buClr>
                <a:srgbClr val="777777"/>
              </a:buClr>
              <a:buSzPct val="130000"/>
            </a:pPr>
            <a:r>
              <a:rPr lang="en-US" sz="1200" dirty="0" smtClean="0"/>
              <a:t>SharePoint Designer</a:t>
            </a:r>
          </a:p>
          <a:p>
            <a:pPr>
              <a:lnSpc>
                <a:spcPct val="90000"/>
              </a:lnSpc>
              <a:spcBef>
                <a:spcPct val="20000"/>
              </a:spcBef>
              <a:buClr>
                <a:srgbClr val="777777"/>
              </a:buClr>
              <a:buSzPct val="130000"/>
            </a:pPr>
            <a:r>
              <a:rPr lang="en-US" sz="1200" dirty="0" smtClean="0"/>
              <a:t>Visual Studio</a:t>
            </a:r>
          </a:p>
          <a:p>
            <a:pPr>
              <a:lnSpc>
                <a:spcPct val="90000"/>
              </a:lnSpc>
              <a:spcBef>
                <a:spcPct val="20000"/>
              </a:spcBef>
              <a:buClr>
                <a:srgbClr val="777777"/>
              </a:buClr>
              <a:buSzPct val="130000"/>
            </a:pPr>
            <a:r>
              <a:rPr lang="en-US" sz="1200" dirty="0" smtClean="0"/>
              <a:t>API Enhancements</a:t>
            </a:r>
          </a:p>
          <a:p>
            <a:pPr>
              <a:lnSpc>
                <a:spcPct val="90000"/>
              </a:lnSpc>
              <a:spcBef>
                <a:spcPct val="20000"/>
              </a:spcBef>
              <a:buClr>
                <a:srgbClr val="777777"/>
              </a:buClr>
              <a:buSzPct val="130000"/>
            </a:pPr>
            <a:r>
              <a:rPr lang="en-US" sz="1200" dirty="0" smtClean="0"/>
              <a:t>REST/ATOM/RSS</a:t>
            </a:r>
          </a:p>
        </p:txBody>
      </p:sp>
      <p:grpSp>
        <p:nvGrpSpPr>
          <p:cNvPr id="2" name="Group 25"/>
          <p:cNvGrpSpPr/>
          <p:nvPr/>
        </p:nvGrpSpPr>
        <p:grpSpPr>
          <a:xfrm>
            <a:off x="2286000" y="1862344"/>
            <a:ext cx="4496217" cy="4005056"/>
            <a:chOff x="-406294" y="1828799"/>
            <a:chExt cx="6094413" cy="3962400"/>
          </a:xfrm>
        </p:grpSpPr>
        <p:grpSp>
          <p:nvGrpSpPr>
            <p:cNvPr id="3" name="Group 83"/>
            <p:cNvGrpSpPr/>
            <p:nvPr/>
          </p:nvGrpSpPr>
          <p:grpSpPr>
            <a:xfrm>
              <a:off x="-406294" y="1828799"/>
              <a:ext cx="6094413" cy="3962400"/>
              <a:chOff x="-4185" y="2085973"/>
              <a:chExt cx="4122018" cy="3605979"/>
            </a:xfrm>
          </p:grpSpPr>
          <p:grpSp>
            <p:nvGrpSpPr>
              <p:cNvPr id="4" name="Group 50"/>
              <p:cNvGrpSpPr/>
              <p:nvPr/>
            </p:nvGrpSpPr>
            <p:grpSpPr>
              <a:xfrm>
                <a:off x="-4185" y="2085973"/>
                <a:ext cx="4122018" cy="3605979"/>
                <a:chOff x="-4186" y="2145978"/>
                <a:chExt cx="4001959" cy="3500950"/>
              </a:xfrm>
            </p:grpSpPr>
            <p:sp>
              <p:nvSpPr>
                <p:cNvPr id="39" name="Oval 38"/>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000">
                    <a:solidFill>
                      <a:srgbClr val="FFFFFF"/>
                    </a:solidFill>
                  </a:endParaRPr>
                </a:p>
              </p:txBody>
            </p:sp>
            <p:pic>
              <p:nvPicPr>
                <p:cNvPr id="40" name="Picture 2" descr="\\SERVER3\Restrict\FTP_Root\Clients\White_Whale\2-20070_TAP_Airlift\Art\6-star pie cuts.png"/>
                <p:cNvPicPr>
                  <a:picLocks noChangeAspect="1" noChangeArrowheads="1"/>
                </p:cNvPicPr>
                <p:nvPr/>
              </p:nvPicPr>
              <p:blipFill>
                <a:blip r:embed="rId3" cstate="print"/>
                <a:stretch>
                  <a:fillRect/>
                </a:stretch>
              </p:blipFill>
              <p:spPr bwMode="auto">
                <a:xfrm rot="5400000">
                  <a:off x="246319" y="1895473"/>
                  <a:ext cx="3500950" cy="4001959"/>
                </a:xfrm>
                <a:prstGeom prst="rect">
                  <a:avLst/>
                </a:prstGeom>
                <a:noFill/>
              </p:spPr>
            </p:pic>
          </p:grpSp>
          <p:grpSp>
            <p:nvGrpSpPr>
              <p:cNvPr id="5" name="Group 82"/>
              <p:cNvGrpSpPr/>
              <p:nvPr/>
            </p:nvGrpSpPr>
            <p:grpSpPr>
              <a:xfrm>
                <a:off x="1197089" y="3056816"/>
                <a:ext cx="1774433" cy="1838194"/>
                <a:chOff x="1197089" y="3056816"/>
                <a:chExt cx="1774433" cy="1838194"/>
              </a:xfrm>
            </p:grpSpPr>
            <p:sp>
              <p:nvSpPr>
                <p:cNvPr id="36" name="Oval 35"/>
                <p:cNvSpPr/>
                <p:nvPr/>
              </p:nvSpPr>
              <p:spPr bwMode="auto">
                <a:xfrm>
                  <a:off x="1197089" y="3056816"/>
                  <a:ext cx="1774433" cy="1838194"/>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800" dirty="0" err="1">
                    <a:solidFill>
                      <a:srgbClr val="FFFFFF"/>
                    </a:solidFill>
                    <a:latin typeface="Segoe" pitchFamily="34" charset="0"/>
                  </a:endParaRPr>
                </a:p>
              </p:txBody>
            </p:sp>
            <p:pic>
              <p:nvPicPr>
                <p:cNvPr id="37" name="Content Placeholder 4" descr="ShrPt_h_rgb.png"/>
                <p:cNvPicPr>
                  <a:picLocks noChangeAspect="1"/>
                </p:cNvPicPr>
                <p:nvPr/>
              </p:nvPicPr>
              <p:blipFill>
                <a:blip r:embed="rId4" cstate="print"/>
                <a:srcRect r="83105" b="-8078"/>
                <a:stretch>
                  <a:fillRect/>
                </a:stretch>
              </p:blipFill>
              <p:spPr>
                <a:xfrm>
                  <a:off x="1882721" y="3482810"/>
                  <a:ext cx="453526" cy="539301"/>
                </a:xfrm>
                <a:prstGeom prst="rect">
                  <a:avLst/>
                </a:prstGeom>
              </p:spPr>
            </p:pic>
            <p:pic>
              <p:nvPicPr>
                <p:cNvPr id="38" name="Content Placeholder 4" descr="ShrPt_h_rgb.png"/>
                <p:cNvPicPr>
                  <a:picLocks noChangeAspect="1"/>
                </p:cNvPicPr>
                <p:nvPr/>
              </p:nvPicPr>
              <p:blipFill>
                <a:blip r:embed="rId4"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
          <p:nvSpPr>
            <p:cNvPr id="28" name="Rectangle 27"/>
            <p:cNvSpPr/>
            <p:nvPr/>
          </p:nvSpPr>
          <p:spPr>
            <a:xfrm>
              <a:off x="3189355" y="3124200"/>
              <a:ext cx="1889320" cy="389758"/>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Communities</a:t>
              </a:r>
            </a:p>
          </p:txBody>
        </p:sp>
        <p:sp>
          <p:nvSpPr>
            <p:cNvPr id="29" name="Rectangle 28"/>
            <p:cNvSpPr/>
            <p:nvPr/>
          </p:nvSpPr>
          <p:spPr>
            <a:xfrm>
              <a:off x="1726749" y="5055692"/>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Search</a:t>
              </a:r>
            </a:p>
          </p:txBody>
        </p:sp>
        <p:sp>
          <p:nvSpPr>
            <p:cNvPr id="30" name="Rectangle 29"/>
            <p:cNvSpPr/>
            <p:nvPr/>
          </p:nvSpPr>
          <p:spPr>
            <a:xfrm>
              <a:off x="1726752" y="2514600"/>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Sites</a:t>
              </a:r>
            </a:p>
          </p:txBody>
        </p:sp>
        <p:sp>
          <p:nvSpPr>
            <p:cNvPr id="31" name="Rectangle 30"/>
            <p:cNvSpPr/>
            <p:nvPr/>
          </p:nvSpPr>
          <p:spPr>
            <a:xfrm>
              <a:off x="66375" y="3124200"/>
              <a:ext cx="206667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Composites</a:t>
              </a:r>
            </a:p>
          </p:txBody>
        </p:sp>
        <p:sp>
          <p:nvSpPr>
            <p:cNvPr id="32" name="Rectangle 31"/>
            <p:cNvSpPr/>
            <p:nvPr/>
          </p:nvSpPr>
          <p:spPr>
            <a:xfrm>
              <a:off x="3555073" y="4292914"/>
              <a:ext cx="1366217"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Content</a:t>
              </a:r>
            </a:p>
          </p:txBody>
        </p:sp>
        <p:sp>
          <p:nvSpPr>
            <p:cNvPr id="33" name="Rectangle 32"/>
            <p:cNvSpPr/>
            <p:nvPr/>
          </p:nvSpPr>
          <p:spPr>
            <a:xfrm>
              <a:off x="406295" y="4292914"/>
              <a:ext cx="1334322"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Insights</a:t>
              </a:r>
            </a:p>
          </p:txBody>
        </p:sp>
      </p:gr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par>
                                <p:cTn id="8" presetID="10" presetClass="entr" presetSubtype="0"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500"/>
                                        <p:tgtEl>
                                          <p:spTgt spid="7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3" grpId="0" animBg="1"/>
      <p:bldP spid="70" grpId="0" animBg="1"/>
      <p:bldP spid="7" grpId="0"/>
      <p:bldP spid="20"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bwMode="auto">
          <a:xfrm>
            <a:off x="304800" y="1676400"/>
            <a:ext cx="2322524" cy="18288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45" name="Rounded Rectangle 44"/>
          <p:cNvSpPr/>
          <p:nvPr/>
        </p:nvSpPr>
        <p:spPr bwMode="auto">
          <a:xfrm>
            <a:off x="381000" y="3657600"/>
            <a:ext cx="2057400" cy="16383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48" name="Rounded Rectangle 47"/>
          <p:cNvSpPr/>
          <p:nvPr/>
        </p:nvSpPr>
        <p:spPr bwMode="auto">
          <a:xfrm>
            <a:off x="1981200" y="5524500"/>
            <a:ext cx="1429122" cy="11811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58" name="Rounded Rectangle 57"/>
          <p:cNvSpPr/>
          <p:nvPr/>
        </p:nvSpPr>
        <p:spPr bwMode="auto">
          <a:xfrm>
            <a:off x="6172200" y="5095875"/>
            <a:ext cx="2399854" cy="1609725"/>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63" name="Rounded Rectangle 62"/>
          <p:cNvSpPr/>
          <p:nvPr/>
        </p:nvSpPr>
        <p:spPr bwMode="auto">
          <a:xfrm>
            <a:off x="6629936" y="3257550"/>
            <a:ext cx="2209264" cy="161925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70" name="Rounded Rectangle 69"/>
          <p:cNvSpPr/>
          <p:nvPr/>
        </p:nvSpPr>
        <p:spPr bwMode="auto">
          <a:xfrm>
            <a:off x="6239148" y="1647824"/>
            <a:ext cx="2752451" cy="1400175"/>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cxnSp>
        <p:nvCxnSpPr>
          <p:cNvPr id="71" name="Straight Connector 70"/>
          <p:cNvCxnSpPr/>
          <p:nvPr/>
        </p:nvCxnSpPr>
        <p:spPr>
          <a:xfrm rot="10800000">
            <a:off x="4876800" y="1981200"/>
            <a:ext cx="1371600" cy="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0800000">
            <a:off x="5772464" y="3124200"/>
            <a:ext cx="856937" cy="3048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10800000">
            <a:off x="5658132" y="4572000"/>
            <a:ext cx="666468" cy="5334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3429000" y="5410200"/>
            <a:ext cx="857175" cy="6096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2438400" y="4572000"/>
            <a:ext cx="761643" cy="1524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667000" y="2362200"/>
            <a:ext cx="590207" cy="22860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22"/>
          <p:cNvSpPr>
            <a:spLocks noGrp="1"/>
          </p:cNvSpPr>
          <p:nvPr>
            <p:ph type="title"/>
          </p:nvPr>
        </p:nvSpPr>
        <p:spPr/>
        <p:txBody>
          <a:bodyPr/>
          <a:lstStyle/>
          <a:p>
            <a:r>
              <a:rPr lang="en-US" sz="3600" dirty="0" smtClean="0"/>
              <a:t>SharePoint Server 2010</a:t>
            </a:r>
            <a:br>
              <a:rPr lang="en-US" sz="3600" dirty="0" smtClean="0"/>
            </a:br>
            <a:endParaRPr lang="en-US" sz="3600" dirty="0"/>
          </a:p>
        </p:txBody>
      </p:sp>
      <p:sp>
        <p:nvSpPr>
          <p:cNvPr id="7" name="TextBox 6"/>
          <p:cNvSpPr txBox="1"/>
          <p:nvPr/>
        </p:nvSpPr>
        <p:spPr>
          <a:xfrm>
            <a:off x="6366071" y="1789938"/>
            <a:ext cx="2320729" cy="1384995"/>
          </a:xfrm>
          <a:prstGeom prst="rect">
            <a:avLst/>
          </a:prstGeom>
        </p:spPr>
        <p:txBody>
          <a:bodyPr vert="horz" wrap="square" lIns="0" tIns="0" rIns="0" bIns="0" rtlCol="0">
            <a:spAutoFit/>
          </a:bodyPr>
          <a:lstStyle/>
          <a:p>
            <a:pPr>
              <a:lnSpc>
                <a:spcPct val="90000"/>
              </a:lnSpc>
              <a:spcBef>
                <a:spcPct val="20000"/>
              </a:spcBef>
              <a:buClr>
                <a:srgbClr val="777777"/>
              </a:buClr>
              <a:buSzPct val="130000"/>
            </a:pPr>
            <a:r>
              <a:rPr lang="en-US" sz="1200" dirty="0" smtClean="0"/>
              <a:t>Ribbon UI</a:t>
            </a:r>
          </a:p>
          <a:p>
            <a:pPr>
              <a:lnSpc>
                <a:spcPct val="90000"/>
              </a:lnSpc>
              <a:spcBef>
                <a:spcPct val="20000"/>
              </a:spcBef>
              <a:buClr>
                <a:srgbClr val="777777"/>
              </a:buClr>
              <a:buSzPct val="130000"/>
            </a:pPr>
            <a:r>
              <a:rPr lang="en-US" sz="1200" dirty="0" smtClean="0"/>
              <a:t>SharePoint Workspace</a:t>
            </a:r>
          </a:p>
          <a:p>
            <a:pPr>
              <a:lnSpc>
                <a:spcPct val="90000"/>
              </a:lnSpc>
              <a:spcBef>
                <a:spcPct val="20000"/>
              </a:spcBef>
              <a:buClr>
                <a:srgbClr val="777777"/>
              </a:buClr>
              <a:buSzPct val="130000"/>
            </a:pPr>
            <a:r>
              <a:rPr lang="en-US" sz="1200" dirty="0" smtClean="0"/>
              <a:t>SharePoint Mobile</a:t>
            </a:r>
          </a:p>
          <a:p>
            <a:pPr>
              <a:lnSpc>
                <a:spcPct val="90000"/>
              </a:lnSpc>
              <a:spcBef>
                <a:spcPct val="20000"/>
              </a:spcBef>
              <a:buClr>
                <a:srgbClr val="777777"/>
              </a:buClr>
              <a:buSzPct val="130000"/>
            </a:pPr>
            <a:r>
              <a:rPr lang="en-US" sz="1200" dirty="0" smtClean="0"/>
              <a:t>Office Client</a:t>
            </a:r>
          </a:p>
          <a:p>
            <a:pPr>
              <a:lnSpc>
                <a:spcPct val="90000"/>
              </a:lnSpc>
              <a:spcBef>
                <a:spcPct val="20000"/>
              </a:spcBef>
              <a:buClr>
                <a:srgbClr val="777777"/>
              </a:buClr>
              <a:buSzPct val="130000"/>
            </a:pPr>
            <a:r>
              <a:rPr lang="en-US" sz="1200" dirty="0" smtClean="0"/>
              <a:t>Office Web App Integration</a:t>
            </a:r>
          </a:p>
          <a:p>
            <a:pPr>
              <a:lnSpc>
                <a:spcPct val="90000"/>
              </a:lnSpc>
              <a:spcBef>
                <a:spcPct val="20000"/>
              </a:spcBef>
              <a:buClr>
                <a:srgbClr val="777777"/>
              </a:buClr>
              <a:buSzPct val="130000"/>
            </a:pPr>
            <a:r>
              <a:rPr lang="en-US" sz="1200" dirty="0" smtClean="0"/>
              <a:t>Standards Support</a:t>
            </a:r>
          </a:p>
          <a:p>
            <a:pPr>
              <a:lnSpc>
                <a:spcPct val="90000"/>
              </a:lnSpc>
              <a:spcBef>
                <a:spcPct val="20000"/>
              </a:spcBef>
              <a:buClr>
                <a:srgbClr val="777777"/>
              </a:buClr>
              <a:buSzPct val="130000"/>
            </a:pPr>
            <a:endParaRPr lang="en-US" sz="1200" dirty="0" err="1" smtClean="0"/>
          </a:p>
        </p:txBody>
      </p:sp>
      <p:sp>
        <p:nvSpPr>
          <p:cNvPr id="20" name="TextBox 19"/>
          <p:cNvSpPr txBox="1"/>
          <p:nvPr/>
        </p:nvSpPr>
        <p:spPr>
          <a:xfrm>
            <a:off x="6742999" y="3377506"/>
            <a:ext cx="1915589"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Tagging, Tag Cloud, Ratings</a:t>
            </a:r>
          </a:p>
          <a:p>
            <a:pPr>
              <a:lnSpc>
                <a:spcPct val="90000"/>
              </a:lnSpc>
              <a:spcBef>
                <a:spcPct val="20000"/>
              </a:spcBef>
              <a:buClr>
                <a:srgbClr val="777777"/>
              </a:buClr>
              <a:buSzPct val="130000"/>
            </a:pPr>
            <a:r>
              <a:rPr lang="en-US" sz="1200" dirty="0" smtClean="0"/>
              <a:t>Social Bookmarking</a:t>
            </a:r>
          </a:p>
          <a:p>
            <a:pPr>
              <a:lnSpc>
                <a:spcPct val="90000"/>
              </a:lnSpc>
              <a:spcBef>
                <a:spcPct val="20000"/>
              </a:spcBef>
              <a:buClr>
                <a:srgbClr val="777777"/>
              </a:buClr>
              <a:buSzPct val="130000"/>
            </a:pPr>
            <a:r>
              <a:rPr lang="en-US" sz="1200" dirty="0" smtClean="0"/>
              <a:t>Blogs and Wikis</a:t>
            </a:r>
          </a:p>
          <a:p>
            <a:pPr>
              <a:lnSpc>
                <a:spcPct val="90000"/>
              </a:lnSpc>
              <a:spcBef>
                <a:spcPct val="20000"/>
              </a:spcBef>
              <a:buClr>
                <a:srgbClr val="777777"/>
              </a:buClr>
              <a:buSzPct val="130000"/>
            </a:pPr>
            <a:r>
              <a:rPr lang="en-US" sz="1200" dirty="0" smtClean="0"/>
              <a:t>My Sites</a:t>
            </a:r>
          </a:p>
          <a:p>
            <a:pPr>
              <a:lnSpc>
                <a:spcPct val="90000"/>
              </a:lnSpc>
              <a:spcBef>
                <a:spcPct val="20000"/>
              </a:spcBef>
              <a:buClr>
                <a:srgbClr val="777777"/>
              </a:buClr>
              <a:buSzPct val="130000"/>
            </a:pPr>
            <a:r>
              <a:rPr lang="en-US" sz="1200" dirty="0" smtClean="0"/>
              <a:t>Activity Feeds</a:t>
            </a:r>
          </a:p>
          <a:p>
            <a:pPr>
              <a:lnSpc>
                <a:spcPct val="90000"/>
              </a:lnSpc>
              <a:spcBef>
                <a:spcPct val="20000"/>
              </a:spcBef>
              <a:buClr>
                <a:srgbClr val="777777"/>
              </a:buClr>
              <a:buSzPct val="130000"/>
            </a:pPr>
            <a:r>
              <a:rPr lang="en-US" sz="1200" dirty="0" smtClean="0"/>
              <a:t>Profiles and Expertise</a:t>
            </a:r>
          </a:p>
          <a:p>
            <a:pPr>
              <a:lnSpc>
                <a:spcPct val="90000"/>
              </a:lnSpc>
              <a:spcBef>
                <a:spcPct val="20000"/>
              </a:spcBef>
              <a:buClr>
                <a:srgbClr val="777777"/>
              </a:buClr>
              <a:buSzPct val="130000"/>
            </a:pPr>
            <a:r>
              <a:rPr lang="en-US" sz="1200" dirty="0" smtClean="0"/>
              <a:t>Org Browser</a:t>
            </a:r>
          </a:p>
        </p:txBody>
      </p:sp>
      <p:sp>
        <p:nvSpPr>
          <p:cNvPr id="21" name="TextBox 20"/>
          <p:cNvSpPr txBox="1"/>
          <p:nvPr/>
        </p:nvSpPr>
        <p:spPr>
          <a:xfrm>
            <a:off x="6286530" y="5196780"/>
            <a:ext cx="2151679"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Enterprise Content Types</a:t>
            </a:r>
          </a:p>
          <a:p>
            <a:pPr>
              <a:lnSpc>
                <a:spcPct val="90000"/>
              </a:lnSpc>
              <a:spcBef>
                <a:spcPct val="20000"/>
              </a:spcBef>
              <a:buClr>
                <a:srgbClr val="777777"/>
              </a:buClr>
              <a:buSzPct val="130000"/>
            </a:pPr>
            <a:r>
              <a:rPr lang="en-US" sz="1200" dirty="0" smtClean="0"/>
              <a:t>Metadata and Navigation</a:t>
            </a:r>
          </a:p>
          <a:p>
            <a:pPr>
              <a:lnSpc>
                <a:spcPct val="90000"/>
              </a:lnSpc>
              <a:spcBef>
                <a:spcPct val="20000"/>
              </a:spcBef>
              <a:buClr>
                <a:srgbClr val="777777"/>
              </a:buClr>
              <a:buSzPct val="130000"/>
            </a:pPr>
            <a:r>
              <a:rPr lang="en-US" sz="1200" dirty="0" smtClean="0"/>
              <a:t>Document Sets</a:t>
            </a:r>
          </a:p>
          <a:p>
            <a:pPr>
              <a:lnSpc>
                <a:spcPct val="90000"/>
              </a:lnSpc>
              <a:spcBef>
                <a:spcPct val="20000"/>
              </a:spcBef>
              <a:buClr>
                <a:srgbClr val="777777"/>
              </a:buClr>
              <a:buSzPct val="130000"/>
            </a:pPr>
            <a:r>
              <a:rPr lang="en-US" sz="1200" dirty="0" smtClean="0"/>
              <a:t>Multi-stage Disposition</a:t>
            </a:r>
          </a:p>
          <a:p>
            <a:pPr>
              <a:lnSpc>
                <a:spcPct val="90000"/>
              </a:lnSpc>
              <a:spcBef>
                <a:spcPct val="20000"/>
              </a:spcBef>
              <a:buClr>
                <a:srgbClr val="777777"/>
              </a:buClr>
              <a:buSzPct val="130000"/>
            </a:pPr>
            <a:r>
              <a:rPr lang="en-US" sz="1200" dirty="0" smtClean="0"/>
              <a:t>Audio and Video Content Types</a:t>
            </a:r>
          </a:p>
          <a:p>
            <a:pPr>
              <a:lnSpc>
                <a:spcPct val="90000"/>
              </a:lnSpc>
              <a:spcBef>
                <a:spcPct val="20000"/>
              </a:spcBef>
              <a:buClr>
                <a:srgbClr val="777777"/>
              </a:buClr>
              <a:buSzPct val="130000"/>
            </a:pPr>
            <a:r>
              <a:rPr lang="en-US" sz="1200" dirty="0" smtClean="0"/>
              <a:t>Remote Blob Storage</a:t>
            </a:r>
          </a:p>
          <a:p>
            <a:pPr>
              <a:lnSpc>
                <a:spcPct val="90000"/>
              </a:lnSpc>
              <a:spcBef>
                <a:spcPct val="20000"/>
              </a:spcBef>
              <a:buClr>
                <a:srgbClr val="777777"/>
              </a:buClr>
              <a:buSzPct val="130000"/>
            </a:pPr>
            <a:r>
              <a:rPr lang="en-US" sz="1200" dirty="0" smtClean="0"/>
              <a:t>List Enhancements</a:t>
            </a:r>
          </a:p>
        </p:txBody>
      </p:sp>
      <p:sp>
        <p:nvSpPr>
          <p:cNvPr id="22" name="TextBox 21"/>
          <p:cNvSpPr txBox="1"/>
          <p:nvPr/>
        </p:nvSpPr>
        <p:spPr>
          <a:xfrm>
            <a:off x="2088384" y="5629276"/>
            <a:ext cx="1275990" cy="978729"/>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Social Relevance</a:t>
            </a:r>
          </a:p>
          <a:p>
            <a:pPr>
              <a:lnSpc>
                <a:spcPct val="90000"/>
              </a:lnSpc>
              <a:spcBef>
                <a:spcPct val="20000"/>
              </a:spcBef>
              <a:buClr>
                <a:srgbClr val="777777"/>
              </a:buClr>
              <a:buSzPct val="130000"/>
            </a:pPr>
            <a:r>
              <a:rPr lang="en-US" sz="1200" dirty="0" smtClean="0"/>
              <a:t>Phonetic Search</a:t>
            </a:r>
          </a:p>
          <a:p>
            <a:pPr>
              <a:lnSpc>
                <a:spcPct val="90000"/>
              </a:lnSpc>
              <a:spcBef>
                <a:spcPct val="20000"/>
              </a:spcBef>
              <a:buClr>
                <a:srgbClr val="777777"/>
              </a:buClr>
              <a:buSzPct val="130000"/>
            </a:pPr>
            <a:r>
              <a:rPr lang="en-US" sz="1200" dirty="0" smtClean="0"/>
              <a:t>Navigation</a:t>
            </a:r>
          </a:p>
          <a:p>
            <a:pPr>
              <a:lnSpc>
                <a:spcPct val="90000"/>
              </a:lnSpc>
              <a:spcBef>
                <a:spcPct val="20000"/>
              </a:spcBef>
              <a:buClr>
                <a:srgbClr val="777777"/>
              </a:buClr>
              <a:buSzPct val="130000"/>
            </a:pPr>
            <a:r>
              <a:rPr lang="en-US" sz="1200" dirty="0" smtClean="0"/>
              <a:t>FAST Integration</a:t>
            </a:r>
          </a:p>
          <a:p>
            <a:pPr>
              <a:lnSpc>
                <a:spcPct val="90000"/>
              </a:lnSpc>
              <a:spcBef>
                <a:spcPct val="20000"/>
              </a:spcBef>
              <a:buClr>
                <a:srgbClr val="777777"/>
              </a:buClr>
              <a:buSzPct val="130000"/>
            </a:pPr>
            <a:r>
              <a:rPr lang="en-US" sz="1200" dirty="0" smtClean="0"/>
              <a:t>Enhanced Pipeline</a:t>
            </a:r>
          </a:p>
        </p:txBody>
      </p:sp>
      <p:sp>
        <p:nvSpPr>
          <p:cNvPr id="24" name="TextBox 23"/>
          <p:cNvSpPr txBox="1"/>
          <p:nvPr/>
        </p:nvSpPr>
        <p:spPr>
          <a:xfrm>
            <a:off x="495330" y="3796606"/>
            <a:ext cx="1859483"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err="1" smtClean="0"/>
              <a:t>PerformancePoint</a:t>
            </a:r>
            <a:r>
              <a:rPr lang="en-US" sz="1200" dirty="0" smtClean="0"/>
              <a:t> Services</a:t>
            </a:r>
          </a:p>
          <a:p>
            <a:pPr>
              <a:lnSpc>
                <a:spcPct val="90000"/>
              </a:lnSpc>
              <a:spcBef>
                <a:spcPct val="20000"/>
              </a:spcBef>
              <a:buClr>
                <a:srgbClr val="777777"/>
              </a:buClr>
              <a:buSzPct val="130000"/>
            </a:pPr>
            <a:r>
              <a:rPr lang="en-US" sz="1200" dirty="0" smtClean="0"/>
              <a:t>Excel Services</a:t>
            </a:r>
          </a:p>
          <a:p>
            <a:pPr>
              <a:lnSpc>
                <a:spcPct val="90000"/>
              </a:lnSpc>
              <a:spcBef>
                <a:spcPct val="20000"/>
              </a:spcBef>
              <a:buClr>
                <a:srgbClr val="777777"/>
              </a:buClr>
              <a:buSzPct val="130000"/>
            </a:pPr>
            <a:r>
              <a:rPr lang="en-US" sz="1200" dirty="0" smtClean="0"/>
              <a:t>Chart Web Part</a:t>
            </a:r>
          </a:p>
          <a:p>
            <a:pPr>
              <a:lnSpc>
                <a:spcPct val="90000"/>
              </a:lnSpc>
              <a:spcBef>
                <a:spcPct val="20000"/>
              </a:spcBef>
              <a:buClr>
                <a:srgbClr val="777777"/>
              </a:buClr>
              <a:buSzPct val="130000"/>
            </a:pPr>
            <a:r>
              <a:rPr lang="en-US" sz="1200" dirty="0" smtClean="0"/>
              <a:t>Visio Services</a:t>
            </a:r>
          </a:p>
          <a:p>
            <a:pPr>
              <a:lnSpc>
                <a:spcPct val="90000"/>
              </a:lnSpc>
              <a:spcBef>
                <a:spcPct val="20000"/>
              </a:spcBef>
              <a:buClr>
                <a:srgbClr val="777777"/>
              </a:buClr>
              <a:buSzPct val="130000"/>
            </a:pPr>
            <a:r>
              <a:rPr lang="en-US" sz="1200" dirty="0" smtClean="0"/>
              <a:t>Web Analytics</a:t>
            </a:r>
          </a:p>
          <a:p>
            <a:pPr>
              <a:lnSpc>
                <a:spcPct val="90000"/>
              </a:lnSpc>
              <a:spcBef>
                <a:spcPct val="20000"/>
              </a:spcBef>
              <a:buClr>
                <a:srgbClr val="777777"/>
              </a:buClr>
              <a:buSzPct val="130000"/>
            </a:pPr>
            <a:r>
              <a:rPr lang="en-US" sz="1200" dirty="0" smtClean="0"/>
              <a:t>SQL Server Integration</a:t>
            </a:r>
          </a:p>
          <a:p>
            <a:pPr>
              <a:lnSpc>
                <a:spcPct val="90000"/>
              </a:lnSpc>
              <a:spcBef>
                <a:spcPct val="20000"/>
              </a:spcBef>
              <a:buClr>
                <a:srgbClr val="777777"/>
              </a:buClr>
              <a:buSzPct val="130000"/>
            </a:pPr>
            <a:r>
              <a:rPr lang="en-US" sz="1200" dirty="0" err="1" smtClean="0"/>
              <a:t>PowerPivot</a:t>
            </a:r>
            <a:endParaRPr lang="en-US" sz="1200" dirty="0" smtClean="0"/>
          </a:p>
        </p:txBody>
      </p:sp>
      <p:sp>
        <p:nvSpPr>
          <p:cNvPr id="25" name="TextBox 24"/>
          <p:cNvSpPr txBox="1"/>
          <p:nvPr/>
        </p:nvSpPr>
        <p:spPr>
          <a:xfrm>
            <a:off x="381000" y="1828801"/>
            <a:ext cx="2131994" cy="1588127"/>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Business Connectivity Services</a:t>
            </a:r>
          </a:p>
          <a:p>
            <a:pPr>
              <a:lnSpc>
                <a:spcPct val="90000"/>
              </a:lnSpc>
              <a:spcBef>
                <a:spcPct val="20000"/>
              </a:spcBef>
              <a:buClr>
                <a:srgbClr val="777777"/>
              </a:buClr>
              <a:buSzPct val="130000"/>
            </a:pPr>
            <a:r>
              <a:rPr lang="en-US" sz="1200" dirty="0" smtClean="0"/>
              <a:t>InfoPath Form Services</a:t>
            </a:r>
          </a:p>
          <a:p>
            <a:pPr>
              <a:lnSpc>
                <a:spcPct val="90000"/>
              </a:lnSpc>
              <a:spcBef>
                <a:spcPct val="20000"/>
              </a:spcBef>
              <a:buClr>
                <a:srgbClr val="777777"/>
              </a:buClr>
              <a:buSzPct val="130000"/>
            </a:pPr>
            <a:r>
              <a:rPr lang="en-US" sz="1200" dirty="0" smtClean="0"/>
              <a:t>External Lists</a:t>
            </a:r>
          </a:p>
          <a:p>
            <a:pPr>
              <a:lnSpc>
                <a:spcPct val="90000"/>
              </a:lnSpc>
              <a:spcBef>
                <a:spcPct val="20000"/>
              </a:spcBef>
              <a:buClr>
                <a:srgbClr val="777777"/>
              </a:buClr>
              <a:buSzPct val="130000"/>
            </a:pPr>
            <a:r>
              <a:rPr lang="en-US" sz="1200" dirty="0" smtClean="0"/>
              <a:t>Workflow</a:t>
            </a:r>
          </a:p>
          <a:p>
            <a:pPr>
              <a:lnSpc>
                <a:spcPct val="90000"/>
              </a:lnSpc>
              <a:spcBef>
                <a:spcPct val="20000"/>
              </a:spcBef>
              <a:buClr>
                <a:srgbClr val="777777"/>
              </a:buClr>
              <a:buSzPct val="130000"/>
            </a:pPr>
            <a:r>
              <a:rPr lang="en-US" sz="1200" dirty="0" smtClean="0"/>
              <a:t>SharePoint Designer</a:t>
            </a:r>
          </a:p>
          <a:p>
            <a:pPr>
              <a:lnSpc>
                <a:spcPct val="90000"/>
              </a:lnSpc>
              <a:spcBef>
                <a:spcPct val="20000"/>
              </a:spcBef>
              <a:buClr>
                <a:srgbClr val="777777"/>
              </a:buClr>
              <a:buSzPct val="130000"/>
            </a:pPr>
            <a:r>
              <a:rPr lang="en-US" sz="1200" dirty="0" smtClean="0"/>
              <a:t>Visual Studio</a:t>
            </a:r>
          </a:p>
          <a:p>
            <a:pPr>
              <a:lnSpc>
                <a:spcPct val="90000"/>
              </a:lnSpc>
              <a:spcBef>
                <a:spcPct val="20000"/>
              </a:spcBef>
              <a:buClr>
                <a:srgbClr val="777777"/>
              </a:buClr>
              <a:buSzPct val="130000"/>
            </a:pPr>
            <a:r>
              <a:rPr lang="en-US" sz="1200" dirty="0" smtClean="0"/>
              <a:t>API Enhancements</a:t>
            </a:r>
          </a:p>
          <a:p>
            <a:pPr>
              <a:lnSpc>
                <a:spcPct val="90000"/>
              </a:lnSpc>
              <a:spcBef>
                <a:spcPct val="20000"/>
              </a:spcBef>
              <a:buClr>
                <a:srgbClr val="777777"/>
              </a:buClr>
              <a:buSzPct val="130000"/>
            </a:pPr>
            <a:r>
              <a:rPr lang="en-US" sz="1200" dirty="0" smtClean="0"/>
              <a:t>REST/ATOM/RSS</a:t>
            </a:r>
          </a:p>
        </p:txBody>
      </p:sp>
      <p:grpSp>
        <p:nvGrpSpPr>
          <p:cNvPr id="2" name="Group 25"/>
          <p:cNvGrpSpPr/>
          <p:nvPr/>
        </p:nvGrpSpPr>
        <p:grpSpPr>
          <a:xfrm>
            <a:off x="2286000" y="1862344"/>
            <a:ext cx="4496217" cy="4005056"/>
            <a:chOff x="-406294" y="1828799"/>
            <a:chExt cx="6094413" cy="3962400"/>
          </a:xfrm>
        </p:grpSpPr>
        <p:grpSp>
          <p:nvGrpSpPr>
            <p:cNvPr id="3" name="Group 83"/>
            <p:cNvGrpSpPr/>
            <p:nvPr/>
          </p:nvGrpSpPr>
          <p:grpSpPr>
            <a:xfrm>
              <a:off x="-406294" y="1828799"/>
              <a:ext cx="6094413" cy="3962400"/>
              <a:chOff x="-4185" y="2085973"/>
              <a:chExt cx="4122018" cy="3605979"/>
            </a:xfrm>
          </p:grpSpPr>
          <p:grpSp>
            <p:nvGrpSpPr>
              <p:cNvPr id="4" name="Group 50"/>
              <p:cNvGrpSpPr/>
              <p:nvPr/>
            </p:nvGrpSpPr>
            <p:grpSpPr>
              <a:xfrm>
                <a:off x="-4185" y="2085973"/>
                <a:ext cx="4122018" cy="3605979"/>
                <a:chOff x="-4186" y="2145978"/>
                <a:chExt cx="4001959" cy="3500950"/>
              </a:xfrm>
            </p:grpSpPr>
            <p:sp>
              <p:nvSpPr>
                <p:cNvPr id="39" name="Oval 38"/>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000">
                    <a:solidFill>
                      <a:srgbClr val="FFFFFF"/>
                    </a:solidFill>
                  </a:endParaRPr>
                </a:p>
              </p:txBody>
            </p:sp>
            <p:pic>
              <p:nvPicPr>
                <p:cNvPr id="40" name="Picture 2" descr="\\SERVER3\Restrict\FTP_Root\Clients\White_Whale\2-20070_TAP_Airlift\Art\6-star pie cuts.png"/>
                <p:cNvPicPr>
                  <a:picLocks noChangeAspect="1" noChangeArrowheads="1"/>
                </p:cNvPicPr>
                <p:nvPr/>
              </p:nvPicPr>
              <p:blipFill>
                <a:blip r:embed="rId3" cstate="print"/>
                <a:stretch>
                  <a:fillRect/>
                </a:stretch>
              </p:blipFill>
              <p:spPr bwMode="auto">
                <a:xfrm rot="5400000">
                  <a:off x="246319" y="1895473"/>
                  <a:ext cx="3500950" cy="4001959"/>
                </a:xfrm>
                <a:prstGeom prst="rect">
                  <a:avLst/>
                </a:prstGeom>
                <a:noFill/>
              </p:spPr>
            </p:pic>
          </p:grpSp>
          <p:grpSp>
            <p:nvGrpSpPr>
              <p:cNvPr id="5" name="Group 82"/>
              <p:cNvGrpSpPr/>
              <p:nvPr/>
            </p:nvGrpSpPr>
            <p:grpSpPr>
              <a:xfrm>
                <a:off x="1197089" y="3056816"/>
                <a:ext cx="1774433" cy="1838194"/>
                <a:chOff x="1197089" y="3056816"/>
                <a:chExt cx="1774433" cy="1838194"/>
              </a:xfrm>
            </p:grpSpPr>
            <p:sp>
              <p:nvSpPr>
                <p:cNvPr id="36" name="Oval 35"/>
                <p:cNvSpPr/>
                <p:nvPr/>
              </p:nvSpPr>
              <p:spPr bwMode="auto">
                <a:xfrm>
                  <a:off x="1197089" y="3056816"/>
                  <a:ext cx="1774433" cy="1838194"/>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800" dirty="0" err="1">
                    <a:solidFill>
                      <a:srgbClr val="FFFFFF"/>
                    </a:solidFill>
                    <a:latin typeface="Segoe" pitchFamily="34" charset="0"/>
                  </a:endParaRPr>
                </a:p>
              </p:txBody>
            </p:sp>
            <p:pic>
              <p:nvPicPr>
                <p:cNvPr id="37" name="Content Placeholder 4" descr="ShrPt_h_rgb.png"/>
                <p:cNvPicPr>
                  <a:picLocks noChangeAspect="1"/>
                </p:cNvPicPr>
                <p:nvPr/>
              </p:nvPicPr>
              <p:blipFill>
                <a:blip r:embed="rId4" cstate="print"/>
                <a:srcRect r="83105" b="-8078"/>
                <a:stretch>
                  <a:fillRect/>
                </a:stretch>
              </p:blipFill>
              <p:spPr>
                <a:xfrm>
                  <a:off x="1882721" y="3482810"/>
                  <a:ext cx="453526" cy="539301"/>
                </a:xfrm>
                <a:prstGeom prst="rect">
                  <a:avLst/>
                </a:prstGeom>
              </p:spPr>
            </p:pic>
            <p:pic>
              <p:nvPicPr>
                <p:cNvPr id="38" name="Content Placeholder 4" descr="ShrPt_h_rgb.png"/>
                <p:cNvPicPr>
                  <a:picLocks noChangeAspect="1"/>
                </p:cNvPicPr>
                <p:nvPr/>
              </p:nvPicPr>
              <p:blipFill>
                <a:blip r:embed="rId4"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
          <p:nvSpPr>
            <p:cNvPr id="28" name="Rectangle 27"/>
            <p:cNvSpPr/>
            <p:nvPr/>
          </p:nvSpPr>
          <p:spPr>
            <a:xfrm>
              <a:off x="3189355" y="3124200"/>
              <a:ext cx="1889320" cy="389758"/>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Communities</a:t>
              </a:r>
            </a:p>
          </p:txBody>
        </p:sp>
        <p:sp>
          <p:nvSpPr>
            <p:cNvPr id="29" name="Rectangle 28"/>
            <p:cNvSpPr/>
            <p:nvPr/>
          </p:nvSpPr>
          <p:spPr>
            <a:xfrm>
              <a:off x="1726749" y="5055692"/>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Search</a:t>
              </a:r>
            </a:p>
          </p:txBody>
        </p:sp>
        <p:sp>
          <p:nvSpPr>
            <p:cNvPr id="30" name="Rectangle 29"/>
            <p:cNvSpPr/>
            <p:nvPr/>
          </p:nvSpPr>
          <p:spPr>
            <a:xfrm>
              <a:off x="1726752" y="2514600"/>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Sites</a:t>
              </a:r>
            </a:p>
          </p:txBody>
        </p:sp>
        <p:sp>
          <p:nvSpPr>
            <p:cNvPr id="31" name="Rectangle 30"/>
            <p:cNvSpPr/>
            <p:nvPr/>
          </p:nvSpPr>
          <p:spPr>
            <a:xfrm>
              <a:off x="66375" y="3124200"/>
              <a:ext cx="206667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Composites</a:t>
              </a:r>
            </a:p>
          </p:txBody>
        </p:sp>
        <p:sp>
          <p:nvSpPr>
            <p:cNvPr id="32" name="Rectangle 31"/>
            <p:cNvSpPr/>
            <p:nvPr/>
          </p:nvSpPr>
          <p:spPr>
            <a:xfrm>
              <a:off x="3555073" y="4292914"/>
              <a:ext cx="1366217"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Content</a:t>
              </a:r>
            </a:p>
          </p:txBody>
        </p:sp>
        <p:sp>
          <p:nvSpPr>
            <p:cNvPr id="33" name="Rectangle 32"/>
            <p:cNvSpPr/>
            <p:nvPr/>
          </p:nvSpPr>
          <p:spPr>
            <a:xfrm>
              <a:off x="406295" y="4292914"/>
              <a:ext cx="1334322"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Insights</a:t>
              </a:r>
            </a:p>
          </p:txBody>
        </p:sp>
      </p:gr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par>
                                <p:cTn id="8" presetID="10" presetClass="entr" presetSubtype="0"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500"/>
                                        <p:tgtEl>
                                          <p:spTgt spid="7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fade">
                                      <p:cBhvr>
                                        <p:cTn id="29" dur="500"/>
                                        <p:tgtEl>
                                          <p:spTgt spid="58"/>
                                        </p:tgtEl>
                                      </p:cBhvr>
                                    </p:animEffect>
                                  </p:childTnLst>
                                </p:cTn>
                              </p:par>
                              <p:par>
                                <p:cTn id="30" presetID="10" presetClass="entr" presetSubtype="0" fill="hold" nodeType="with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par>
                                <p:cTn id="41" presetID="10"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500"/>
                                        <p:tgtEl>
                                          <p:spTgt spid="45"/>
                                        </p:tgtEl>
                                      </p:cBhvr>
                                    </p:animEffect>
                                  </p:childTnLst>
                                </p:cTn>
                              </p:par>
                              <p:par>
                                <p:cTn id="52" presetID="10" presetClass="entr" presetSubtype="0" fill="hold"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p:tgtEl>
                                          <p:spTgt spid="10"/>
                                        </p:tgtEl>
                                      </p:cBhvr>
                                    </p:animEffect>
                                  </p:childTnLst>
                                </p:cTn>
                              </p:par>
                              <p:par>
                                <p:cTn id="63" presetID="10"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500"/>
                                        <p:tgtEl>
                                          <p:spTgt spid="1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5" grpId="0" animBg="1"/>
      <p:bldP spid="48" grpId="0" animBg="1"/>
      <p:bldP spid="58" grpId="0" animBg="1"/>
      <p:bldP spid="63" grpId="0" animBg="1"/>
      <p:bldP spid="70" grpId="0" animBg="1"/>
      <p:bldP spid="7" grpId="0"/>
      <p:bldP spid="20" grpId="0"/>
      <p:bldP spid="21" grpId="0"/>
      <p:bldP spid="22" grpId="0"/>
      <p:bldP spid="24" grpId="0"/>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Sites</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are Sites?</a:t>
            </a:r>
            <a:endParaRPr lang="en-US" dirty="0"/>
          </a:p>
        </p:txBody>
      </p:sp>
      <p:sp>
        <p:nvSpPr>
          <p:cNvPr id="3" name="Content Placeholder 2"/>
          <p:cNvSpPr>
            <a:spLocks noGrp="1"/>
          </p:cNvSpPr>
          <p:nvPr>
            <p:ph idx="1"/>
          </p:nvPr>
        </p:nvSpPr>
        <p:spPr/>
        <p:txBody>
          <a:bodyPr/>
          <a:lstStyle/>
          <a:p>
            <a:r>
              <a:rPr lang="en-US" dirty="0" smtClean="0"/>
              <a:t>The basic capabilities required to use SharePoint sites to engage employees, partners and customers in an effective manner, both inside and outside the firewall</a:t>
            </a:r>
          </a:p>
          <a:p>
            <a:endParaRPr lang="en-US" dirty="0" smtClean="0"/>
          </a:p>
          <a:p>
            <a:r>
              <a:rPr lang="en-US" dirty="0" smtClean="0"/>
              <a:t>On the old wheel: Part of the core Platform Services</a:t>
            </a:r>
            <a:endParaRPr lang="en-US"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Sites</a:t>
            </a:r>
            <a:endParaRPr lang="en-US" dirty="0"/>
          </a:p>
        </p:txBody>
      </p:sp>
      <p:pic>
        <p:nvPicPr>
          <p:cNvPr id="4" name="Picture 2" descr="\\server3\restrict\ftp_root\clients\white_Whale\3-10035_GideonBibliowicz\SFP_Art\SharePoint_Pie\Resized\Pie_Icon_AllColors.png"/>
          <p:cNvPicPr>
            <a:picLocks noChangeAspect="1" noChangeArrowheads="1"/>
          </p:cNvPicPr>
          <p:nvPr/>
        </p:nvPicPr>
        <p:blipFill>
          <a:blip r:embed="rId2" cstate="print"/>
          <a:stretch>
            <a:fillRect/>
          </a:stretch>
        </p:blipFill>
        <p:spPr bwMode="auto">
          <a:xfrm>
            <a:off x="8001000" y="1143000"/>
            <a:ext cx="941449" cy="936625"/>
          </a:xfrm>
          <a:prstGeom prst="rect">
            <a:avLst/>
          </a:prstGeom>
          <a:noFill/>
        </p:spPr>
      </p:pic>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Collaboration across Intranet, Extranet &amp; Internet</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Improved interoperability with standards support</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Out-of-box accessibility compliance for WCAG 2.0 </a:t>
            </a: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fontAlgn="base" hangingPunct="0">
              <a:lnSpc>
                <a:spcPct val="90000"/>
              </a:lnSpc>
              <a:spcBef>
                <a:spcPct val="30000"/>
              </a:spcBef>
              <a:spcAft>
                <a:spcPct val="0"/>
              </a:spcAft>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a:solidFill>
                  <a:srgbClr val="FFFFFF"/>
                </a:solidFill>
                <a:effectLst>
                  <a:outerShdw blurRad="38100" dist="38100" dir="2700000" algn="tl">
                    <a:srgbClr val="000000">
                      <a:alpha val="43137"/>
                    </a:srgbClr>
                  </a:outerShdw>
                </a:effectLst>
              </a:rPr>
              <a:t>Single Platform</a:t>
            </a: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Mobile-based interaction with people and content</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Read-write web access using Office Web Application</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Cross-browser support for maximized participation</a:t>
            </a: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fontAlgn="base" hangingPunct="0">
              <a:lnSpc>
                <a:spcPct val="90000"/>
              </a:lnSpc>
              <a:spcBef>
                <a:spcPct val="30000"/>
              </a:spcBef>
              <a:spcAft>
                <a:spcPct val="0"/>
              </a:spcAft>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a:solidFill>
                  <a:srgbClr val="FFFFFF"/>
                </a:solidFill>
                <a:effectLst>
                  <a:outerShdw blurRad="38100" dist="38100" dir="2700000" algn="tl">
                    <a:srgbClr val="000000">
                      <a:alpha val="43137"/>
                    </a:srgbClr>
                  </a:outerShdw>
                </a:effectLst>
              </a:rPr>
              <a:t>Anywhere Access</a:t>
            </a: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Easy site editing, including theming &amp; branding</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Office Ribbon UI for faster training &amp; adoption</a:t>
            </a:r>
          </a:p>
          <a:p>
            <a:pPr marL="333375" indent="-333375" defTabSz="914363" fontAlgn="base">
              <a:lnSpc>
                <a:spcPct val="90000"/>
              </a:lnSpc>
              <a:spcBef>
                <a:spcPct val="20000"/>
              </a:spcBef>
              <a:spcAft>
                <a:spcPct val="0"/>
              </a:spcAft>
              <a:buClr>
                <a:srgbClr val="0C2E68"/>
              </a:buClr>
              <a:buSzPct val="85000"/>
              <a:buBlip>
                <a:blip r:embed="rId3"/>
              </a:buBlip>
              <a:defRPr sz="2000" i="1">
                <a:solidFill>
                  <a:srgbClr val="FFFFFF"/>
                </a:solidFill>
              </a:defRPr>
            </a:pPr>
            <a:r>
              <a:rPr lang="en-US" sz="2000" i="1" dirty="0">
                <a:solidFill>
                  <a:schemeClr val="tx1"/>
                </a:solidFill>
              </a:rPr>
              <a:t>Rich offline experience with SharePoint Workspace</a:t>
            </a: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fontAlgn="base" hangingPunct="0">
              <a:lnSpc>
                <a:spcPct val="90000"/>
              </a:lnSpc>
              <a:spcBef>
                <a:spcPct val="30000"/>
              </a:spcBef>
              <a:spcAft>
                <a:spcPct val="0"/>
              </a:spcAft>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a:solidFill>
                  <a:srgbClr val="FFFFFF"/>
                </a:solidFill>
                <a:effectLst>
                  <a:outerShdw blurRad="38100" dist="38100" dir="2700000" algn="tl">
                    <a:srgbClr val="000000">
                      <a:alpha val="43137"/>
                    </a:srgbClr>
                  </a:outerShdw>
                </a:effectLst>
              </a:rPr>
              <a:t>Rich User Experience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Ribbon</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400" dirty="0" smtClean="0">
                <a:solidFill>
                  <a:schemeClr val="tx2"/>
                </a:solidFill>
              </a:rPr>
              <a:t>Formerly in Word, Access, Excel, PowerPoint</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Context aware menus</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Now available in SharePoint:</a:t>
            </a:r>
          </a:p>
        </p:txBody>
      </p:sp>
      <p:pic>
        <p:nvPicPr>
          <p:cNvPr id="1026" name="Picture 2"/>
          <p:cNvPicPr>
            <a:picLocks noChangeAspect="1" noChangeArrowheads="1"/>
          </p:cNvPicPr>
          <p:nvPr/>
        </p:nvPicPr>
        <p:blipFill>
          <a:blip r:embed="rId3"/>
          <a:srcRect/>
          <a:stretch>
            <a:fillRect/>
          </a:stretch>
        </p:blipFill>
        <p:spPr bwMode="auto">
          <a:xfrm>
            <a:off x="0" y="3657600"/>
            <a:ext cx="9144000" cy="984849"/>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Workspace</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3"/>
              </a:buBlip>
              <a:defRPr sz="2000" i="1">
                <a:solidFill>
                  <a:srgbClr val="FFFFFF"/>
                </a:solidFill>
              </a:defRPr>
            </a:pPr>
            <a:r>
              <a:rPr lang="en-US" sz="2400" dirty="0" smtClean="0">
                <a:solidFill>
                  <a:schemeClr val="tx2"/>
                </a:solidFill>
              </a:rPr>
              <a:t>Take lists, libraries, and files offline</a:t>
            </a:r>
          </a:p>
          <a:p>
            <a:pPr marL="333375" indent="-333375">
              <a:buClr>
                <a:srgbClr val="0C2E68"/>
              </a:buClr>
              <a:buSzPct val="85000"/>
              <a:buBlip>
                <a:blip r:embed="rId3"/>
              </a:buBlip>
              <a:defRPr sz="2000" i="1">
                <a:solidFill>
                  <a:srgbClr val="FFFFFF"/>
                </a:solidFill>
              </a:defRPr>
            </a:pPr>
            <a:r>
              <a:rPr lang="en-US" sz="2400" dirty="0" smtClean="0">
                <a:solidFill>
                  <a:schemeClr val="tx2"/>
                </a:solidFill>
              </a:rPr>
              <a:t>Syncs differences</a:t>
            </a:r>
          </a:p>
          <a:p>
            <a:pPr marL="333375" indent="-333375">
              <a:buClr>
                <a:srgbClr val="0C2E68"/>
              </a:buClr>
              <a:buSzPct val="85000"/>
              <a:buBlip>
                <a:blip r:embed="rId3"/>
              </a:buBlip>
              <a:defRPr sz="2000" i="1">
                <a:solidFill>
                  <a:srgbClr val="FFFFFF"/>
                </a:solidFill>
              </a:defRPr>
            </a:pPr>
            <a:r>
              <a:rPr lang="en-US" sz="2400" dirty="0" smtClean="0">
                <a:solidFill>
                  <a:schemeClr val="tx2"/>
                </a:solidFill>
              </a:rPr>
              <a:t>Formerly Groove:</a:t>
            </a:r>
          </a:p>
        </p:txBody>
      </p:sp>
      <p:pic>
        <p:nvPicPr>
          <p:cNvPr id="4098" name="Picture 2" descr="http://www.sharepointdevwiki.com/download/attachments/10780737/SPW.png?version=1&amp;modificationDate=1253960461000"/>
          <p:cNvPicPr>
            <a:picLocks noChangeAspect="1" noChangeArrowheads="1"/>
          </p:cNvPicPr>
          <p:nvPr/>
        </p:nvPicPr>
        <p:blipFill>
          <a:blip r:embed="rId4"/>
          <a:srcRect/>
          <a:stretch>
            <a:fillRect/>
          </a:stretch>
        </p:blipFill>
        <p:spPr bwMode="auto">
          <a:xfrm>
            <a:off x="3581400" y="2743200"/>
            <a:ext cx="5029200" cy="37719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098"/>
                                        </p:tgtEl>
                                        <p:attrNameLst>
                                          <p:attrName>style.visibility</p:attrName>
                                        </p:attrNameLst>
                                      </p:cBhvr>
                                      <p:to>
                                        <p:strVal val="visible"/>
                                      </p:to>
                                    </p:set>
                                    <p:animEffect transition="in" filter="fade">
                                      <p:cBhvr>
                                        <p:cTn id="19"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400" dirty="0" smtClean="0">
                <a:solidFill>
                  <a:schemeClr val="tx2"/>
                </a:solidFill>
              </a:rPr>
              <a:t>Native Client for Windows Mobile devices</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Mobile SDK for developing custom mobile experiences</a:t>
            </a:r>
          </a:p>
        </p:txBody>
      </p:sp>
      <p:sp>
        <p:nvSpPr>
          <p:cNvPr id="4" name="TextBox 3"/>
          <p:cNvSpPr txBox="1"/>
          <p:nvPr/>
        </p:nvSpPr>
        <p:spPr>
          <a:xfrm>
            <a:off x="1078928" y="5953780"/>
            <a:ext cx="1447800" cy="43088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1100" dirty="0" smtClean="0"/>
              <a:t>Access multiple sites and libraries</a:t>
            </a:r>
          </a:p>
        </p:txBody>
      </p:sp>
      <p:sp>
        <p:nvSpPr>
          <p:cNvPr id="5" name="TextBox 4"/>
          <p:cNvSpPr txBox="1"/>
          <p:nvPr/>
        </p:nvSpPr>
        <p:spPr>
          <a:xfrm>
            <a:off x="3060128" y="5953780"/>
            <a:ext cx="1447800" cy="43088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1100" dirty="0" smtClean="0"/>
              <a:t>View and sync libraries easily</a:t>
            </a:r>
            <a:endParaRPr lang="en-US" sz="1100" dirty="0"/>
          </a:p>
        </p:txBody>
      </p:sp>
      <p:sp>
        <p:nvSpPr>
          <p:cNvPr id="6" name="TextBox 5"/>
          <p:cNvSpPr txBox="1"/>
          <p:nvPr/>
        </p:nvSpPr>
        <p:spPr>
          <a:xfrm>
            <a:off x="5041328" y="5953780"/>
            <a:ext cx="1447800" cy="43088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1100" dirty="0"/>
              <a:t>Access your content offline</a:t>
            </a:r>
          </a:p>
        </p:txBody>
      </p:sp>
      <p:grpSp>
        <p:nvGrpSpPr>
          <p:cNvPr id="7" name="Group 6"/>
          <p:cNvGrpSpPr/>
          <p:nvPr/>
        </p:nvGrpSpPr>
        <p:grpSpPr>
          <a:xfrm>
            <a:off x="914400" y="3810000"/>
            <a:ext cx="1688528" cy="1981200"/>
            <a:chOff x="140272" y="3886200"/>
            <a:chExt cx="1688528" cy="1981200"/>
          </a:xfrm>
        </p:grpSpPr>
        <p:pic>
          <p:nvPicPr>
            <p:cNvPr id="8" name="Picture 7"/>
            <p:cNvPicPr>
              <a:picLocks noChangeAspect="1"/>
            </p:cNvPicPr>
            <p:nvPr/>
          </p:nvPicPr>
          <p:blipFill rotWithShape="1">
            <a:blip r:embed="rId3">
              <a:extLst/>
            </a:blip>
            <a:srcRect b="1309"/>
            <a:stretch/>
          </p:blipFill>
          <p:spPr>
            <a:xfrm>
              <a:off x="140272" y="3886200"/>
              <a:ext cx="1688528" cy="1981200"/>
            </a:xfrm>
            <a:prstGeom prst="rect">
              <a:avLst/>
            </a:prstGeom>
            <a:ln w="38100"/>
          </p:spPr>
          <p:style>
            <a:lnRef idx="2">
              <a:schemeClr val="accent6"/>
            </a:lnRef>
            <a:fillRef idx="1">
              <a:schemeClr val="lt1"/>
            </a:fillRef>
            <a:effectRef idx="0">
              <a:schemeClr val="accent6"/>
            </a:effectRef>
            <a:fontRef idx="minor">
              <a:schemeClr val="dk1"/>
            </a:fontRef>
          </p:style>
        </p:pic>
        <p:pic>
          <p:nvPicPr>
            <p:cNvPr id="9" name="Picture 2"/>
            <p:cNvPicPr>
              <a:picLocks noChangeAspect="1" noChangeArrowheads="1"/>
            </p:cNvPicPr>
            <p:nvPr/>
          </p:nvPicPr>
          <p:blipFill rotWithShape="1">
            <a:blip r:embed="rId4"/>
            <a:srcRect l="1894" t="23287" r="10277" b="32843"/>
            <a:stretch/>
          </p:blipFill>
          <p:spPr bwMode="auto">
            <a:xfrm>
              <a:off x="152400" y="4343400"/>
              <a:ext cx="1676399" cy="1066800"/>
            </a:xfrm>
            <a:prstGeom prst="rect">
              <a:avLst/>
            </a:prstGeom>
            <a:noFill/>
            <a:ln w="9525">
              <a:noFill/>
              <a:miter lim="800000"/>
              <a:headEnd/>
              <a:tailEnd/>
            </a:ln>
            <a:effectLst/>
          </p:spPr>
        </p:pic>
      </p:grpSp>
      <p:grpSp>
        <p:nvGrpSpPr>
          <p:cNvPr id="10" name="Group 9"/>
          <p:cNvGrpSpPr/>
          <p:nvPr/>
        </p:nvGrpSpPr>
        <p:grpSpPr>
          <a:xfrm>
            <a:off x="4888928" y="3810000"/>
            <a:ext cx="1688528" cy="1981200"/>
            <a:chOff x="3874072" y="3886200"/>
            <a:chExt cx="1688528" cy="1981200"/>
          </a:xfrm>
        </p:grpSpPr>
        <p:pic>
          <p:nvPicPr>
            <p:cNvPr id="11" name="Picture 10"/>
            <p:cNvPicPr>
              <a:picLocks noChangeAspect="1"/>
            </p:cNvPicPr>
            <p:nvPr/>
          </p:nvPicPr>
          <p:blipFill rotWithShape="1">
            <a:blip r:embed="rId3">
              <a:extLst/>
            </a:blip>
            <a:srcRect b="1309"/>
            <a:stretch/>
          </p:blipFill>
          <p:spPr>
            <a:xfrm>
              <a:off x="3874072" y="3886200"/>
              <a:ext cx="1688528" cy="1981200"/>
            </a:xfrm>
            <a:prstGeom prst="rect">
              <a:avLst/>
            </a:prstGeom>
            <a:ln w="38100"/>
          </p:spPr>
          <p:style>
            <a:lnRef idx="2">
              <a:schemeClr val="accent6"/>
            </a:lnRef>
            <a:fillRef idx="1">
              <a:schemeClr val="lt1"/>
            </a:fillRef>
            <a:effectRef idx="0">
              <a:schemeClr val="accent6"/>
            </a:effectRef>
            <a:fontRef idx="minor">
              <a:schemeClr val="dk1"/>
            </a:fontRef>
          </p:style>
        </p:pic>
        <p:pic>
          <p:nvPicPr>
            <p:cNvPr id="12" name="Picture 1"/>
            <p:cNvPicPr>
              <a:picLocks noChangeAspect="1" noChangeArrowheads="1"/>
            </p:cNvPicPr>
            <p:nvPr/>
          </p:nvPicPr>
          <p:blipFill rotWithShape="1">
            <a:blip r:embed="rId5"/>
            <a:srcRect l="2464" t="22623" r="2974" b="21630"/>
            <a:stretch/>
          </p:blipFill>
          <p:spPr bwMode="auto">
            <a:xfrm>
              <a:off x="3886200" y="4346377"/>
              <a:ext cx="1676400" cy="1316328"/>
            </a:xfrm>
            <a:prstGeom prst="rect">
              <a:avLst/>
            </a:prstGeom>
            <a:noFill/>
            <a:ln w="9525">
              <a:noFill/>
              <a:miter lim="800000"/>
              <a:headEnd/>
              <a:tailEnd/>
            </a:ln>
            <a:effectLst/>
          </p:spPr>
        </p:pic>
      </p:grpSp>
      <p:grpSp>
        <p:nvGrpSpPr>
          <p:cNvPr id="13" name="Group 12"/>
          <p:cNvGrpSpPr/>
          <p:nvPr/>
        </p:nvGrpSpPr>
        <p:grpSpPr>
          <a:xfrm>
            <a:off x="2907728" y="3810000"/>
            <a:ext cx="1688528" cy="1981200"/>
            <a:chOff x="2121472" y="3886200"/>
            <a:chExt cx="1688528" cy="1981200"/>
          </a:xfrm>
        </p:grpSpPr>
        <p:pic>
          <p:nvPicPr>
            <p:cNvPr id="14" name="Picture 13"/>
            <p:cNvPicPr>
              <a:picLocks noChangeAspect="1"/>
            </p:cNvPicPr>
            <p:nvPr/>
          </p:nvPicPr>
          <p:blipFill rotWithShape="1">
            <a:blip r:embed="rId3">
              <a:extLst/>
            </a:blip>
            <a:srcRect b="1309"/>
            <a:stretch/>
          </p:blipFill>
          <p:spPr>
            <a:xfrm>
              <a:off x="2121472" y="3886200"/>
              <a:ext cx="1688528" cy="1981200"/>
            </a:xfrm>
            <a:prstGeom prst="rect">
              <a:avLst/>
            </a:prstGeom>
            <a:ln w="38100"/>
          </p:spPr>
          <p:style>
            <a:lnRef idx="2">
              <a:schemeClr val="accent6"/>
            </a:lnRef>
            <a:fillRef idx="1">
              <a:schemeClr val="lt1"/>
            </a:fillRef>
            <a:effectRef idx="0">
              <a:schemeClr val="accent6"/>
            </a:effectRef>
            <a:fontRef idx="minor">
              <a:schemeClr val="dk1"/>
            </a:fontRef>
          </p:style>
        </p:pic>
        <p:pic>
          <p:nvPicPr>
            <p:cNvPr id="15" name="Picture 4"/>
            <p:cNvPicPr>
              <a:picLocks noChangeAspect="1" noChangeArrowheads="1"/>
            </p:cNvPicPr>
            <p:nvPr/>
          </p:nvPicPr>
          <p:blipFill rotWithShape="1">
            <a:blip r:embed="rId6"/>
            <a:srcRect l="2493" t="22668" r="10418" b="21813"/>
            <a:stretch/>
          </p:blipFill>
          <p:spPr bwMode="auto">
            <a:xfrm>
              <a:off x="2133600" y="4343401"/>
              <a:ext cx="1676399" cy="1447800"/>
            </a:xfrm>
            <a:prstGeom prst="rect">
              <a:avLst/>
            </a:prstGeom>
            <a:noFill/>
            <a:ln w="9525">
              <a:noFill/>
              <a:miter lim="800000"/>
              <a:headEnd/>
              <a:tailEnd/>
            </a:ln>
            <a:effectLst/>
          </p:spPr>
        </p:pic>
      </p:grpSp>
      <p:pic>
        <p:nvPicPr>
          <p:cNvPr id="16" name="Picture 15" descr="C:\My Data\Office Mobile 14\ofc-Mobile_rgb.png"/>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6096000" y="1371600"/>
            <a:ext cx="2871386" cy="609600"/>
          </a:xfrm>
          <a:prstGeom prst="rect">
            <a:avLst/>
          </a:prstGeom>
          <a:ln>
            <a:solidFill>
              <a:schemeClr val="bg1"/>
            </a:solidFill>
          </a:ln>
          <a:effectLst>
            <a:glow rad="101600">
              <a:schemeClr val="accent6">
                <a:satMod val="175000"/>
                <a:alpha val="40000"/>
              </a:schemeClr>
            </a:glow>
          </a:effectLst>
          <a:extLst/>
        </p:spPr>
        <p:style>
          <a:lnRef idx="2">
            <a:schemeClr val="accent6"/>
          </a:lnRef>
          <a:fillRef idx="1">
            <a:schemeClr val="lt1"/>
          </a:fillRef>
          <a:effectRef idx="0">
            <a:schemeClr val="accent6"/>
          </a:effectRef>
          <a:fontRef idx="minor">
            <a:schemeClr val="dk1"/>
          </a:fontRef>
        </p:style>
      </p:pic>
      <p:grpSp>
        <p:nvGrpSpPr>
          <p:cNvPr id="19" name="Group 18"/>
          <p:cNvGrpSpPr/>
          <p:nvPr/>
        </p:nvGrpSpPr>
        <p:grpSpPr>
          <a:xfrm>
            <a:off x="7577717" y="3962400"/>
            <a:ext cx="732893" cy="977557"/>
            <a:chOff x="7577717" y="3962400"/>
            <a:chExt cx="732893" cy="977557"/>
          </a:xfrm>
        </p:grpSpPr>
        <p:pic>
          <p:nvPicPr>
            <p:cNvPr id="17" name="Picture 4"/>
            <p:cNvPicPr>
              <a:picLocks noChangeAspect="1" noChangeArrowheads="1"/>
            </p:cNvPicPr>
            <p:nvPr/>
          </p:nvPicPr>
          <p:blipFill>
            <a:blip r:embed="rId8">
              <a:extLst>
                <a:ext uri="{28A0092B-C50C-407E-A947-70E740481C1C}">
                  <a14:useLocalDpi xmlns="" xmlns:a14="http://schemas.microsoft.com/office/drawing/2010/main" val="0"/>
                </a:ext>
              </a:extLst>
            </a:blip>
            <a:srcRect/>
            <a:stretch>
              <a:fillRect/>
            </a:stretch>
          </p:blipFill>
          <p:spPr bwMode="auto">
            <a:xfrm>
              <a:off x="7696771" y="3962400"/>
              <a:ext cx="455047" cy="469726"/>
            </a:xfrm>
            <a:prstGeom prst="rect">
              <a:avLst/>
            </a:prstGeom>
            <a:noFill/>
            <a:ln>
              <a:noFill/>
            </a:ln>
            <a:effectLst/>
            <a:extLst/>
          </p:spPr>
        </p:pic>
        <p:sp>
          <p:nvSpPr>
            <p:cNvPr id="18" name="Rectangle 17"/>
            <p:cNvSpPr/>
            <p:nvPr/>
          </p:nvSpPr>
          <p:spPr>
            <a:xfrm>
              <a:off x="7577717" y="4432126"/>
              <a:ext cx="732893" cy="507831"/>
            </a:xfrm>
            <a:prstGeom prst="rect">
              <a:avLst/>
            </a:prstGeom>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r>
                <a:rPr lang="en-US" sz="900" dirty="0" smtClean="0">
                  <a:solidFill>
                    <a:srgbClr val="000000"/>
                  </a:solidFill>
                  <a:latin typeface="Calibri" pitchFamily="34" charset="0"/>
                  <a:sym typeface="Wingdings" pitchFamily="2" charset="2"/>
                </a:rPr>
                <a:t>SharePoint </a:t>
              </a:r>
            </a:p>
            <a:p>
              <a:pPr algn="ctr"/>
              <a:r>
                <a:rPr lang="en-US" sz="900" dirty="0" smtClean="0">
                  <a:solidFill>
                    <a:srgbClr val="000000"/>
                  </a:solidFill>
                  <a:latin typeface="Calibri" pitchFamily="34" charset="0"/>
                  <a:sym typeface="Wingdings" pitchFamily="2" charset="2"/>
                </a:rPr>
                <a:t>Workspace </a:t>
              </a:r>
              <a:br>
                <a:rPr lang="en-US" sz="900" dirty="0" smtClean="0">
                  <a:solidFill>
                    <a:srgbClr val="000000"/>
                  </a:solidFill>
                  <a:latin typeface="Calibri" pitchFamily="34" charset="0"/>
                  <a:sym typeface="Wingdings" pitchFamily="2" charset="2"/>
                </a:rPr>
              </a:br>
              <a:r>
                <a:rPr lang="en-US" sz="900" dirty="0" smtClean="0">
                  <a:solidFill>
                    <a:srgbClr val="000000"/>
                  </a:solidFill>
                  <a:latin typeface="Calibri" pitchFamily="34" charset="0"/>
                  <a:sym typeface="Wingdings" pitchFamily="2" charset="2"/>
                </a:rPr>
                <a:t>Mobile</a:t>
              </a:r>
              <a:endParaRPr lang="en-US" sz="9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20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Office Web Application</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400" dirty="0" smtClean="0">
                <a:solidFill>
                  <a:schemeClr val="tx2"/>
                </a:solidFill>
              </a:rPr>
              <a:t>Rich experience in the browser</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Supports co-authoring of Office Client Documents</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Cross Browser Support</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181600" y="3200400"/>
            <a:ext cx="3505200" cy="3354557"/>
          </a:xfrm>
          <a:prstGeom prst="rect">
            <a:avLst/>
          </a:prstGeom>
          <a:noFill/>
          <a:ln>
            <a:noFill/>
          </a:ln>
          <a:effectLs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28599" y="3581400"/>
            <a:ext cx="4147377" cy="2971800"/>
          </a:xfrm>
          <a:prstGeom prst="rect">
            <a:avLst/>
          </a:prstGeom>
          <a:noFill/>
          <a:ln>
            <a:noFill/>
          </a:ln>
          <a:effectLs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400" dirty="0" smtClean="0">
                <a:solidFill>
                  <a:schemeClr val="tx2"/>
                </a:solidFill>
              </a:rPr>
              <a:t>Ribbon UI</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Site Editing</a:t>
            </a:r>
          </a:p>
          <a:p>
            <a:pPr marL="333375" indent="-333375">
              <a:buClr>
                <a:srgbClr val="0C2E68"/>
              </a:buClr>
              <a:buSzPct val="85000"/>
              <a:buBlip>
                <a:blip r:embed="rId2"/>
              </a:buBlip>
              <a:defRPr sz="2000" i="1">
                <a:solidFill>
                  <a:srgbClr val="FFFFFF"/>
                </a:solidFill>
              </a:defRPr>
            </a:pPr>
            <a:r>
              <a:rPr lang="en-US" sz="2400" dirty="0" smtClean="0">
                <a:solidFill>
                  <a:schemeClr val="tx2"/>
                </a:solidFill>
              </a:rPr>
              <a:t>Silverlight Web Part</a:t>
            </a:r>
          </a:p>
          <a:p>
            <a:pPr marL="333375" indent="-333375">
              <a:buClr>
                <a:srgbClr val="0C2E68"/>
              </a:buClr>
              <a:buSzPct val="85000"/>
              <a:buBlip>
                <a:blip r:embed="rId2"/>
              </a:buBlip>
              <a:defRPr sz="2000" i="1">
                <a:solidFill>
                  <a:srgbClr val="FFFFFF"/>
                </a:solidFill>
              </a:defRPr>
            </a:pPr>
            <a:r>
              <a:rPr lang="en-US" sz="2400" dirty="0" err="1" smtClean="0">
                <a:solidFill>
                  <a:schemeClr val="tx2"/>
                </a:solidFill>
              </a:rPr>
              <a:t>Theming</a:t>
            </a:r>
            <a:endParaRPr lang="en-US" sz="2400" dirty="0" smtClean="0">
              <a:solidFill>
                <a:schemeClr val="tx2"/>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Communities</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are Communities?</a:t>
            </a:r>
            <a:endParaRPr lang="en-US" dirty="0"/>
          </a:p>
        </p:txBody>
      </p:sp>
      <p:sp>
        <p:nvSpPr>
          <p:cNvPr id="3" name="Content Placeholder 2"/>
          <p:cNvSpPr>
            <a:spLocks noGrp="1"/>
          </p:cNvSpPr>
          <p:nvPr>
            <p:ph idx="1"/>
          </p:nvPr>
        </p:nvSpPr>
        <p:spPr/>
        <p:txBody>
          <a:bodyPr/>
          <a:lstStyle/>
          <a:p>
            <a:r>
              <a:rPr lang="en-US" dirty="0" smtClean="0"/>
              <a:t>The ability to easily access expertise and interact with other people in new and creative ways across the enterprise through both formal and informal networks</a:t>
            </a:r>
          </a:p>
          <a:p>
            <a:endParaRPr lang="en-US" dirty="0" smtClean="0"/>
          </a:p>
          <a:p>
            <a:r>
              <a:rPr lang="en-US" dirty="0" smtClean="0"/>
              <a:t>On the old wheel: Formally known as Collaboration</a:t>
            </a:r>
            <a:endParaRPr 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Communities</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Work with peers whether online or offline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Collaborate on the go through the mobile UI</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Enrich existing applications with social context</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Participation Anywhere</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Connecting users through enhanced profiles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Staying up-to-date using news feeds and alerts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Make expertise discovery easy across the enterprise</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Social Connections</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Promote sharing with easy social authoring</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Easily navigate resources with pervasive tagging</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Find better answers faster via user feedback</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Informal Knowledge</a:t>
            </a:r>
            <a:endParaRPr lang="en-US" altLang="zh-CN" sz="2000" b="1" i="1" dirty="0">
              <a:solidFill>
                <a:srgbClr val="FFFFFF"/>
              </a:solidFill>
              <a:effectLst>
                <a:outerShdw blurRad="38100" dist="38100" dir="2700000" algn="tl">
                  <a:srgbClr val="000000">
                    <a:alpha val="43137"/>
                  </a:srgbClr>
                </a:outerShdw>
              </a:effectLst>
            </a:endParaRPr>
          </a:p>
        </p:txBody>
      </p:sp>
      <p:pic>
        <p:nvPicPr>
          <p:cNvPr id="11" name="Picture 2" descr="\\server3\restrict\ftp_root\clients\white_Whale\3-10035_GideonBibliowicz\SFP_Art\SharePoint_Pie\Resized\Pie_Icon_AllColors.png"/>
          <p:cNvPicPr>
            <a:picLocks noChangeAspect="1" noChangeArrowheads="1"/>
          </p:cNvPicPr>
          <p:nvPr/>
        </p:nvPicPr>
        <p:blipFill>
          <a:blip r:embed="rId3" cstate="print"/>
          <a:stretch>
            <a:fillRect/>
          </a:stretch>
        </p:blipFill>
        <p:spPr bwMode="auto">
          <a:xfrm rot="3762093">
            <a:off x="8005432" y="1155815"/>
            <a:ext cx="933269" cy="921543"/>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400" i="1">
                <a:solidFill>
                  <a:schemeClr val="bg1"/>
                </a:solidFill>
              </a:defRPr>
            </a:pPr>
            <a:r>
              <a:rPr lang="en-US" dirty="0" smtClean="0">
                <a:solidFill>
                  <a:schemeClr val="tx2"/>
                </a:solidFill>
              </a:rPr>
              <a:t>My Sites &amp; Profiles</a:t>
            </a:r>
          </a:p>
        </p:txBody>
      </p:sp>
      <p:sp>
        <p:nvSpPr>
          <p:cNvPr id="3" name="Content Placeholder 2"/>
          <p:cNvSpPr>
            <a:spLocks noGrp="1"/>
          </p:cNvSpPr>
          <p:nvPr>
            <p:ph idx="1"/>
          </p:nvPr>
        </p:nvSpPr>
        <p:spPr>
          <a:xfrm>
            <a:off x="457200" y="2209800"/>
            <a:ext cx="3429000" cy="3916363"/>
          </a:xfrm>
        </p:spPr>
        <p:txBody>
          <a:bodyPr/>
          <a:lstStyle/>
          <a:p>
            <a:pPr marL="333375" indent="-333375">
              <a:buClr>
                <a:srgbClr val="0C2E68"/>
              </a:buClr>
              <a:buSzPct val="85000"/>
              <a:buBlip>
                <a:blip r:embed="rId2"/>
              </a:buBlip>
              <a:defRPr sz="2400" i="1">
                <a:solidFill>
                  <a:schemeClr val="bg1"/>
                </a:solidFill>
              </a:defRPr>
            </a:pPr>
            <a:r>
              <a:rPr lang="en-US" dirty="0" smtClean="0">
                <a:solidFill>
                  <a:schemeClr val="tx2"/>
                </a:solidFill>
              </a:rPr>
              <a:t>Enhanced!</a:t>
            </a:r>
          </a:p>
          <a:p>
            <a:pPr marL="333375" indent="-333375">
              <a:buClr>
                <a:srgbClr val="0C2E68"/>
              </a:buClr>
              <a:buSzPct val="85000"/>
              <a:buBlip>
                <a:blip r:embed="rId2"/>
              </a:buBlip>
              <a:defRPr sz="2400" i="1">
                <a:solidFill>
                  <a:schemeClr val="bg1"/>
                </a:solidFill>
              </a:defRPr>
            </a:pPr>
            <a:r>
              <a:rPr lang="en-US" dirty="0" smtClean="0">
                <a:solidFill>
                  <a:schemeClr val="tx2"/>
                </a:solidFill>
              </a:rPr>
              <a:t>Status Updates</a:t>
            </a:r>
          </a:p>
          <a:p>
            <a:pPr marL="333375" indent="-333375">
              <a:buClr>
                <a:srgbClr val="0C2E68"/>
              </a:buClr>
              <a:buSzPct val="85000"/>
              <a:buBlip>
                <a:blip r:embed="rId2"/>
              </a:buBlip>
              <a:defRPr sz="2400" i="1">
                <a:solidFill>
                  <a:schemeClr val="bg1"/>
                </a:solidFill>
              </a:defRPr>
            </a:pPr>
            <a:r>
              <a:rPr lang="en-US" dirty="0" smtClean="0">
                <a:solidFill>
                  <a:schemeClr val="tx2"/>
                </a:solidFill>
              </a:rPr>
              <a:t>Org Chart</a:t>
            </a:r>
          </a:p>
          <a:p>
            <a:pPr marL="333375" indent="-333375">
              <a:buClr>
                <a:srgbClr val="0C2E68"/>
              </a:buClr>
              <a:buSzPct val="85000"/>
              <a:buBlip>
                <a:blip r:embed="rId2"/>
              </a:buBlip>
              <a:defRPr sz="2400" i="1">
                <a:solidFill>
                  <a:schemeClr val="bg1"/>
                </a:solidFill>
              </a:defRPr>
            </a:pPr>
            <a:r>
              <a:rPr lang="en-US" dirty="0" smtClean="0">
                <a:solidFill>
                  <a:schemeClr val="tx2"/>
                </a:solidFill>
              </a:rPr>
              <a:t>Activity Feeds</a:t>
            </a:r>
          </a:p>
          <a:p>
            <a:pPr marL="333375" indent="-333375">
              <a:buClr>
                <a:srgbClr val="0C2E68"/>
              </a:buClr>
              <a:buSzPct val="85000"/>
              <a:buBlip>
                <a:blip r:embed="rId2"/>
              </a:buBlip>
              <a:defRPr sz="2400" i="1">
                <a:solidFill>
                  <a:schemeClr val="bg1"/>
                </a:solidFill>
              </a:defRPr>
            </a:pPr>
            <a:r>
              <a:rPr lang="en-US" dirty="0" smtClean="0">
                <a:solidFill>
                  <a:schemeClr val="tx2"/>
                </a:solidFill>
              </a:rPr>
              <a:t>Tags &amp; Notes</a:t>
            </a:r>
          </a:p>
          <a:p>
            <a:pPr marL="333375" indent="-333375">
              <a:buClr>
                <a:srgbClr val="0C2E68"/>
              </a:buClr>
              <a:buSzPct val="85000"/>
              <a:buBlip>
                <a:blip r:embed="rId2"/>
              </a:buBlip>
              <a:defRPr sz="2400" i="1">
                <a:solidFill>
                  <a:schemeClr val="bg1"/>
                </a:solidFill>
              </a:defRPr>
            </a:pPr>
            <a:endParaRPr lang="en-US" dirty="0" smtClean="0">
              <a:solidFill>
                <a:schemeClr val="tx2"/>
              </a:solidFill>
            </a:endParaRPr>
          </a:p>
          <a:p>
            <a:pPr marL="333375" indent="-333375">
              <a:buClr>
                <a:srgbClr val="0C2E68"/>
              </a:buClr>
              <a:buSzPct val="85000"/>
              <a:buBlip>
                <a:blip r:embed="rId2"/>
              </a:buBlip>
              <a:defRPr sz="2400" i="1">
                <a:solidFill>
                  <a:schemeClr val="bg1"/>
                </a:solidFill>
              </a:defRPr>
            </a:pPr>
            <a:endParaRPr lang="en-US" dirty="0" smtClean="0">
              <a:solidFill>
                <a:schemeClr val="tx2"/>
              </a:solidFill>
            </a:endParaRPr>
          </a:p>
          <a:p>
            <a:pPr marL="333375" indent="-333375">
              <a:buClr>
                <a:srgbClr val="0C2E68"/>
              </a:buClr>
              <a:buSzPct val="85000"/>
              <a:buNone/>
              <a:defRPr sz="2400" i="1">
                <a:solidFill>
                  <a:schemeClr val="bg1"/>
                </a:solidFill>
              </a:defRPr>
            </a:pPr>
            <a:endParaRPr lang="en-US" dirty="0" smtClean="0">
              <a:solidFill>
                <a:schemeClr val="tx2"/>
              </a:solidFill>
            </a:endParaRPr>
          </a:p>
          <a:p>
            <a:pPr marL="333375" indent="-333375">
              <a:buClr>
                <a:srgbClr val="0C2E68"/>
              </a:buClr>
              <a:buSzPct val="85000"/>
              <a:buNone/>
              <a:defRPr sz="2400" i="1">
                <a:solidFill>
                  <a:schemeClr val="bg1"/>
                </a:solidFill>
              </a:defRPr>
            </a:pPr>
            <a:endParaRPr lang="en-US" dirty="0" smtClean="0">
              <a:solidFill>
                <a:schemeClr val="tx2"/>
              </a:solidFill>
            </a:endParaRPr>
          </a:p>
          <a:p>
            <a:endParaRPr lang="en-US" dirty="0"/>
          </a:p>
        </p:txBody>
      </p:sp>
      <p:pic>
        <p:nvPicPr>
          <p:cNvPr id="70658" name="Picture 2" descr="http://blogs.msdn.com/blogfiles/sharepoint/WindowsLiveWriter/SharePoint2010_13F16/image11.png"/>
          <p:cNvPicPr>
            <a:picLocks noChangeAspect="1" noChangeArrowheads="1"/>
          </p:cNvPicPr>
          <p:nvPr/>
        </p:nvPicPr>
        <p:blipFill>
          <a:blip r:embed="rId3"/>
          <a:srcRect/>
          <a:stretch>
            <a:fillRect/>
          </a:stretch>
        </p:blipFill>
        <p:spPr bwMode="auto">
          <a:xfrm>
            <a:off x="2819400" y="1723149"/>
            <a:ext cx="6324601" cy="488857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658"/>
                                        </p:tgtEl>
                                        <p:attrNameLst>
                                          <p:attrName>style.visibility</p:attrName>
                                        </p:attrNameLst>
                                      </p:cBhvr>
                                      <p:to>
                                        <p:strVal val="visible"/>
                                      </p:to>
                                    </p:set>
                                    <p:animEffect transition="in" filter="fade">
                                      <p:cBhvr>
                                        <p:cTn id="12" dur="500"/>
                                        <p:tgtEl>
                                          <p:spTgt spid="7065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400" i="1">
                <a:solidFill>
                  <a:schemeClr val="bg1"/>
                </a:solidFill>
              </a:defRPr>
            </a:pPr>
            <a:r>
              <a:rPr lang="en-US" dirty="0" smtClean="0">
                <a:solidFill>
                  <a:schemeClr val="tx2"/>
                </a:solidFill>
              </a:rPr>
              <a:t>Tags, Notes &amp; Ratings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400" i="1">
                <a:solidFill>
                  <a:schemeClr val="bg1"/>
                </a:solidFill>
              </a:defRPr>
            </a:pPr>
            <a:r>
              <a:rPr lang="en-US" dirty="0" smtClean="0">
                <a:solidFill>
                  <a:schemeClr val="tx2"/>
                </a:solidFill>
              </a:rPr>
              <a:t>New! </a:t>
            </a:r>
          </a:p>
          <a:p>
            <a:pPr marL="333375" indent="-333375">
              <a:buClr>
                <a:srgbClr val="0C2E68"/>
              </a:buClr>
              <a:buSzPct val="85000"/>
              <a:buBlip>
                <a:blip r:embed="rId2"/>
              </a:buBlip>
              <a:defRPr sz="2400" i="1">
                <a:solidFill>
                  <a:schemeClr val="bg1"/>
                </a:solidFill>
              </a:defRPr>
            </a:pPr>
            <a:r>
              <a:rPr lang="en-US" dirty="0" smtClean="0">
                <a:solidFill>
                  <a:schemeClr val="tx2"/>
                </a:solidFill>
              </a:rPr>
              <a:t>Tag items with keywords</a:t>
            </a:r>
          </a:p>
          <a:p>
            <a:pPr marL="333375" indent="-333375">
              <a:buClr>
                <a:srgbClr val="0C2E68"/>
              </a:buClr>
              <a:buSzPct val="85000"/>
              <a:buBlip>
                <a:blip r:embed="rId2"/>
              </a:buBlip>
              <a:defRPr sz="2400" i="1">
                <a:solidFill>
                  <a:schemeClr val="bg1"/>
                </a:solidFill>
              </a:defRPr>
            </a:pPr>
            <a:r>
              <a:rPr lang="en-US" dirty="0" smtClean="0">
                <a:solidFill>
                  <a:schemeClr val="tx2"/>
                </a:solidFill>
              </a:rPr>
              <a:t>Rate list items</a:t>
            </a:r>
          </a:p>
          <a:p>
            <a:pPr marL="333375" indent="-333375">
              <a:buClr>
                <a:srgbClr val="0C2E68"/>
              </a:buClr>
              <a:buSzPct val="85000"/>
              <a:buBlip>
                <a:blip r:embed="rId2"/>
              </a:buBlip>
              <a:defRPr sz="2400" i="1">
                <a:solidFill>
                  <a:schemeClr val="bg1"/>
                </a:solidFill>
              </a:defRPr>
            </a:pPr>
            <a:r>
              <a:rPr lang="en-US" dirty="0" smtClean="0">
                <a:solidFill>
                  <a:schemeClr val="tx2"/>
                </a:solidFill>
              </a:rPr>
              <a:t>Note Board</a:t>
            </a:r>
          </a:p>
        </p:txBody>
      </p:sp>
      <p:pic>
        <p:nvPicPr>
          <p:cNvPr id="121857" name="Picture 1"/>
          <p:cNvPicPr>
            <a:picLocks noChangeAspect="1" noChangeArrowheads="1"/>
          </p:cNvPicPr>
          <p:nvPr/>
        </p:nvPicPr>
        <p:blipFill>
          <a:blip r:embed="rId3"/>
          <a:srcRect/>
          <a:stretch>
            <a:fillRect/>
          </a:stretch>
        </p:blipFill>
        <p:spPr bwMode="auto">
          <a:xfrm>
            <a:off x="4038600" y="2514600"/>
            <a:ext cx="4632960" cy="3870960"/>
          </a:xfrm>
          <a:prstGeom prst="rect">
            <a:avLst/>
          </a:prstGeom>
          <a:noFill/>
          <a:ln w="9525">
            <a:noFill/>
            <a:miter lim="800000"/>
            <a:headEnd/>
            <a:tailEnd/>
          </a:ln>
          <a:effectLst/>
        </p:spPr>
      </p:pic>
      <p:pic>
        <p:nvPicPr>
          <p:cNvPr id="121858" name="Picture 2"/>
          <p:cNvPicPr>
            <a:picLocks noChangeAspect="1" noChangeArrowheads="1"/>
          </p:cNvPicPr>
          <p:nvPr/>
        </p:nvPicPr>
        <p:blipFill>
          <a:blip r:embed="rId4"/>
          <a:srcRect/>
          <a:stretch>
            <a:fillRect/>
          </a:stretch>
        </p:blipFill>
        <p:spPr bwMode="auto">
          <a:xfrm>
            <a:off x="4343400" y="2743200"/>
            <a:ext cx="4617720" cy="387096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1857"/>
                                        </p:tgtEl>
                                        <p:attrNameLst>
                                          <p:attrName>style.visibility</p:attrName>
                                        </p:attrNameLst>
                                      </p:cBhvr>
                                      <p:to>
                                        <p:strVal val="visible"/>
                                      </p:to>
                                    </p:set>
                                    <p:animEffect transition="in" filter="fade">
                                      <p:cBhvr>
                                        <p:cTn id="16" dur="500"/>
                                        <p:tgtEl>
                                          <p:spTgt spid="12185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21858"/>
                                        </p:tgtEl>
                                        <p:attrNameLst>
                                          <p:attrName>style.visibility</p:attrName>
                                        </p:attrNameLst>
                                      </p:cBhvr>
                                      <p:to>
                                        <p:strVal val="visible"/>
                                      </p:to>
                                    </p:set>
                                    <p:animEffect transition="in" filter="fade">
                                      <p:cBhvr>
                                        <p:cTn id="25" dur="500"/>
                                        <p:tgtEl>
                                          <p:spTgt spid="12185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400" i="1">
                <a:solidFill>
                  <a:schemeClr val="bg1"/>
                </a:solidFill>
              </a:defRPr>
            </a:pPr>
            <a:r>
              <a:rPr lang="en-US" dirty="0" smtClean="0">
                <a:solidFill>
                  <a:schemeClr val="tx2"/>
                </a:solidFill>
              </a:rPr>
              <a:t>Blogs &amp; Wikis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400" i="1">
                <a:solidFill>
                  <a:schemeClr val="bg1"/>
                </a:solidFill>
              </a:defRPr>
            </a:pPr>
            <a:r>
              <a:rPr lang="en-US" dirty="0" smtClean="0">
                <a:solidFill>
                  <a:schemeClr val="tx2"/>
                </a:solidFill>
              </a:rPr>
              <a:t> Improved!</a:t>
            </a:r>
          </a:p>
          <a:p>
            <a:pPr marL="333375" indent="-333375">
              <a:buClr>
                <a:srgbClr val="0C2E68"/>
              </a:buClr>
              <a:buSzPct val="85000"/>
              <a:buBlip>
                <a:blip r:embed="rId2"/>
              </a:buBlip>
              <a:defRPr sz="2400" i="1">
                <a:solidFill>
                  <a:schemeClr val="bg1"/>
                </a:solidFill>
              </a:defRPr>
            </a:pPr>
            <a:r>
              <a:rPr lang="en-US" dirty="0" smtClean="0">
                <a:solidFill>
                  <a:schemeClr val="tx2"/>
                </a:solidFill>
              </a:rPr>
              <a:t>What you’d expect from a blog</a:t>
            </a:r>
          </a:p>
          <a:p>
            <a:pPr marL="333375" indent="-333375">
              <a:buClr>
                <a:srgbClr val="0C2E68"/>
              </a:buClr>
              <a:buSzPct val="85000"/>
              <a:buBlip>
                <a:blip r:embed="rId2"/>
              </a:buBlip>
              <a:defRPr sz="2400" i="1">
                <a:solidFill>
                  <a:schemeClr val="bg1"/>
                </a:solidFill>
              </a:defRPr>
            </a:pPr>
            <a:r>
              <a:rPr lang="en-US" dirty="0" smtClean="0">
                <a:solidFill>
                  <a:schemeClr val="tx2"/>
                </a:solidFill>
              </a:rPr>
              <a:t>Better navigation for Wikis</a:t>
            </a:r>
          </a:p>
          <a:p>
            <a:endParaRPr lang="en-US" dirty="0"/>
          </a:p>
        </p:txBody>
      </p:sp>
      <p:pic>
        <p:nvPicPr>
          <p:cNvPr id="120834" name="Picture 2"/>
          <p:cNvPicPr>
            <a:picLocks noChangeAspect="1" noChangeArrowheads="1"/>
          </p:cNvPicPr>
          <p:nvPr/>
        </p:nvPicPr>
        <p:blipFill>
          <a:blip r:embed="rId3"/>
          <a:srcRect/>
          <a:stretch>
            <a:fillRect/>
          </a:stretch>
        </p:blipFill>
        <p:spPr bwMode="auto">
          <a:xfrm>
            <a:off x="1219200" y="3581400"/>
            <a:ext cx="7591425" cy="30194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834"/>
                                        </p:tgtEl>
                                        <p:attrNameLst>
                                          <p:attrName>style.visibility</p:attrName>
                                        </p:attrNameLst>
                                      </p:cBhvr>
                                      <p:to>
                                        <p:strVal val="visible"/>
                                      </p:to>
                                    </p:set>
                                    <p:animEffect transition="in" filter="fade">
                                      <p:cBhvr>
                                        <p:cTn id="12" dur="500"/>
                                        <p:tgtEl>
                                          <p:spTgt spid="1208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400" i="1">
                <a:solidFill>
                  <a:schemeClr val="bg1"/>
                </a:solidFill>
              </a:defRPr>
            </a:pPr>
            <a:r>
              <a:rPr lang="en-US" dirty="0" smtClean="0">
                <a:solidFill>
                  <a:schemeClr val="tx2"/>
                </a:solidFill>
              </a:rPr>
              <a:t>Tagging</a:t>
            </a:r>
          </a:p>
          <a:p>
            <a:pPr marL="333375" indent="-333375">
              <a:buClr>
                <a:srgbClr val="0C2E68"/>
              </a:buClr>
              <a:buSzPct val="85000"/>
              <a:buBlip>
                <a:blip r:embed="rId2"/>
              </a:buBlip>
              <a:defRPr sz="2400" i="1">
                <a:solidFill>
                  <a:schemeClr val="bg1"/>
                </a:solidFill>
              </a:defRPr>
            </a:pPr>
            <a:r>
              <a:rPr lang="en-US" dirty="0" smtClean="0">
                <a:solidFill>
                  <a:schemeClr val="tx2"/>
                </a:solidFill>
              </a:rPr>
              <a:t>Ratings</a:t>
            </a:r>
          </a:p>
          <a:p>
            <a:pPr marL="333375" indent="-333375">
              <a:buClr>
                <a:srgbClr val="0C2E68"/>
              </a:buClr>
              <a:buSzPct val="85000"/>
              <a:buBlip>
                <a:blip r:embed="rId2"/>
              </a:buBlip>
              <a:defRPr sz="2400" i="1">
                <a:solidFill>
                  <a:schemeClr val="bg1"/>
                </a:solidFill>
              </a:defRPr>
            </a:pPr>
            <a:r>
              <a:rPr lang="en-US" dirty="0" smtClean="0">
                <a:solidFill>
                  <a:schemeClr val="tx2"/>
                </a:solidFill>
              </a:rPr>
              <a:t>Blogging</a:t>
            </a:r>
          </a:p>
          <a:p>
            <a:pPr marL="333375" indent="-333375">
              <a:buClr>
                <a:srgbClr val="0C2E68"/>
              </a:buClr>
              <a:buSzPct val="85000"/>
              <a:buBlip>
                <a:blip r:embed="rId2"/>
              </a:buBlip>
              <a:defRPr sz="2400" i="1">
                <a:solidFill>
                  <a:schemeClr val="bg1"/>
                </a:solidFill>
              </a:defRPr>
            </a:pPr>
            <a:r>
              <a:rPr lang="en-US" dirty="0" smtClean="0">
                <a:solidFill>
                  <a:schemeClr val="tx2"/>
                </a:solidFill>
              </a:rPr>
              <a:t>Enterprise Wikis</a:t>
            </a:r>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Content</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is Content?</a:t>
            </a:r>
            <a:endParaRPr lang="en-US" dirty="0"/>
          </a:p>
        </p:txBody>
      </p:sp>
      <p:sp>
        <p:nvSpPr>
          <p:cNvPr id="3" name="Content Placeholder 2"/>
          <p:cNvSpPr>
            <a:spLocks noGrp="1"/>
          </p:cNvSpPr>
          <p:nvPr>
            <p:ph idx="1"/>
          </p:nvPr>
        </p:nvSpPr>
        <p:spPr>
          <a:xfrm>
            <a:off x="457200" y="2133600"/>
            <a:ext cx="8229600" cy="4343400"/>
          </a:xfrm>
        </p:spPr>
        <p:txBody>
          <a:bodyPr/>
          <a:lstStyle/>
          <a:p>
            <a:r>
              <a:rPr lang="en-US" sz="2800" dirty="0" smtClean="0"/>
              <a:t>The facilities for the creation, review, publication and disposal of content including conforming to defined compliance rules, whether the content exists as traditional documents or as Web pages.  SharePoint 2010’s content-management capabilities include document management, records management, and Web-content management.  </a:t>
            </a:r>
          </a:p>
          <a:p>
            <a:endParaRPr lang="en-US" sz="2800" dirty="0" smtClean="0"/>
          </a:p>
          <a:p>
            <a:r>
              <a:rPr lang="en-US" sz="2800" dirty="0" smtClean="0"/>
              <a:t>On the old wheel: Formally known as Content Management</a:t>
            </a:r>
            <a:endParaRPr lang="en-US" sz="2800" dirty="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Content</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Metadata and tagging managed by same services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Less storage and bandwidth for Office &amp; binary content</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Interoperability framework to link legacy repositories </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Management Efficiency</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Pervasive records management and legal holds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Enterprise-wide taxonomies and </a:t>
            </a:r>
            <a:r>
              <a:rPr lang="en-US" sz="2000" i="1" dirty="0" err="1" smtClean="0">
                <a:solidFill>
                  <a:schemeClr val="tx1"/>
                </a:solidFill>
              </a:rPr>
              <a:t>folksonomies</a:t>
            </a:r>
            <a:endParaRPr lang="en-US" sz="2000" i="1" dirty="0" smtClean="0">
              <a:solidFill>
                <a:schemeClr val="tx1"/>
              </a:solidFill>
            </a:endParaRP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Cross-farm policies and rules for all content types</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Flexibility and Compliance</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Intuitive interaction with content through Office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Fast discovery using content metadata and tagging</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Rapid creation and publishing of web content</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User-centric</a:t>
            </a:r>
            <a:endParaRPr lang="en-US" altLang="zh-CN" sz="2000" b="1" i="1" dirty="0">
              <a:solidFill>
                <a:srgbClr val="FFFFFF"/>
              </a:solidFill>
              <a:effectLst>
                <a:outerShdw blurRad="38100" dist="38100" dir="2700000" algn="tl">
                  <a:srgbClr val="000000">
                    <a:alpha val="43137"/>
                  </a:srgbClr>
                </a:outerShdw>
              </a:effectLst>
            </a:endParaRPr>
          </a:p>
        </p:txBody>
      </p:sp>
      <p:pic>
        <p:nvPicPr>
          <p:cNvPr id="12" name="Picture 2" descr="\\server3\restrict\ftp_root\clients\white_Whale\3-10035_GideonBibliowicz\SFP_Art\SharePoint_Pie\Resized\Pie_Icon_AllColors.png"/>
          <p:cNvPicPr>
            <a:picLocks noChangeAspect="1" noChangeArrowheads="1"/>
          </p:cNvPicPr>
          <p:nvPr/>
        </p:nvPicPr>
        <p:blipFill>
          <a:blip r:embed="rId3" cstate="print"/>
          <a:stretch>
            <a:fillRect/>
          </a:stretch>
        </p:blipFill>
        <p:spPr bwMode="auto">
          <a:xfrm rot="7240017">
            <a:off x="8016303" y="1166218"/>
            <a:ext cx="933269" cy="921543"/>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Metadata</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Centrally defined taxonomy/terms:</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Now available across site collections:</a:t>
            </a:r>
          </a:p>
          <a:p>
            <a:pPr marL="733425" lvl="1" indent="-333375">
              <a:buClr>
                <a:srgbClr val="0C2E68"/>
              </a:buClr>
              <a:buSzPct val="85000"/>
              <a:buBlip>
                <a:blip r:embed="rId2"/>
              </a:buBlip>
              <a:defRPr sz="2000" i="1">
                <a:solidFill>
                  <a:srgbClr val="FFFFFF"/>
                </a:solidFill>
              </a:defRPr>
            </a:pPr>
            <a:r>
              <a:rPr lang="en-US" sz="1600" i="1" dirty="0" smtClean="0">
                <a:solidFill>
                  <a:schemeClr val="tx2"/>
                </a:solidFill>
              </a:rPr>
              <a:t>Content Types</a:t>
            </a:r>
          </a:p>
          <a:p>
            <a:pPr marL="733425" lvl="1" indent="-333375">
              <a:buClr>
                <a:srgbClr val="0C2E68"/>
              </a:buClr>
              <a:buSzPct val="85000"/>
              <a:buBlip>
                <a:blip r:embed="rId2"/>
              </a:buBlip>
              <a:defRPr sz="2000" i="1">
                <a:solidFill>
                  <a:srgbClr val="FFFFFF"/>
                </a:solidFill>
              </a:defRPr>
            </a:pPr>
            <a:r>
              <a:rPr lang="en-US" sz="1600" i="1" dirty="0" smtClean="0">
                <a:solidFill>
                  <a:schemeClr val="tx2"/>
                </a:solidFill>
              </a:rPr>
              <a:t>Site Columns</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Unique Document IDs</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Metadata Navigation</a:t>
            </a:r>
          </a:p>
        </p:txBody>
      </p:sp>
      <p:pic>
        <p:nvPicPr>
          <p:cNvPr id="64513" name="Picture 1"/>
          <p:cNvPicPr>
            <a:picLocks noChangeAspect="1" noChangeArrowheads="1"/>
          </p:cNvPicPr>
          <p:nvPr/>
        </p:nvPicPr>
        <p:blipFill>
          <a:blip r:embed="rId3"/>
          <a:srcRect/>
          <a:stretch>
            <a:fillRect/>
          </a:stretch>
        </p:blipFill>
        <p:spPr bwMode="auto">
          <a:xfrm>
            <a:off x="5124450" y="2057400"/>
            <a:ext cx="3714750" cy="3952875"/>
          </a:xfrm>
          <a:prstGeom prst="rect">
            <a:avLst/>
          </a:prstGeom>
          <a:noFill/>
          <a:ln w="9525">
            <a:noFill/>
            <a:miter lim="800000"/>
            <a:headEnd/>
            <a:tailEnd/>
          </a:ln>
          <a:effectLst/>
        </p:spPr>
      </p:pic>
      <p:pic>
        <p:nvPicPr>
          <p:cNvPr id="64514" name="Picture 2"/>
          <p:cNvPicPr>
            <a:picLocks noChangeAspect="1" noChangeArrowheads="1"/>
          </p:cNvPicPr>
          <p:nvPr/>
        </p:nvPicPr>
        <p:blipFill>
          <a:blip r:embed="rId4"/>
          <a:srcRect/>
          <a:stretch>
            <a:fillRect/>
          </a:stretch>
        </p:blipFill>
        <p:spPr bwMode="auto">
          <a:xfrm>
            <a:off x="228600" y="5943600"/>
            <a:ext cx="7648575" cy="5238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4513"/>
                                        </p:tgtEl>
                                        <p:attrNameLst>
                                          <p:attrName>style.visibility</p:attrName>
                                        </p:attrNameLst>
                                      </p:cBhvr>
                                      <p:to>
                                        <p:strVal val="visible"/>
                                      </p:to>
                                    </p:set>
                                    <p:animEffect transition="in" filter="fade">
                                      <p:cBhvr>
                                        <p:cTn id="11" dur="500"/>
                                        <p:tgtEl>
                                          <p:spTgt spid="645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64514"/>
                                        </p:tgtEl>
                                        <p:attrNameLst>
                                          <p:attrName>style.visibility</p:attrName>
                                        </p:attrNameLst>
                                      </p:cBhvr>
                                      <p:to>
                                        <p:strVal val="visible"/>
                                      </p:to>
                                    </p:set>
                                    <p:animEffect transition="in" filter="fade">
                                      <p:cBhvr>
                                        <p:cTn id="33" dur="500"/>
                                        <p:tgtEl>
                                          <p:spTgt spid="645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Video Streaming</a:t>
            </a:r>
          </a:p>
        </p:txBody>
      </p:sp>
      <p:sp>
        <p:nvSpPr>
          <p:cNvPr id="3" name="Content Placeholder 2"/>
          <p:cNvSpPr>
            <a:spLocks noGrp="1"/>
          </p:cNvSpPr>
          <p:nvPr>
            <p:ph idx="1"/>
          </p:nvPr>
        </p:nvSpPr>
        <p:spPr>
          <a:xfrm>
            <a:off x="457200" y="2209800"/>
            <a:ext cx="3429000" cy="3916363"/>
          </a:xfrm>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New Media Web Part</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Easily add video/audio</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Upload or find content instead of copy &amp; pasting URLs</a:t>
            </a:r>
            <a:endParaRPr lang="en-US" dirty="0"/>
          </a:p>
        </p:txBody>
      </p:sp>
      <p:pic>
        <p:nvPicPr>
          <p:cNvPr id="125954" name="Picture 2"/>
          <p:cNvPicPr>
            <a:picLocks noChangeAspect="1" noChangeArrowheads="1"/>
          </p:cNvPicPr>
          <p:nvPr/>
        </p:nvPicPr>
        <p:blipFill>
          <a:blip r:embed="rId3"/>
          <a:srcRect/>
          <a:stretch>
            <a:fillRect/>
          </a:stretch>
        </p:blipFill>
        <p:spPr bwMode="auto">
          <a:xfrm>
            <a:off x="3857625" y="2514600"/>
            <a:ext cx="5286375" cy="41052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5954"/>
                                        </p:tgtEl>
                                        <p:attrNameLst>
                                          <p:attrName>style.visibility</p:attrName>
                                        </p:attrNameLst>
                                      </p:cBhvr>
                                      <p:to>
                                        <p:strVal val="visible"/>
                                      </p:to>
                                    </p:set>
                                    <p:animEffect transition="in" filter="fade">
                                      <p:cBhvr>
                                        <p:cTn id="11" dur="500"/>
                                        <p:tgtEl>
                                          <p:spTgt spid="12595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Document Sets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Manage multiple documents at once</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Can be managed as a content type</a:t>
            </a:r>
          </a:p>
          <a:p>
            <a:endParaRPr lang="en-US" dirty="0"/>
          </a:p>
        </p:txBody>
      </p:sp>
      <p:pic>
        <p:nvPicPr>
          <p:cNvPr id="126978" name="Picture 2"/>
          <p:cNvPicPr>
            <a:picLocks noChangeAspect="1" noChangeArrowheads="1"/>
          </p:cNvPicPr>
          <p:nvPr/>
        </p:nvPicPr>
        <p:blipFill>
          <a:blip r:embed="rId3"/>
          <a:srcRect/>
          <a:stretch>
            <a:fillRect/>
          </a:stretch>
        </p:blipFill>
        <p:spPr bwMode="auto">
          <a:xfrm>
            <a:off x="457200" y="3429000"/>
            <a:ext cx="7629525" cy="619125"/>
          </a:xfrm>
          <a:prstGeom prst="rect">
            <a:avLst/>
          </a:prstGeom>
          <a:noFill/>
          <a:ln w="9525">
            <a:noFill/>
            <a:miter lim="800000"/>
            <a:headEnd/>
            <a:tailEnd/>
          </a:ln>
          <a:effectLst/>
        </p:spPr>
      </p:pic>
      <p:pic>
        <p:nvPicPr>
          <p:cNvPr id="126979" name="Picture 3"/>
          <p:cNvPicPr>
            <a:picLocks noChangeAspect="1" noChangeArrowheads="1"/>
          </p:cNvPicPr>
          <p:nvPr/>
        </p:nvPicPr>
        <p:blipFill>
          <a:blip r:embed="rId4"/>
          <a:srcRect/>
          <a:stretch>
            <a:fillRect/>
          </a:stretch>
        </p:blipFill>
        <p:spPr bwMode="auto">
          <a:xfrm>
            <a:off x="1647825" y="4198613"/>
            <a:ext cx="5362575" cy="24307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6978"/>
                                        </p:tgtEl>
                                        <p:attrNameLst>
                                          <p:attrName>style.visibility</p:attrName>
                                        </p:attrNameLst>
                                      </p:cBhvr>
                                      <p:to>
                                        <p:strVal val="visible"/>
                                      </p:to>
                                    </p:set>
                                    <p:animEffect transition="in" filter="fade">
                                      <p:cBhvr>
                                        <p:cTn id="12" dur="500"/>
                                        <p:tgtEl>
                                          <p:spTgt spid="12697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6979"/>
                                        </p:tgtEl>
                                        <p:attrNameLst>
                                          <p:attrName>style.visibility</p:attrName>
                                        </p:attrNameLst>
                                      </p:cBhvr>
                                      <p:to>
                                        <p:strVal val="visible"/>
                                      </p:to>
                                    </p:set>
                                    <p:animEffect transition="in" filter="fade">
                                      <p:cBhvr>
                                        <p:cTn id="16" dur="500"/>
                                        <p:tgtEl>
                                          <p:spTgt spid="12697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Document Routing</a:t>
            </a:r>
          </a:p>
        </p:txBody>
      </p:sp>
      <p:sp>
        <p:nvSpPr>
          <p:cNvPr id="3" name="Content Placeholder 2"/>
          <p:cNvSpPr>
            <a:spLocks noGrp="1"/>
          </p:cNvSpPr>
          <p:nvPr>
            <p:ph idx="1"/>
          </p:nvPr>
        </p:nvSpPr>
        <p:spPr>
          <a:xfrm>
            <a:off x="457200" y="2209800"/>
            <a:ext cx="3657600" cy="3916363"/>
          </a:xfrm>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Available after activating site feature</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Supports renaming and moving of content based on content type/properties</a:t>
            </a:r>
          </a:p>
          <a:p>
            <a:pPr marL="333375" indent="-333375">
              <a:buClr>
                <a:srgbClr val="0C2E68"/>
              </a:buClr>
              <a:buSzPct val="85000"/>
              <a:buBlip>
                <a:blip r:embed="rId2"/>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Rule-based routing:</a:t>
            </a:r>
          </a:p>
          <a:p>
            <a:endParaRPr lang="en-US" dirty="0"/>
          </a:p>
        </p:txBody>
      </p:sp>
      <p:pic>
        <p:nvPicPr>
          <p:cNvPr id="128002" name="Picture 2"/>
          <p:cNvPicPr>
            <a:picLocks noChangeAspect="1" noChangeArrowheads="1"/>
          </p:cNvPicPr>
          <p:nvPr/>
        </p:nvPicPr>
        <p:blipFill>
          <a:blip r:embed="rId3"/>
          <a:srcRect/>
          <a:stretch>
            <a:fillRect/>
          </a:stretch>
        </p:blipFill>
        <p:spPr bwMode="auto">
          <a:xfrm>
            <a:off x="4038600" y="2702073"/>
            <a:ext cx="4876800" cy="382255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28002"/>
                                        </p:tgtEl>
                                        <p:attrNameLst>
                                          <p:attrName>style.visibility</p:attrName>
                                        </p:attrNameLst>
                                      </p:cBhvr>
                                      <p:to>
                                        <p:strVal val="visible"/>
                                      </p:to>
                                    </p:set>
                                    <p:animEffect transition="in" filter="fade">
                                      <p:cBhvr>
                                        <p:cTn id="20" dur="500"/>
                                        <p:tgtEl>
                                          <p:spTgt spid="128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Cross fingers</a:t>
            </a:r>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Search </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is Search?</a:t>
            </a:r>
            <a:endParaRPr lang="en-US" dirty="0"/>
          </a:p>
        </p:txBody>
      </p:sp>
      <p:sp>
        <p:nvSpPr>
          <p:cNvPr id="3" name="Content Placeholder 2"/>
          <p:cNvSpPr>
            <a:spLocks noGrp="1"/>
          </p:cNvSpPr>
          <p:nvPr>
            <p:ph idx="1"/>
          </p:nvPr>
        </p:nvSpPr>
        <p:spPr>
          <a:xfrm>
            <a:off x="457200" y="2133600"/>
            <a:ext cx="8229600" cy="4343400"/>
          </a:xfrm>
        </p:spPr>
        <p:txBody>
          <a:bodyPr/>
          <a:lstStyle/>
          <a:p>
            <a:r>
              <a:rPr lang="en-US" sz="2800" dirty="0" smtClean="0"/>
              <a:t>With more content existing online and multiple people collaborating on such content, it is critical that people can quickly and easily locate relevant content across SharePoint lists, sites and external systems and data sources, such as: file shares, Web sites or line-of-business applications.    </a:t>
            </a:r>
          </a:p>
          <a:p>
            <a:endParaRPr lang="en-US" sz="2800" dirty="0" smtClean="0"/>
          </a:p>
          <a:p>
            <a:r>
              <a:rPr lang="en-US" sz="2800" dirty="0" smtClean="0"/>
              <a:t>On the old wheel: Also known as Search</a:t>
            </a:r>
            <a:endParaRPr lang="en-US" sz="2800" dirty="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Search</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Improved scale to meet any demand volume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Deployment-specific tuning for best results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Search-driven applications to enrich platform</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Enterprise Deployment</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Phonetic and multi-lingual for global relevance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Social connections driven by interests and expertise </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Secure access to content, whether internal or external</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Knowledge Amplification</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Improved relevance based on usage and history</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Rich results-navigators for shorter search time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Support for 400+ content types and 85 languages</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Better Answers, Faster</a:t>
            </a:r>
            <a:endParaRPr lang="en-US" altLang="zh-CN" sz="2000" b="1" i="1" dirty="0">
              <a:solidFill>
                <a:srgbClr val="FFFFFF"/>
              </a:solidFill>
              <a:effectLst>
                <a:outerShdw blurRad="38100" dist="38100" dir="2700000" algn="tl">
                  <a:srgbClr val="000000">
                    <a:alpha val="43137"/>
                  </a:srgbClr>
                </a:outerShdw>
              </a:effectLst>
            </a:endParaRPr>
          </a:p>
        </p:txBody>
      </p:sp>
      <p:pic>
        <p:nvPicPr>
          <p:cNvPr id="12" name="Picture 2" descr="\\server3\restrict\ftp_root\clients\white_Whale\3-10035_GideonBibliowicz\SFP_Art\SharePoint_Pie\Resized\Pie_Icon_AllColors.png"/>
          <p:cNvPicPr>
            <a:picLocks noChangeAspect="1" noChangeArrowheads="1"/>
          </p:cNvPicPr>
          <p:nvPr/>
        </p:nvPicPr>
        <p:blipFill>
          <a:blip r:embed="rId3" cstate="print"/>
          <a:stretch>
            <a:fillRect/>
          </a:stretch>
        </p:blipFill>
        <p:spPr bwMode="auto">
          <a:xfrm rot="7240017">
            <a:off x="8016303" y="1166218"/>
            <a:ext cx="933269" cy="921543"/>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Wildcard Searching</a:t>
            </a:r>
          </a:p>
        </p:txBody>
      </p:sp>
      <p:sp>
        <p:nvSpPr>
          <p:cNvPr id="3" name="Content Placeholder 2"/>
          <p:cNvSpPr>
            <a:spLocks noGrp="1"/>
          </p:cNvSpPr>
          <p:nvPr>
            <p:ph idx="1"/>
          </p:nvPr>
        </p:nvSpPr>
        <p:spPr/>
        <p:txBody>
          <a:bodyPr/>
          <a:lstStyle/>
          <a:p>
            <a:pPr marL="333375" indent="-333375">
              <a:buClr>
                <a:srgbClr val="0C2E68"/>
              </a:buClr>
              <a:buSzPct val="85000"/>
              <a:buBlip>
                <a:blip r:embed="rId3"/>
              </a:buBlip>
              <a:defRPr sz="2000" i="1">
                <a:solidFill>
                  <a:srgbClr val="FFFFFF"/>
                </a:solidFill>
              </a:defRPr>
            </a:pPr>
            <a:r>
              <a:rPr lang="en-US" sz="2000" i="1" dirty="0" smtClean="0">
                <a:solidFill>
                  <a:schemeClr val="tx2"/>
                </a:solidFill>
              </a:rPr>
              <a:t>Wildcard</a:t>
            </a:r>
          </a:p>
          <a:p>
            <a:pPr marL="333375" indent="-333375">
              <a:buClr>
                <a:srgbClr val="0C2E68"/>
              </a:buClr>
              <a:buSzPct val="85000"/>
              <a:buBlip>
                <a:blip r:embed="rId3"/>
              </a:buBlip>
              <a:defRPr sz="2000" i="1">
                <a:solidFill>
                  <a:srgbClr val="FFFFFF"/>
                </a:solidFill>
              </a:defRPr>
            </a:pPr>
            <a:r>
              <a:rPr lang="en-US" sz="2000" i="1" dirty="0" smtClean="0">
                <a:solidFill>
                  <a:schemeClr val="tx2"/>
                </a:solidFill>
              </a:rPr>
              <a:t>Wildcard</a:t>
            </a:r>
          </a:p>
          <a:p>
            <a:pPr marL="333375" indent="-333375">
              <a:buClr>
                <a:srgbClr val="0C2E68"/>
              </a:buClr>
              <a:buSzPct val="85000"/>
              <a:buBlip>
                <a:blip r:embed="rId3"/>
              </a:buBlip>
              <a:defRPr sz="2000" i="1">
                <a:solidFill>
                  <a:srgbClr val="FFFFFF"/>
                </a:solidFill>
              </a:defRPr>
            </a:pPr>
            <a:r>
              <a:rPr lang="en-US" sz="2000" i="1" dirty="0" smtClean="0">
                <a:solidFill>
                  <a:schemeClr val="tx2"/>
                </a:solidFill>
              </a:rPr>
              <a:t>*.wildcard</a:t>
            </a:r>
          </a:p>
          <a:p>
            <a:pPr marL="333375" indent="-333375">
              <a:buClr>
                <a:srgbClr val="0C2E68"/>
              </a:buClr>
              <a:buSzPct val="85000"/>
              <a:buBlip>
                <a:blip r:embed="rId3"/>
              </a:buBlip>
              <a:defRPr sz="2000" i="1">
                <a:solidFill>
                  <a:srgbClr val="FFFFFF"/>
                </a:solidFill>
              </a:defRPr>
            </a:pPr>
            <a:endParaRPr lang="en-US" sz="2000" i="1" dirty="0" smtClean="0">
              <a:solidFill>
                <a:schemeClr val="tx2"/>
              </a:solidFill>
            </a:endParaRPr>
          </a:p>
          <a:p>
            <a:pPr marL="333375" indent="-333375">
              <a:buClr>
                <a:srgbClr val="0C2E68"/>
              </a:buClr>
              <a:buSzPct val="85000"/>
              <a:buBlip>
                <a:blip r:embed="rId3"/>
              </a:buBlip>
              <a:defRPr sz="2000" i="1">
                <a:solidFill>
                  <a:srgbClr val="FFFFFF"/>
                </a:solidFill>
              </a:defRPr>
            </a:pPr>
            <a:r>
              <a:rPr lang="en-US" sz="2000" i="1" dirty="0" smtClean="0">
                <a:solidFill>
                  <a:schemeClr val="tx2"/>
                </a:solidFill>
              </a:rPr>
              <a:t>It is about time.</a:t>
            </a:r>
          </a:p>
          <a:p>
            <a:endParaRPr lang="en-US" dirty="0"/>
          </a:p>
        </p:txBody>
      </p:sp>
      <p:pic>
        <p:nvPicPr>
          <p:cNvPr id="58369" name="Picture 1"/>
          <p:cNvPicPr>
            <a:picLocks noChangeAspect="1" noChangeArrowheads="1"/>
          </p:cNvPicPr>
          <p:nvPr/>
        </p:nvPicPr>
        <p:blipFill>
          <a:blip r:embed="rId4"/>
          <a:srcRect/>
          <a:stretch>
            <a:fillRect/>
          </a:stretch>
        </p:blipFill>
        <p:spPr bwMode="auto">
          <a:xfrm>
            <a:off x="2743200" y="2838450"/>
            <a:ext cx="6115050" cy="35623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8369"/>
                                        </p:tgtEl>
                                        <p:attrNameLst>
                                          <p:attrName>style.visibility</p:attrName>
                                        </p:attrNameLst>
                                      </p:cBhvr>
                                      <p:to>
                                        <p:strVal val="visible"/>
                                      </p:to>
                                    </p:set>
                                    <p:animEffect transition="in" filter="fade">
                                      <p:cBhvr>
                                        <p:cTn id="19" dur="500"/>
                                        <p:tgtEl>
                                          <p:spTgt spid="58369"/>
                                        </p:tgtEl>
                                      </p:cBhvr>
                                    </p:animEffect>
                                  </p:childTnLst>
                                </p:cTn>
                              </p:par>
                            </p:childTnLst>
                          </p:cTn>
                        </p:par>
                        <p:par>
                          <p:cTn id="20" fill="hold">
                            <p:stCondLst>
                              <p:cond delay="2000"/>
                            </p:stCondLst>
                            <p:childTnLst>
                              <p:par>
                                <p:cTn id="21" presetID="10" presetClass="entr" presetSubtype="0" fill="hold" nodeType="afterEffect">
                                  <p:stCondLst>
                                    <p:cond delay="150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Improved Search Results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Search Result Refinement (AKA: facetted search)</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Related Searches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Previews / Thumbnails (with FAST)</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Sort on Social Distance</a:t>
            </a:r>
          </a:p>
        </p:txBody>
      </p:sp>
      <p:pic>
        <p:nvPicPr>
          <p:cNvPr id="129026" name="Picture 2"/>
          <p:cNvPicPr>
            <a:picLocks noChangeAspect="1" noChangeArrowheads="1"/>
          </p:cNvPicPr>
          <p:nvPr/>
        </p:nvPicPr>
        <p:blipFill>
          <a:blip r:embed="rId3"/>
          <a:srcRect/>
          <a:stretch>
            <a:fillRect/>
          </a:stretch>
        </p:blipFill>
        <p:spPr bwMode="auto">
          <a:xfrm>
            <a:off x="3438525" y="3352800"/>
            <a:ext cx="5553075" cy="312751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9026"/>
                                        </p:tgtEl>
                                        <p:attrNameLst>
                                          <p:attrName>style.visibility</p:attrName>
                                        </p:attrNameLst>
                                      </p:cBhvr>
                                      <p:to>
                                        <p:strVal val="visible"/>
                                      </p:to>
                                    </p:set>
                                    <p:animEffect transition="in" filter="fade">
                                      <p:cBhvr>
                                        <p:cTn id="11" dur="500"/>
                                        <p:tgtEl>
                                          <p:spTgt spid="12902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a:t>
            </a:r>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Insights</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are Insights?</a:t>
            </a:r>
            <a:endParaRPr lang="en-US" dirty="0"/>
          </a:p>
        </p:txBody>
      </p:sp>
      <p:sp>
        <p:nvSpPr>
          <p:cNvPr id="3" name="Content Placeholder 2"/>
          <p:cNvSpPr>
            <a:spLocks noGrp="1"/>
          </p:cNvSpPr>
          <p:nvPr>
            <p:ph idx="1"/>
          </p:nvPr>
        </p:nvSpPr>
        <p:spPr>
          <a:xfrm>
            <a:off x="457200" y="2133600"/>
            <a:ext cx="8229600" cy="4343400"/>
          </a:xfrm>
        </p:spPr>
        <p:txBody>
          <a:bodyPr/>
          <a:lstStyle/>
          <a:p>
            <a:r>
              <a:rPr lang="en-US" sz="2800" dirty="0" smtClean="0"/>
              <a:t>Information workers need the ability to not only rapidly deliver and share information that is critical to the success of the business but also to turn raw data into actionable conclusions and to drive business results through sharing data-driven analysis.   </a:t>
            </a:r>
          </a:p>
          <a:p>
            <a:endParaRPr lang="en-US" sz="2800" dirty="0" smtClean="0"/>
          </a:p>
          <a:p>
            <a:r>
              <a:rPr lang="en-US" sz="2800" dirty="0" smtClean="0"/>
              <a:t>On the old wheel: Business Intelligence</a:t>
            </a:r>
            <a:endParaRPr lang="en-US" sz="2800" dirty="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Insights</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Drive accountability and alignment with scorecards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Identify issues and opportunities with real-time access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Improved API for richer extensibility and development</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Organizational Effectiveness</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Powerful Self-Service capabilities and visualizations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Compelling dashboards to drive business results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Rich reports with access to millions of rows</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Decision Making</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Advanced analysis with Excel Services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Richer data visualization and easy sharing</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Incorporation of LOB data in data analysis</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000" b="1" i="1">
                <a:solidFill>
                  <a:srgbClr val="FFFFFF"/>
                </a:solidFill>
                <a:effectLst>
                  <a:outerShdw blurRad="38100" dist="38100" dir="2700000" algn="tl">
                    <a:srgbClr val="000000">
                      <a:alpha val="43137"/>
                    </a:srgbClr>
                  </a:outerShdw>
                </a:effectLst>
                <a:latin typeface="+mn-lt"/>
              </a:defRPr>
            </a:pPr>
            <a:r>
              <a:rPr lang="en-US" altLang="zh-CN" sz="2000" b="1" i="1" dirty="0" smtClean="0">
                <a:solidFill>
                  <a:srgbClr val="FFFFFF"/>
                </a:solidFill>
                <a:effectLst>
                  <a:outerShdw blurRad="38100" dist="38100" dir="2700000" algn="tl">
                    <a:srgbClr val="000000">
                      <a:alpha val="43137"/>
                    </a:srgbClr>
                  </a:outerShdw>
                </a:effectLst>
              </a:rPr>
              <a:t>Data interaction</a:t>
            </a:r>
            <a:endParaRPr lang="en-US" altLang="zh-CN" sz="2000" b="1" i="1" dirty="0">
              <a:solidFill>
                <a:srgbClr val="FFFFFF"/>
              </a:solidFill>
              <a:effectLst>
                <a:outerShdw blurRad="38100" dist="38100" dir="2700000" algn="tl">
                  <a:srgbClr val="000000">
                    <a:alpha val="43137"/>
                  </a:srgbClr>
                </a:outerShdw>
              </a:effectLst>
            </a:endParaRPr>
          </a:p>
        </p:txBody>
      </p:sp>
      <p:pic>
        <p:nvPicPr>
          <p:cNvPr id="11" name="Picture 2" descr="\\server3\restrict\ftp_root\clients\white_Whale\3-10035_GideonBibliowicz\SFP_Art\SharePoint_Pie\Resized\Pie_Icon_AllColors.png"/>
          <p:cNvPicPr>
            <a:picLocks noChangeAspect="1" noChangeArrowheads="1"/>
          </p:cNvPicPr>
          <p:nvPr/>
        </p:nvPicPr>
        <p:blipFill>
          <a:blip r:embed="rId3" cstate="print"/>
          <a:stretch>
            <a:fillRect/>
          </a:stretch>
        </p:blipFill>
        <p:spPr bwMode="auto">
          <a:xfrm rot="14302192">
            <a:off x="8019009" y="1186267"/>
            <a:ext cx="933269" cy="921543"/>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Lots of new toys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Access Services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Visio Services</a:t>
            </a:r>
          </a:p>
          <a:p>
            <a:pPr marL="333375" indent="-333375">
              <a:buClr>
                <a:srgbClr val="0C2E68"/>
              </a:buClr>
              <a:buSzPct val="85000"/>
              <a:buBlip>
                <a:blip r:embed="rId2"/>
              </a:buBlip>
              <a:defRPr sz="2000" i="1">
                <a:solidFill>
                  <a:srgbClr val="FFFFFF"/>
                </a:solidFill>
              </a:defRPr>
            </a:pPr>
            <a:r>
              <a:rPr lang="en-US" sz="2000" i="1" dirty="0" err="1" smtClean="0">
                <a:solidFill>
                  <a:schemeClr val="tx2"/>
                </a:solidFill>
              </a:rPr>
              <a:t>PowerPivot</a:t>
            </a:r>
            <a:endParaRPr lang="en-US" sz="2000" i="1" dirty="0" smtClean="0">
              <a:solidFill>
                <a:schemeClr val="tx2"/>
              </a:solidFill>
            </a:endParaRP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Performance Point</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Chart Web Part</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Business Connectivity Services</a:t>
            </a:r>
          </a:p>
          <a:p>
            <a:pPr marL="733425" lvl="1" indent="-333375">
              <a:buClr>
                <a:srgbClr val="0C2E68"/>
              </a:buClr>
              <a:buSzPct val="85000"/>
              <a:buBlip>
                <a:blip r:embed="rId2"/>
              </a:buBlip>
              <a:defRPr sz="2000" i="1">
                <a:solidFill>
                  <a:srgbClr val="FFFFFF"/>
                </a:solidFill>
              </a:defRPr>
            </a:pPr>
            <a:r>
              <a:rPr lang="en-US" sz="1600" i="1" dirty="0" smtClean="0">
                <a:solidFill>
                  <a:schemeClr val="tx2"/>
                </a:solidFill>
              </a:rPr>
              <a:t>The New </a:t>
            </a:r>
            <a:r>
              <a:rPr lang="en-US" sz="1600" i="1" dirty="0" smtClean="0">
                <a:solidFill>
                  <a:schemeClr val="tx2"/>
                </a:solidFill>
              </a:rPr>
              <a:t>BDC</a:t>
            </a:r>
          </a:p>
          <a:p>
            <a:pPr marL="733425" lvl="1" indent="-333375">
              <a:buClr>
                <a:srgbClr val="0C2E68"/>
              </a:buClr>
              <a:buSzPct val="85000"/>
              <a:buBlip>
                <a:blip r:embed="rId2"/>
              </a:buBlip>
              <a:defRPr sz="2000" i="1">
                <a:solidFill>
                  <a:srgbClr val="FFFFFF"/>
                </a:solidFill>
              </a:defRPr>
            </a:pPr>
            <a:r>
              <a:rPr lang="en-US" sz="1600" i="1" dirty="0" smtClean="0">
                <a:solidFill>
                  <a:schemeClr val="tx2"/>
                </a:solidFill>
              </a:rPr>
              <a:t>Two-way updates!</a:t>
            </a:r>
            <a:endParaRPr lang="en-US" sz="1600" i="1" dirty="0" smtClean="0">
              <a:solidFill>
                <a:schemeClr val="tx2"/>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Business Connectivity Services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Chart Web Part</a:t>
            </a:r>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smtClean="0"/>
              <a:t>Composites</a:t>
            </a:r>
            <a:endParaRPr lang="en-US" sz="4000" dirty="0"/>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What are Composites?</a:t>
            </a:r>
            <a:endParaRPr lang="en-US" dirty="0"/>
          </a:p>
        </p:txBody>
      </p:sp>
      <p:sp>
        <p:nvSpPr>
          <p:cNvPr id="3" name="Content Placeholder 2"/>
          <p:cNvSpPr>
            <a:spLocks noGrp="1"/>
          </p:cNvSpPr>
          <p:nvPr>
            <p:ph idx="1"/>
          </p:nvPr>
        </p:nvSpPr>
        <p:spPr>
          <a:xfrm>
            <a:off x="457200" y="2133600"/>
            <a:ext cx="8229600" cy="4343400"/>
          </a:xfrm>
        </p:spPr>
        <p:txBody>
          <a:bodyPr/>
          <a:lstStyle/>
          <a:p>
            <a:r>
              <a:rPr lang="en-US" sz="2800" dirty="0" smtClean="0"/>
              <a:t>Business users of all roles need the ability to quickly create customized solutions without involving corporate IT in each request.  At the same time, the IT staff needs the capability to empower business users to create these applications while ensuring the environment’s stability and availability.    </a:t>
            </a:r>
          </a:p>
          <a:p>
            <a:endParaRPr lang="en-US" sz="2800" dirty="0" smtClean="0"/>
          </a:p>
          <a:p>
            <a:r>
              <a:rPr lang="en-US" sz="2800" dirty="0" smtClean="0"/>
              <a:t>On the old wheel: Portals</a:t>
            </a:r>
            <a:endParaRPr lang="en-US" sz="2800" dirty="0"/>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SharePoint Composites</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Sandboxed Solutions for self-service and fast installation</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Platform stability with resource quota-management</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Standards support for integration and accessibility</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Solution Deployment</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Business Connectivity Services for LOB data exchange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LOB data in Outlook, Word &amp; Workspace without code</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SharePoint data exposed through web services &amp; APIs </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Data Connectivity</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Enhanced toolset for end-user solutions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Process automation and data validation with Forms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Visio services integration for data visualization</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User-Driven Solutions</a:t>
            </a:r>
            <a:endParaRPr lang="en-US" altLang="zh-CN" sz="2000" b="1" i="1" dirty="0">
              <a:solidFill>
                <a:srgbClr val="FFFFFF"/>
              </a:solidFill>
              <a:effectLst>
                <a:outerShdw blurRad="38100" dist="38100" dir="2700000" algn="tl">
                  <a:srgbClr val="000000">
                    <a:alpha val="43137"/>
                  </a:srgbClr>
                </a:outerShdw>
              </a:effectLst>
            </a:endParaRPr>
          </a:p>
        </p:txBody>
      </p:sp>
      <p:pic>
        <p:nvPicPr>
          <p:cNvPr id="12" name="Picture 2" descr="\\server3\restrict\ftp_root\clients\white_Whale\3-10035_GideonBibliowicz\SFP_Art\SharePoint_Pie\Resized\Pie_Icon_AllColors.png"/>
          <p:cNvPicPr>
            <a:picLocks noChangeAspect="1" noChangeArrowheads="1"/>
          </p:cNvPicPr>
          <p:nvPr/>
        </p:nvPicPr>
        <p:blipFill>
          <a:blip r:embed="rId3" cstate="print"/>
          <a:stretch>
            <a:fillRect/>
          </a:stretch>
        </p:blipFill>
        <p:spPr bwMode="auto">
          <a:xfrm rot="17990152">
            <a:off x="8013823" y="1191202"/>
            <a:ext cx="933269" cy="921543"/>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External Lists (and Office Client Integration)</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Open BCS entities with Office Client Apps (ex: Outlook contacts)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Create with SharePoint Designer or Visual Studio</a:t>
            </a:r>
            <a:endParaRPr lang="en-US" sz="2000" i="1" dirty="0" smtClean="0">
              <a:solidFill>
                <a:schemeClr val="tx2"/>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33375" indent="-333375">
              <a:defRPr sz="2000" i="1">
                <a:solidFill>
                  <a:srgbClr val="FFFFFF"/>
                </a:solidFill>
              </a:defRPr>
            </a:pPr>
            <a:r>
              <a:rPr lang="en-US" i="1" dirty="0" smtClean="0">
                <a:solidFill>
                  <a:schemeClr val="tx2"/>
                </a:solidFill>
              </a:rPr>
              <a:t>Sandbox Solutions</a:t>
            </a:r>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Upload SharePoint solutions to a site collection without server/farm admin rights!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Limited set of code access</a:t>
            </a:r>
          </a:p>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Can be restricted and throttled by administrators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Demos/Screenshots</a:t>
            </a:r>
            <a:endParaRPr lang="en-US" dirty="0"/>
          </a:p>
        </p:txBody>
      </p:sp>
      <p:sp>
        <p:nvSpPr>
          <p:cNvPr id="3" name="Content Placeholder 2"/>
          <p:cNvSpPr>
            <a:spLocks noGrp="1"/>
          </p:cNvSpPr>
          <p:nvPr>
            <p:ph idx="1"/>
          </p:nvPr>
        </p:nvSpPr>
        <p:spPr/>
        <p:txBody>
          <a:bodyPr/>
          <a:lstStyle/>
          <a:p>
            <a:pPr marL="333375" indent="-333375">
              <a:buClr>
                <a:srgbClr val="0C2E68"/>
              </a:buClr>
              <a:buSzPct val="85000"/>
              <a:buBlip>
                <a:blip r:embed="rId2"/>
              </a:buBlip>
              <a:defRPr sz="2000" i="1">
                <a:solidFill>
                  <a:srgbClr val="FFFFFF"/>
                </a:solidFill>
              </a:defRPr>
            </a:pPr>
            <a:r>
              <a:rPr lang="en-US" sz="2000" i="1" dirty="0" smtClean="0">
                <a:solidFill>
                  <a:schemeClr val="tx2"/>
                </a:solidFill>
              </a:rPr>
              <a:t>Workflow</a:t>
            </a:r>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bwMode="auto">
          <a:xfrm>
            <a:off x="304800" y="1676400"/>
            <a:ext cx="2322524" cy="18288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45" name="Rounded Rectangle 44"/>
          <p:cNvSpPr/>
          <p:nvPr/>
        </p:nvSpPr>
        <p:spPr bwMode="auto">
          <a:xfrm>
            <a:off x="381000" y="3657600"/>
            <a:ext cx="2057400" cy="16383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48" name="Rounded Rectangle 47"/>
          <p:cNvSpPr/>
          <p:nvPr/>
        </p:nvSpPr>
        <p:spPr bwMode="auto">
          <a:xfrm>
            <a:off x="1981200" y="5524500"/>
            <a:ext cx="1429122" cy="118110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58" name="Rounded Rectangle 57"/>
          <p:cNvSpPr/>
          <p:nvPr/>
        </p:nvSpPr>
        <p:spPr bwMode="auto">
          <a:xfrm>
            <a:off x="6172200" y="5095875"/>
            <a:ext cx="2399854" cy="1609725"/>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63" name="Rounded Rectangle 62"/>
          <p:cNvSpPr/>
          <p:nvPr/>
        </p:nvSpPr>
        <p:spPr bwMode="auto">
          <a:xfrm>
            <a:off x="6629936" y="3257550"/>
            <a:ext cx="2209264" cy="1619250"/>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sp>
        <p:nvSpPr>
          <p:cNvPr id="70" name="Rounded Rectangle 69"/>
          <p:cNvSpPr/>
          <p:nvPr/>
        </p:nvSpPr>
        <p:spPr bwMode="auto">
          <a:xfrm>
            <a:off x="6239148" y="1647824"/>
            <a:ext cx="2752451" cy="1400175"/>
          </a:xfrm>
          <a:prstGeom prst="roundRect">
            <a:avLst/>
          </a:prstGeom>
          <a:gradFill>
            <a:gsLst>
              <a:gs pos="0">
                <a:srgbClr val="0070C0">
                  <a:alpha val="9000"/>
                </a:srgbClr>
              </a:gs>
              <a:gs pos="70000">
                <a:srgbClr val="0070C0">
                  <a:alpha val="33000"/>
                </a:srgbClr>
              </a:gs>
              <a:gs pos="100000">
                <a:srgbClr val="00B0F0">
                  <a:alpha val="34000"/>
                </a:srgbClr>
              </a:gs>
            </a:gsLst>
            <a:lin ang="16200000" scaled="0"/>
          </a:gradFill>
          <a:ln w="38100">
            <a:solidFill>
              <a:srgbClr val="0070C0"/>
            </a:solidFill>
            <a:prstDash val="sysDash"/>
            <a:headEnd type="none" w="med" len="med"/>
            <a:tailEnd type="none" w="med" len="med"/>
          </a:ln>
          <a:scene3d>
            <a:camera prst="orthographicFront">
              <a:rot lat="0" lon="0" rev="0"/>
            </a:camera>
            <a:lightRig rig="threePt" dir="t">
              <a:rot lat="0" lon="0" rev="1200000"/>
            </a:lightRig>
          </a:scene3d>
          <a:sp3d>
            <a:bevelT w="0" h="0"/>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defRPr sz="2400">
                <a:gradFill>
                  <a:gsLst>
                    <a:gs pos="0">
                      <a:srgbClr val="FFFFFF"/>
                    </a:gs>
                    <a:gs pos="100000">
                      <a:srgbClr val="FFFFFF"/>
                    </a:gs>
                  </a:gsLst>
                  <a:lin ang="5400000" scaled="0"/>
                </a:gradFill>
              </a:defRPr>
            </a:pPr>
            <a:endParaRPr lang="en-US" dirty="0"/>
          </a:p>
        </p:txBody>
      </p:sp>
      <p:cxnSp>
        <p:nvCxnSpPr>
          <p:cNvPr id="71" name="Straight Connector 70"/>
          <p:cNvCxnSpPr/>
          <p:nvPr/>
        </p:nvCxnSpPr>
        <p:spPr>
          <a:xfrm rot="10800000">
            <a:off x="4876800" y="1981200"/>
            <a:ext cx="1371600" cy="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0800000">
            <a:off x="5772464" y="3124200"/>
            <a:ext cx="856937" cy="3048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10800000">
            <a:off x="5658132" y="4572000"/>
            <a:ext cx="666468" cy="5334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3429000" y="5410200"/>
            <a:ext cx="857175" cy="6096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2438400" y="4572000"/>
            <a:ext cx="761643" cy="1524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667000" y="2362200"/>
            <a:ext cx="590207" cy="22860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22"/>
          <p:cNvSpPr>
            <a:spLocks noGrp="1"/>
          </p:cNvSpPr>
          <p:nvPr>
            <p:ph type="title"/>
          </p:nvPr>
        </p:nvSpPr>
        <p:spPr/>
        <p:txBody>
          <a:bodyPr/>
          <a:lstStyle/>
          <a:p>
            <a:r>
              <a:rPr lang="en-US" sz="3600" dirty="0" smtClean="0"/>
              <a:t>SharePoint Server 2010</a:t>
            </a:r>
            <a:br>
              <a:rPr lang="en-US" sz="3600" dirty="0" smtClean="0"/>
            </a:br>
            <a:endParaRPr lang="en-US" sz="3600" dirty="0"/>
          </a:p>
        </p:txBody>
      </p:sp>
      <p:sp>
        <p:nvSpPr>
          <p:cNvPr id="7" name="TextBox 6"/>
          <p:cNvSpPr txBox="1"/>
          <p:nvPr/>
        </p:nvSpPr>
        <p:spPr>
          <a:xfrm>
            <a:off x="6366071" y="1789938"/>
            <a:ext cx="2320729" cy="1384995"/>
          </a:xfrm>
          <a:prstGeom prst="rect">
            <a:avLst/>
          </a:prstGeom>
        </p:spPr>
        <p:txBody>
          <a:bodyPr vert="horz" wrap="square" lIns="0" tIns="0" rIns="0" bIns="0" rtlCol="0">
            <a:spAutoFit/>
          </a:bodyPr>
          <a:lstStyle/>
          <a:p>
            <a:pPr>
              <a:lnSpc>
                <a:spcPct val="90000"/>
              </a:lnSpc>
              <a:spcBef>
                <a:spcPct val="20000"/>
              </a:spcBef>
              <a:buClr>
                <a:srgbClr val="777777"/>
              </a:buClr>
              <a:buSzPct val="130000"/>
            </a:pPr>
            <a:r>
              <a:rPr lang="en-US" sz="1200" dirty="0" smtClean="0"/>
              <a:t>Ribbon UI</a:t>
            </a:r>
          </a:p>
          <a:p>
            <a:pPr>
              <a:lnSpc>
                <a:spcPct val="90000"/>
              </a:lnSpc>
              <a:spcBef>
                <a:spcPct val="20000"/>
              </a:spcBef>
              <a:buClr>
                <a:srgbClr val="777777"/>
              </a:buClr>
              <a:buSzPct val="130000"/>
            </a:pPr>
            <a:r>
              <a:rPr lang="en-US" sz="1200" dirty="0" smtClean="0"/>
              <a:t>SharePoint Workspace</a:t>
            </a:r>
          </a:p>
          <a:p>
            <a:pPr>
              <a:lnSpc>
                <a:spcPct val="90000"/>
              </a:lnSpc>
              <a:spcBef>
                <a:spcPct val="20000"/>
              </a:spcBef>
              <a:buClr>
                <a:srgbClr val="777777"/>
              </a:buClr>
              <a:buSzPct val="130000"/>
            </a:pPr>
            <a:r>
              <a:rPr lang="en-US" sz="1200" dirty="0" smtClean="0"/>
              <a:t>SharePoint Mobile</a:t>
            </a:r>
          </a:p>
          <a:p>
            <a:pPr>
              <a:lnSpc>
                <a:spcPct val="90000"/>
              </a:lnSpc>
              <a:spcBef>
                <a:spcPct val="20000"/>
              </a:spcBef>
              <a:buClr>
                <a:srgbClr val="777777"/>
              </a:buClr>
              <a:buSzPct val="130000"/>
            </a:pPr>
            <a:r>
              <a:rPr lang="en-US" sz="1200" dirty="0" smtClean="0"/>
              <a:t>Office Client</a:t>
            </a:r>
          </a:p>
          <a:p>
            <a:pPr>
              <a:lnSpc>
                <a:spcPct val="90000"/>
              </a:lnSpc>
              <a:spcBef>
                <a:spcPct val="20000"/>
              </a:spcBef>
              <a:buClr>
                <a:srgbClr val="777777"/>
              </a:buClr>
              <a:buSzPct val="130000"/>
            </a:pPr>
            <a:r>
              <a:rPr lang="en-US" sz="1200" dirty="0" smtClean="0"/>
              <a:t>Office Web App Integration</a:t>
            </a:r>
          </a:p>
          <a:p>
            <a:pPr>
              <a:lnSpc>
                <a:spcPct val="90000"/>
              </a:lnSpc>
              <a:spcBef>
                <a:spcPct val="20000"/>
              </a:spcBef>
              <a:buClr>
                <a:srgbClr val="777777"/>
              </a:buClr>
              <a:buSzPct val="130000"/>
            </a:pPr>
            <a:r>
              <a:rPr lang="en-US" sz="1200" dirty="0" smtClean="0"/>
              <a:t>Standards Support</a:t>
            </a:r>
          </a:p>
          <a:p>
            <a:pPr>
              <a:lnSpc>
                <a:spcPct val="90000"/>
              </a:lnSpc>
              <a:spcBef>
                <a:spcPct val="20000"/>
              </a:spcBef>
              <a:buClr>
                <a:srgbClr val="777777"/>
              </a:buClr>
              <a:buSzPct val="130000"/>
            </a:pPr>
            <a:endParaRPr lang="en-US" sz="1200" dirty="0" err="1" smtClean="0"/>
          </a:p>
        </p:txBody>
      </p:sp>
      <p:sp>
        <p:nvSpPr>
          <p:cNvPr id="20" name="TextBox 19"/>
          <p:cNvSpPr txBox="1"/>
          <p:nvPr/>
        </p:nvSpPr>
        <p:spPr>
          <a:xfrm>
            <a:off x="6742999" y="3377506"/>
            <a:ext cx="1915589"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Tagging, Tag Cloud, Ratings</a:t>
            </a:r>
          </a:p>
          <a:p>
            <a:pPr>
              <a:lnSpc>
                <a:spcPct val="90000"/>
              </a:lnSpc>
              <a:spcBef>
                <a:spcPct val="20000"/>
              </a:spcBef>
              <a:buClr>
                <a:srgbClr val="777777"/>
              </a:buClr>
              <a:buSzPct val="130000"/>
            </a:pPr>
            <a:r>
              <a:rPr lang="en-US" sz="1200" dirty="0" smtClean="0"/>
              <a:t>Social Bookmarking</a:t>
            </a:r>
          </a:p>
          <a:p>
            <a:pPr>
              <a:lnSpc>
                <a:spcPct val="90000"/>
              </a:lnSpc>
              <a:spcBef>
                <a:spcPct val="20000"/>
              </a:spcBef>
              <a:buClr>
                <a:srgbClr val="777777"/>
              </a:buClr>
              <a:buSzPct val="130000"/>
            </a:pPr>
            <a:r>
              <a:rPr lang="en-US" sz="1200" dirty="0" smtClean="0"/>
              <a:t>Blogs and Wikis</a:t>
            </a:r>
          </a:p>
          <a:p>
            <a:pPr>
              <a:lnSpc>
                <a:spcPct val="90000"/>
              </a:lnSpc>
              <a:spcBef>
                <a:spcPct val="20000"/>
              </a:spcBef>
              <a:buClr>
                <a:srgbClr val="777777"/>
              </a:buClr>
              <a:buSzPct val="130000"/>
            </a:pPr>
            <a:r>
              <a:rPr lang="en-US" sz="1200" dirty="0" smtClean="0"/>
              <a:t>My Sites</a:t>
            </a:r>
          </a:p>
          <a:p>
            <a:pPr>
              <a:lnSpc>
                <a:spcPct val="90000"/>
              </a:lnSpc>
              <a:spcBef>
                <a:spcPct val="20000"/>
              </a:spcBef>
              <a:buClr>
                <a:srgbClr val="777777"/>
              </a:buClr>
              <a:buSzPct val="130000"/>
            </a:pPr>
            <a:r>
              <a:rPr lang="en-US" sz="1200" dirty="0" smtClean="0"/>
              <a:t>Activity Feeds</a:t>
            </a:r>
          </a:p>
          <a:p>
            <a:pPr>
              <a:lnSpc>
                <a:spcPct val="90000"/>
              </a:lnSpc>
              <a:spcBef>
                <a:spcPct val="20000"/>
              </a:spcBef>
              <a:buClr>
                <a:srgbClr val="777777"/>
              </a:buClr>
              <a:buSzPct val="130000"/>
            </a:pPr>
            <a:r>
              <a:rPr lang="en-US" sz="1200" dirty="0" smtClean="0"/>
              <a:t>Profiles and Expertise</a:t>
            </a:r>
          </a:p>
          <a:p>
            <a:pPr>
              <a:lnSpc>
                <a:spcPct val="90000"/>
              </a:lnSpc>
              <a:spcBef>
                <a:spcPct val="20000"/>
              </a:spcBef>
              <a:buClr>
                <a:srgbClr val="777777"/>
              </a:buClr>
              <a:buSzPct val="130000"/>
            </a:pPr>
            <a:r>
              <a:rPr lang="en-US" sz="1200" dirty="0" smtClean="0"/>
              <a:t>Org Browser</a:t>
            </a:r>
          </a:p>
        </p:txBody>
      </p:sp>
      <p:sp>
        <p:nvSpPr>
          <p:cNvPr id="21" name="TextBox 20"/>
          <p:cNvSpPr txBox="1"/>
          <p:nvPr/>
        </p:nvSpPr>
        <p:spPr>
          <a:xfrm>
            <a:off x="6286530" y="5196780"/>
            <a:ext cx="2151679"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Enterprise Content Types</a:t>
            </a:r>
          </a:p>
          <a:p>
            <a:pPr>
              <a:lnSpc>
                <a:spcPct val="90000"/>
              </a:lnSpc>
              <a:spcBef>
                <a:spcPct val="20000"/>
              </a:spcBef>
              <a:buClr>
                <a:srgbClr val="777777"/>
              </a:buClr>
              <a:buSzPct val="130000"/>
            </a:pPr>
            <a:r>
              <a:rPr lang="en-US" sz="1200" dirty="0" smtClean="0"/>
              <a:t>Metadata and Navigation</a:t>
            </a:r>
          </a:p>
          <a:p>
            <a:pPr>
              <a:lnSpc>
                <a:spcPct val="90000"/>
              </a:lnSpc>
              <a:spcBef>
                <a:spcPct val="20000"/>
              </a:spcBef>
              <a:buClr>
                <a:srgbClr val="777777"/>
              </a:buClr>
              <a:buSzPct val="130000"/>
            </a:pPr>
            <a:r>
              <a:rPr lang="en-US" sz="1200" dirty="0" smtClean="0"/>
              <a:t>Document Sets</a:t>
            </a:r>
          </a:p>
          <a:p>
            <a:pPr>
              <a:lnSpc>
                <a:spcPct val="90000"/>
              </a:lnSpc>
              <a:spcBef>
                <a:spcPct val="20000"/>
              </a:spcBef>
              <a:buClr>
                <a:srgbClr val="777777"/>
              </a:buClr>
              <a:buSzPct val="130000"/>
            </a:pPr>
            <a:r>
              <a:rPr lang="en-US" sz="1200" dirty="0" smtClean="0"/>
              <a:t>Multi-stage Disposition</a:t>
            </a:r>
          </a:p>
          <a:p>
            <a:pPr>
              <a:lnSpc>
                <a:spcPct val="90000"/>
              </a:lnSpc>
              <a:spcBef>
                <a:spcPct val="20000"/>
              </a:spcBef>
              <a:buClr>
                <a:srgbClr val="777777"/>
              </a:buClr>
              <a:buSzPct val="130000"/>
            </a:pPr>
            <a:r>
              <a:rPr lang="en-US" sz="1200" dirty="0" smtClean="0"/>
              <a:t>Audio and Video Content Types</a:t>
            </a:r>
          </a:p>
          <a:p>
            <a:pPr>
              <a:lnSpc>
                <a:spcPct val="90000"/>
              </a:lnSpc>
              <a:spcBef>
                <a:spcPct val="20000"/>
              </a:spcBef>
              <a:buClr>
                <a:srgbClr val="777777"/>
              </a:buClr>
              <a:buSzPct val="130000"/>
            </a:pPr>
            <a:r>
              <a:rPr lang="en-US" sz="1200" dirty="0" smtClean="0"/>
              <a:t>Remote Blob Storage</a:t>
            </a:r>
          </a:p>
          <a:p>
            <a:pPr>
              <a:lnSpc>
                <a:spcPct val="90000"/>
              </a:lnSpc>
              <a:spcBef>
                <a:spcPct val="20000"/>
              </a:spcBef>
              <a:buClr>
                <a:srgbClr val="777777"/>
              </a:buClr>
              <a:buSzPct val="130000"/>
            </a:pPr>
            <a:r>
              <a:rPr lang="en-US" sz="1200" dirty="0" smtClean="0"/>
              <a:t>List Enhancements</a:t>
            </a:r>
          </a:p>
        </p:txBody>
      </p:sp>
      <p:sp>
        <p:nvSpPr>
          <p:cNvPr id="22" name="TextBox 21"/>
          <p:cNvSpPr txBox="1"/>
          <p:nvPr/>
        </p:nvSpPr>
        <p:spPr>
          <a:xfrm>
            <a:off x="2088384" y="5629276"/>
            <a:ext cx="1275990" cy="978729"/>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Social Relevance</a:t>
            </a:r>
          </a:p>
          <a:p>
            <a:pPr>
              <a:lnSpc>
                <a:spcPct val="90000"/>
              </a:lnSpc>
              <a:spcBef>
                <a:spcPct val="20000"/>
              </a:spcBef>
              <a:buClr>
                <a:srgbClr val="777777"/>
              </a:buClr>
              <a:buSzPct val="130000"/>
            </a:pPr>
            <a:r>
              <a:rPr lang="en-US" sz="1200" dirty="0" smtClean="0"/>
              <a:t>Phonetic Search</a:t>
            </a:r>
          </a:p>
          <a:p>
            <a:pPr>
              <a:lnSpc>
                <a:spcPct val="90000"/>
              </a:lnSpc>
              <a:spcBef>
                <a:spcPct val="20000"/>
              </a:spcBef>
              <a:buClr>
                <a:srgbClr val="777777"/>
              </a:buClr>
              <a:buSzPct val="130000"/>
            </a:pPr>
            <a:r>
              <a:rPr lang="en-US" sz="1200" dirty="0" smtClean="0"/>
              <a:t>Navigation</a:t>
            </a:r>
          </a:p>
          <a:p>
            <a:pPr>
              <a:lnSpc>
                <a:spcPct val="90000"/>
              </a:lnSpc>
              <a:spcBef>
                <a:spcPct val="20000"/>
              </a:spcBef>
              <a:buClr>
                <a:srgbClr val="777777"/>
              </a:buClr>
              <a:buSzPct val="130000"/>
            </a:pPr>
            <a:r>
              <a:rPr lang="en-US" sz="1200" dirty="0" smtClean="0"/>
              <a:t>FAST Integration</a:t>
            </a:r>
          </a:p>
          <a:p>
            <a:pPr>
              <a:lnSpc>
                <a:spcPct val="90000"/>
              </a:lnSpc>
              <a:spcBef>
                <a:spcPct val="20000"/>
              </a:spcBef>
              <a:buClr>
                <a:srgbClr val="777777"/>
              </a:buClr>
              <a:buSzPct val="130000"/>
            </a:pPr>
            <a:r>
              <a:rPr lang="en-US" sz="1200" dirty="0" smtClean="0"/>
              <a:t>Enhanced Pipeline</a:t>
            </a:r>
          </a:p>
        </p:txBody>
      </p:sp>
      <p:sp>
        <p:nvSpPr>
          <p:cNvPr id="24" name="TextBox 23"/>
          <p:cNvSpPr txBox="1"/>
          <p:nvPr/>
        </p:nvSpPr>
        <p:spPr>
          <a:xfrm>
            <a:off x="495330" y="3796606"/>
            <a:ext cx="1859483" cy="1384995"/>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err="1" smtClean="0"/>
              <a:t>PerformancePoint</a:t>
            </a:r>
            <a:r>
              <a:rPr lang="en-US" sz="1200" dirty="0" smtClean="0"/>
              <a:t> Services</a:t>
            </a:r>
          </a:p>
          <a:p>
            <a:pPr>
              <a:lnSpc>
                <a:spcPct val="90000"/>
              </a:lnSpc>
              <a:spcBef>
                <a:spcPct val="20000"/>
              </a:spcBef>
              <a:buClr>
                <a:srgbClr val="777777"/>
              </a:buClr>
              <a:buSzPct val="130000"/>
            </a:pPr>
            <a:r>
              <a:rPr lang="en-US" sz="1200" dirty="0" smtClean="0"/>
              <a:t>Excel Services</a:t>
            </a:r>
          </a:p>
          <a:p>
            <a:pPr>
              <a:lnSpc>
                <a:spcPct val="90000"/>
              </a:lnSpc>
              <a:spcBef>
                <a:spcPct val="20000"/>
              </a:spcBef>
              <a:buClr>
                <a:srgbClr val="777777"/>
              </a:buClr>
              <a:buSzPct val="130000"/>
            </a:pPr>
            <a:r>
              <a:rPr lang="en-US" sz="1200" dirty="0" smtClean="0"/>
              <a:t>Chart Web Part</a:t>
            </a:r>
          </a:p>
          <a:p>
            <a:pPr>
              <a:lnSpc>
                <a:spcPct val="90000"/>
              </a:lnSpc>
              <a:spcBef>
                <a:spcPct val="20000"/>
              </a:spcBef>
              <a:buClr>
                <a:srgbClr val="777777"/>
              </a:buClr>
              <a:buSzPct val="130000"/>
            </a:pPr>
            <a:r>
              <a:rPr lang="en-US" sz="1200" dirty="0" smtClean="0"/>
              <a:t>Visio Services</a:t>
            </a:r>
          </a:p>
          <a:p>
            <a:pPr>
              <a:lnSpc>
                <a:spcPct val="90000"/>
              </a:lnSpc>
              <a:spcBef>
                <a:spcPct val="20000"/>
              </a:spcBef>
              <a:buClr>
                <a:srgbClr val="777777"/>
              </a:buClr>
              <a:buSzPct val="130000"/>
            </a:pPr>
            <a:r>
              <a:rPr lang="en-US" sz="1200" dirty="0" smtClean="0"/>
              <a:t>Web Analytics</a:t>
            </a:r>
          </a:p>
          <a:p>
            <a:pPr>
              <a:lnSpc>
                <a:spcPct val="90000"/>
              </a:lnSpc>
              <a:spcBef>
                <a:spcPct val="20000"/>
              </a:spcBef>
              <a:buClr>
                <a:srgbClr val="777777"/>
              </a:buClr>
              <a:buSzPct val="130000"/>
            </a:pPr>
            <a:r>
              <a:rPr lang="en-US" sz="1200" dirty="0" smtClean="0"/>
              <a:t>SQL Server Integration</a:t>
            </a:r>
          </a:p>
          <a:p>
            <a:pPr>
              <a:lnSpc>
                <a:spcPct val="90000"/>
              </a:lnSpc>
              <a:spcBef>
                <a:spcPct val="20000"/>
              </a:spcBef>
              <a:buClr>
                <a:srgbClr val="777777"/>
              </a:buClr>
              <a:buSzPct val="130000"/>
            </a:pPr>
            <a:r>
              <a:rPr lang="en-US" sz="1200" dirty="0" err="1" smtClean="0"/>
              <a:t>PowerPivot</a:t>
            </a:r>
            <a:endParaRPr lang="en-US" sz="1200" dirty="0" smtClean="0"/>
          </a:p>
        </p:txBody>
      </p:sp>
      <p:sp>
        <p:nvSpPr>
          <p:cNvPr id="25" name="TextBox 24"/>
          <p:cNvSpPr txBox="1"/>
          <p:nvPr/>
        </p:nvSpPr>
        <p:spPr>
          <a:xfrm>
            <a:off x="381000" y="1828801"/>
            <a:ext cx="2131994" cy="1588127"/>
          </a:xfrm>
          <a:prstGeom prst="rect">
            <a:avLst/>
          </a:prstGeom>
        </p:spPr>
        <p:txBody>
          <a:bodyPr vert="horz" wrap="none" lIns="0" tIns="0" rIns="0" bIns="0" rtlCol="0">
            <a:spAutoFit/>
          </a:bodyPr>
          <a:lstStyle/>
          <a:p>
            <a:pPr>
              <a:lnSpc>
                <a:spcPct val="90000"/>
              </a:lnSpc>
              <a:spcBef>
                <a:spcPct val="20000"/>
              </a:spcBef>
              <a:buClr>
                <a:srgbClr val="777777"/>
              </a:buClr>
              <a:buSzPct val="130000"/>
            </a:pPr>
            <a:r>
              <a:rPr lang="en-US" sz="1200" dirty="0" smtClean="0"/>
              <a:t>Business Connectivity Services</a:t>
            </a:r>
          </a:p>
          <a:p>
            <a:pPr>
              <a:lnSpc>
                <a:spcPct val="90000"/>
              </a:lnSpc>
              <a:spcBef>
                <a:spcPct val="20000"/>
              </a:spcBef>
              <a:buClr>
                <a:srgbClr val="777777"/>
              </a:buClr>
              <a:buSzPct val="130000"/>
            </a:pPr>
            <a:r>
              <a:rPr lang="en-US" sz="1200" dirty="0" smtClean="0"/>
              <a:t>InfoPath Form Services</a:t>
            </a:r>
          </a:p>
          <a:p>
            <a:pPr>
              <a:lnSpc>
                <a:spcPct val="90000"/>
              </a:lnSpc>
              <a:spcBef>
                <a:spcPct val="20000"/>
              </a:spcBef>
              <a:buClr>
                <a:srgbClr val="777777"/>
              </a:buClr>
              <a:buSzPct val="130000"/>
            </a:pPr>
            <a:r>
              <a:rPr lang="en-US" sz="1200" dirty="0" smtClean="0"/>
              <a:t>External Lists</a:t>
            </a:r>
          </a:p>
          <a:p>
            <a:pPr>
              <a:lnSpc>
                <a:spcPct val="90000"/>
              </a:lnSpc>
              <a:spcBef>
                <a:spcPct val="20000"/>
              </a:spcBef>
              <a:buClr>
                <a:srgbClr val="777777"/>
              </a:buClr>
              <a:buSzPct val="130000"/>
            </a:pPr>
            <a:r>
              <a:rPr lang="en-US" sz="1200" dirty="0" smtClean="0"/>
              <a:t>Workflow</a:t>
            </a:r>
          </a:p>
          <a:p>
            <a:pPr>
              <a:lnSpc>
                <a:spcPct val="90000"/>
              </a:lnSpc>
              <a:spcBef>
                <a:spcPct val="20000"/>
              </a:spcBef>
              <a:buClr>
                <a:srgbClr val="777777"/>
              </a:buClr>
              <a:buSzPct val="130000"/>
            </a:pPr>
            <a:r>
              <a:rPr lang="en-US" sz="1200" dirty="0" smtClean="0"/>
              <a:t>SharePoint Designer</a:t>
            </a:r>
          </a:p>
          <a:p>
            <a:pPr>
              <a:lnSpc>
                <a:spcPct val="90000"/>
              </a:lnSpc>
              <a:spcBef>
                <a:spcPct val="20000"/>
              </a:spcBef>
              <a:buClr>
                <a:srgbClr val="777777"/>
              </a:buClr>
              <a:buSzPct val="130000"/>
            </a:pPr>
            <a:r>
              <a:rPr lang="en-US" sz="1200" dirty="0" smtClean="0"/>
              <a:t>Visual Studio</a:t>
            </a:r>
          </a:p>
          <a:p>
            <a:pPr>
              <a:lnSpc>
                <a:spcPct val="90000"/>
              </a:lnSpc>
              <a:spcBef>
                <a:spcPct val="20000"/>
              </a:spcBef>
              <a:buClr>
                <a:srgbClr val="777777"/>
              </a:buClr>
              <a:buSzPct val="130000"/>
            </a:pPr>
            <a:r>
              <a:rPr lang="en-US" sz="1200" dirty="0" smtClean="0"/>
              <a:t>API Enhancements</a:t>
            </a:r>
          </a:p>
          <a:p>
            <a:pPr>
              <a:lnSpc>
                <a:spcPct val="90000"/>
              </a:lnSpc>
              <a:spcBef>
                <a:spcPct val="20000"/>
              </a:spcBef>
              <a:buClr>
                <a:srgbClr val="777777"/>
              </a:buClr>
              <a:buSzPct val="130000"/>
            </a:pPr>
            <a:r>
              <a:rPr lang="en-US" sz="1200" dirty="0" smtClean="0"/>
              <a:t>REST/ATOM/RSS</a:t>
            </a:r>
          </a:p>
        </p:txBody>
      </p:sp>
      <p:grpSp>
        <p:nvGrpSpPr>
          <p:cNvPr id="2" name="Group 25"/>
          <p:cNvGrpSpPr/>
          <p:nvPr/>
        </p:nvGrpSpPr>
        <p:grpSpPr>
          <a:xfrm>
            <a:off x="2286000" y="1862344"/>
            <a:ext cx="4496217" cy="4005056"/>
            <a:chOff x="-406294" y="1828799"/>
            <a:chExt cx="6094413" cy="3962400"/>
          </a:xfrm>
        </p:grpSpPr>
        <p:grpSp>
          <p:nvGrpSpPr>
            <p:cNvPr id="3" name="Group 83"/>
            <p:cNvGrpSpPr/>
            <p:nvPr/>
          </p:nvGrpSpPr>
          <p:grpSpPr>
            <a:xfrm>
              <a:off x="-406294" y="1828799"/>
              <a:ext cx="6094413" cy="3962400"/>
              <a:chOff x="-4185" y="2085973"/>
              <a:chExt cx="4122018" cy="3605979"/>
            </a:xfrm>
          </p:grpSpPr>
          <p:grpSp>
            <p:nvGrpSpPr>
              <p:cNvPr id="4" name="Group 50"/>
              <p:cNvGrpSpPr/>
              <p:nvPr/>
            </p:nvGrpSpPr>
            <p:grpSpPr>
              <a:xfrm>
                <a:off x="-4185" y="2085973"/>
                <a:ext cx="4122018" cy="3605979"/>
                <a:chOff x="-4186" y="2145978"/>
                <a:chExt cx="4001959" cy="3500950"/>
              </a:xfrm>
            </p:grpSpPr>
            <p:sp>
              <p:nvSpPr>
                <p:cNvPr id="39" name="Oval 38"/>
                <p:cNvSpPr/>
                <p:nvPr/>
              </p:nvSpPr>
              <p:spPr>
                <a:xfrm>
                  <a:off x="339667" y="2235584"/>
                  <a:ext cx="3314251" cy="3314251"/>
                </a:xfrm>
                <a:prstGeom prst="ellipse">
                  <a:avLst/>
                </a:prstGeom>
                <a:gradFill flip="none" rotWithShape="1">
                  <a:gsLst>
                    <a:gs pos="0">
                      <a:srgbClr val="071B3B"/>
                    </a:gs>
                    <a:gs pos="60000">
                      <a:srgbClr val="0F3B83"/>
                    </a:gs>
                    <a:gs pos="100000">
                      <a:srgbClr val="2268E6"/>
                    </a:gs>
                  </a:gsLst>
                  <a:path path="circle">
                    <a:fillToRect l="50000" t="50000" r="50000" b="50000"/>
                  </a:path>
                  <a:tileRect/>
                </a:gradFill>
                <a:ln/>
                <a:scene3d>
                  <a:camera prst="orthographicFront">
                    <a:rot lat="0" lon="0" rev="0"/>
                  </a:camera>
                  <a:lightRig rig="threePt" dir="t">
                    <a:rot lat="0" lon="0" rev="1200000"/>
                  </a:lightRig>
                </a:scene3d>
                <a:sp3d>
                  <a:bevelT w="228600" h="25400"/>
                </a:sp3d>
              </p:spPr>
              <p:style>
                <a:lnRef idx="0">
                  <a:schemeClr val="accent6"/>
                </a:lnRef>
                <a:fillRef idx="3">
                  <a:schemeClr val="accent6"/>
                </a:fillRef>
                <a:effectRef idx="3">
                  <a:schemeClr val="accent6"/>
                </a:effectRef>
                <a:fontRef idx="minor">
                  <a:schemeClr val="lt1"/>
                </a:fontRef>
              </p:style>
              <p:txBody>
                <a:bodyPr rtlCol="0" anchor="ctr"/>
                <a:lstStyle/>
                <a:p>
                  <a:pPr algn="ctr" fontAlgn="base">
                    <a:spcBef>
                      <a:spcPct val="0"/>
                    </a:spcBef>
                    <a:spcAft>
                      <a:spcPct val="0"/>
                    </a:spcAft>
                  </a:pPr>
                  <a:endParaRPr lang="en-US" sz="2000">
                    <a:solidFill>
                      <a:srgbClr val="FFFFFF"/>
                    </a:solidFill>
                  </a:endParaRPr>
                </a:p>
              </p:txBody>
            </p:sp>
            <p:pic>
              <p:nvPicPr>
                <p:cNvPr id="40" name="Picture 2" descr="\\SERVER3\Restrict\FTP_Root\Clients\White_Whale\2-20070_TAP_Airlift\Art\6-star pie cuts.png"/>
                <p:cNvPicPr>
                  <a:picLocks noChangeAspect="1" noChangeArrowheads="1"/>
                </p:cNvPicPr>
                <p:nvPr/>
              </p:nvPicPr>
              <p:blipFill>
                <a:blip r:embed="rId3" cstate="print"/>
                <a:stretch>
                  <a:fillRect/>
                </a:stretch>
              </p:blipFill>
              <p:spPr bwMode="auto">
                <a:xfrm rot="5400000">
                  <a:off x="246319" y="1895473"/>
                  <a:ext cx="3500950" cy="4001959"/>
                </a:xfrm>
                <a:prstGeom prst="rect">
                  <a:avLst/>
                </a:prstGeom>
                <a:noFill/>
              </p:spPr>
            </p:pic>
          </p:grpSp>
          <p:grpSp>
            <p:nvGrpSpPr>
              <p:cNvPr id="5" name="Group 82"/>
              <p:cNvGrpSpPr/>
              <p:nvPr/>
            </p:nvGrpSpPr>
            <p:grpSpPr>
              <a:xfrm>
                <a:off x="1197089" y="3056816"/>
                <a:ext cx="1774433" cy="1838194"/>
                <a:chOff x="1197089" y="3056816"/>
                <a:chExt cx="1774433" cy="1838194"/>
              </a:xfrm>
            </p:grpSpPr>
            <p:sp>
              <p:nvSpPr>
                <p:cNvPr id="36" name="Oval 35"/>
                <p:cNvSpPr/>
                <p:nvPr/>
              </p:nvSpPr>
              <p:spPr bwMode="auto">
                <a:xfrm>
                  <a:off x="1197089" y="3056816"/>
                  <a:ext cx="1774433" cy="1838194"/>
                </a:xfrm>
                <a:prstGeom prst="ellipse">
                  <a:avLst/>
                </a:prstGeom>
                <a:solidFill>
                  <a:srgbClr val="FFFFFF"/>
                </a:solidFill>
                <a:ln>
                  <a:noFill/>
                  <a:headEnd type="none" w="med" len="med"/>
                  <a:tailEnd type="none" w="med" len="med"/>
                </a:ln>
                <a:effectLst>
                  <a:softEdge rad="317500"/>
                </a:effectLst>
              </p:spPr>
              <p:style>
                <a:lnRef idx="1">
                  <a:schemeClr val="dk1"/>
                </a:lnRef>
                <a:fillRef idx="2">
                  <a:schemeClr val="dk1"/>
                </a:fillRef>
                <a:effectRef idx="1">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800" dirty="0" err="1">
                    <a:solidFill>
                      <a:srgbClr val="FFFFFF"/>
                    </a:solidFill>
                    <a:latin typeface="Segoe" pitchFamily="34" charset="0"/>
                  </a:endParaRPr>
                </a:p>
              </p:txBody>
            </p:sp>
            <p:pic>
              <p:nvPicPr>
                <p:cNvPr id="37" name="Content Placeholder 4" descr="ShrPt_h_rgb.png"/>
                <p:cNvPicPr>
                  <a:picLocks noChangeAspect="1"/>
                </p:cNvPicPr>
                <p:nvPr/>
              </p:nvPicPr>
              <p:blipFill>
                <a:blip r:embed="rId4" cstate="print"/>
                <a:srcRect r="83105" b="-8078"/>
                <a:stretch>
                  <a:fillRect/>
                </a:stretch>
              </p:blipFill>
              <p:spPr>
                <a:xfrm>
                  <a:off x="1882721" y="3482810"/>
                  <a:ext cx="453526" cy="539301"/>
                </a:xfrm>
                <a:prstGeom prst="rect">
                  <a:avLst/>
                </a:prstGeom>
              </p:spPr>
            </p:pic>
            <p:pic>
              <p:nvPicPr>
                <p:cNvPr id="38" name="Content Placeholder 4" descr="ShrPt_h_rgb.png"/>
                <p:cNvPicPr>
                  <a:picLocks noChangeAspect="1"/>
                </p:cNvPicPr>
                <p:nvPr/>
              </p:nvPicPr>
              <p:blipFill>
                <a:blip r:embed="rId4" cstate="print">
                  <a:duotone>
                    <a:prstClr val="black"/>
                    <a:srgbClr val="D9C3A5">
                      <a:tint val="50000"/>
                      <a:satMod val="180000"/>
                    </a:srgbClr>
                  </a:duotone>
                </a:blip>
                <a:srcRect l="16257" r="30219"/>
                <a:stretch>
                  <a:fillRect/>
                </a:stretch>
              </p:blipFill>
              <p:spPr>
                <a:xfrm>
                  <a:off x="1600928" y="3978738"/>
                  <a:ext cx="915809" cy="318071"/>
                </a:xfrm>
                <a:prstGeom prst="rect">
                  <a:avLst/>
                </a:prstGeom>
              </p:spPr>
            </p:pic>
          </p:grpSp>
        </p:grpSp>
        <p:sp>
          <p:nvSpPr>
            <p:cNvPr id="28" name="Rectangle 27"/>
            <p:cNvSpPr/>
            <p:nvPr/>
          </p:nvSpPr>
          <p:spPr>
            <a:xfrm>
              <a:off x="3189355" y="3124200"/>
              <a:ext cx="1889320" cy="389758"/>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Communities</a:t>
              </a:r>
            </a:p>
          </p:txBody>
        </p:sp>
        <p:sp>
          <p:nvSpPr>
            <p:cNvPr id="29" name="Rectangle 28"/>
            <p:cNvSpPr/>
            <p:nvPr/>
          </p:nvSpPr>
          <p:spPr>
            <a:xfrm>
              <a:off x="1726749" y="5055692"/>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Search</a:t>
              </a:r>
            </a:p>
          </p:txBody>
        </p:sp>
        <p:sp>
          <p:nvSpPr>
            <p:cNvPr id="30" name="Rectangle 29"/>
            <p:cNvSpPr/>
            <p:nvPr/>
          </p:nvSpPr>
          <p:spPr>
            <a:xfrm>
              <a:off x="1726752" y="2514600"/>
              <a:ext cx="188932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Sites</a:t>
              </a:r>
            </a:p>
          </p:txBody>
        </p:sp>
        <p:sp>
          <p:nvSpPr>
            <p:cNvPr id="31" name="Rectangle 30"/>
            <p:cNvSpPr/>
            <p:nvPr/>
          </p:nvSpPr>
          <p:spPr>
            <a:xfrm>
              <a:off x="66375" y="3124200"/>
              <a:ext cx="2066670"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Composites</a:t>
              </a:r>
            </a:p>
          </p:txBody>
        </p:sp>
        <p:sp>
          <p:nvSpPr>
            <p:cNvPr id="32" name="Rectangle 31"/>
            <p:cNvSpPr/>
            <p:nvPr/>
          </p:nvSpPr>
          <p:spPr>
            <a:xfrm>
              <a:off x="3555073" y="4292914"/>
              <a:ext cx="1366217"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Content</a:t>
              </a:r>
            </a:p>
          </p:txBody>
        </p:sp>
        <p:sp>
          <p:nvSpPr>
            <p:cNvPr id="33" name="Rectangle 32"/>
            <p:cNvSpPr/>
            <p:nvPr/>
          </p:nvSpPr>
          <p:spPr>
            <a:xfrm>
              <a:off x="406295" y="4292914"/>
              <a:ext cx="1334322" cy="194879"/>
            </a:xfrm>
            <a:prstGeom prst="rect">
              <a:avLst/>
            </a:prstGeom>
          </p:spPr>
          <p:txBody>
            <a:bodyPr wrap="square" lIns="0" tIns="0" rIns="0" bIns="0">
              <a:spAutoFit/>
            </a:bodyPr>
            <a:lstStyle/>
            <a:p>
              <a:pPr algn="ctr" fontAlgn="base">
                <a:lnSpc>
                  <a:spcPct val="80000"/>
                </a:lnSpc>
                <a:spcBef>
                  <a:spcPct val="0"/>
                </a:spcBef>
                <a:spcAft>
                  <a:spcPct val="0"/>
                </a:spcAft>
              </a:pPr>
              <a:r>
                <a:rPr lang="en-US" sz="1600" b="1" spc="-80" dirty="0">
                  <a:ln w="3175">
                    <a:noFill/>
                  </a:ln>
                  <a:gradFill>
                    <a:gsLst>
                      <a:gs pos="50000">
                        <a:srgbClr val="FFFFFF"/>
                      </a:gs>
                      <a:gs pos="100000">
                        <a:srgbClr val="FFFFFF"/>
                      </a:gs>
                    </a:gsLst>
                    <a:lin ang="5400000" scaled="0"/>
                  </a:gradFill>
                  <a:cs typeface="Segoe UI" pitchFamily="34" charset="0"/>
                </a:rPr>
                <a:t>Insights</a:t>
              </a:r>
            </a:p>
          </p:txBody>
        </p:sp>
      </p:gr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par>
                                <p:cTn id="13" presetID="10" presetClass="entr" presetSubtype="0" fill="hold" nodeType="with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500"/>
                                        <p:tgtEl>
                                          <p:spTgt spid="7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500"/>
                                        <p:tgtEl>
                                          <p:spTgt spid="63"/>
                                        </p:tgtEl>
                                      </p:cBhvr>
                                    </p:animEffect>
                                  </p:childTnLst>
                                </p:cTn>
                              </p:par>
                              <p:par>
                                <p:cTn id="24" presetID="10" presetClass="entr" presetSubtype="0" fill="hold" nodeType="with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fade">
                                      <p:cBhvr>
                                        <p:cTn id="26" dur="500"/>
                                        <p:tgtEl>
                                          <p:spTgt spid="6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500"/>
                                        <p:tgtEl>
                                          <p:spTgt spid="58"/>
                                        </p:tgtEl>
                                      </p:cBhvr>
                                    </p:animEffect>
                                  </p:childTnLst>
                                </p:cTn>
                              </p:par>
                              <p:par>
                                <p:cTn id="35" presetID="10"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fade">
                                      <p:cBhvr>
                                        <p:cTn id="48" dur="500"/>
                                        <p:tgtEl>
                                          <p:spTgt spid="5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500"/>
                                        <p:tgtEl>
                                          <p:spTgt spid="45"/>
                                        </p:tgtEl>
                                      </p:cBhvr>
                                    </p:animEffect>
                                  </p:childTnLst>
                                </p:cTn>
                              </p:par>
                              <p:par>
                                <p:cTn id="57" presetID="10" presetClass="entr" presetSubtype="0" fill="hold" nodeType="with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68" presetID="10" presetClass="entr" presetSubtype="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5" grpId="0" animBg="1"/>
      <p:bldP spid="48" grpId="0" animBg="1"/>
      <p:bldP spid="58" grpId="0" animBg="1"/>
      <p:bldP spid="63" grpId="0" animBg="1"/>
      <p:bldP spid="70" grpId="0" animBg="1"/>
      <p:bldP spid="7" grpId="0"/>
      <p:bldP spid="20" grpId="0"/>
      <p:bldP spid="21" grpId="0"/>
      <p:bldP spid="22" grpId="0"/>
      <p:bldP spid="24" grpId="0"/>
      <p:bldP spid="2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 Pro Investments</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Enterprise-wide management capabilities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Robust installation and predictable upgrade process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Higher availability with better patch management</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IT Productivity</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tabLst>
                <a:tab pos="2855913" algn="l"/>
              </a:tabLst>
              <a:defRPr sz="2000" i="1">
                <a:solidFill>
                  <a:srgbClr val="FFFFFF"/>
                </a:solidFill>
              </a:defRPr>
            </a:pPr>
            <a:r>
              <a:rPr lang="en-US" sz="2000" i="1" dirty="0" smtClean="0">
                <a:solidFill>
                  <a:schemeClr val="tx1"/>
                </a:solidFill>
              </a:rPr>
              <a:t>Collaboration across Intranet, Extranet and Internet</a:t>
            </a:r>
          </a:p>
          <a:p>
            <a:pPr marL="333375" indent="-333375" defTabSz="914363">
              <a:lnSpc>
                <a:spcPct val="90000"/>
              </a:lnSpc>
              <a:spcBef>
                <a:spcPct val="20000"/>
              </a:spcBef>
              <a:buClr>
                <a:srgbClr val="0C2E68"/>
              </a:buClr>
              <a:buSzPct val="85000"/>
              <a:buBlip>
                <a:blip r:embed="rId2"/>
              </a:buBlip>
              <a:tabLst>
                <a:tab pos="2855913" algn="l"/>
              </a:tabLst>
              <a:defRPr sz="2000" i="1">
                <a:solidFill>
                  <a:srgbClr val="FFFFFF"/>
                </a:solidFill>
              </a:defRPr>
            </a:pPr>
            <a:r>
              <a:rPr lang="en-US" sz="2000" i="1" dirty="0" smtClean="0">
                <a:solidFill>
                  <a:schemeClr val="tx1"/>
                </a:solidFill>
              </a:rPr>
              <a:t>On-premise and/or hosted options</a:t>
            </a:r>
          </a:p>
          <a:p>
            <a:pPr marL="333375" indent="-333375" defTabSz="914363">
              <a:lnSpc>
                <a:spcPct val="90000"/>
              </a:lnSpc>
              <a:spcBef>
                <a:spcPct val="20000"/>
              </a:spcBef>
              <a:buClr>
                <a:srgbClr val="0C2E68"/>
              </a:buClr>
              <a:buSzPct val="85000"/>
              <a:buBlip>
                <a:blip r:embed="rId2"/>
              </a:buBlip>
              <a:tabLst>
                <a:tab pos="2855913" algn="l"/>
              </a:tabLst>
              <a:defRPr sz="2000" i="1">
                <a:solidFill>
                  <a:srgbClr val="FFFFFF"/>
                </a:solidFill>
              </a:defRPr>
            </a:pPr>
            <a:r>
              <a:rPr lang="en-US" sz="2000" i="1" dirty="0" smtClean="0">
                <a:solidFill>
                  <a:schemeClr val="tx1"/>
                </a:solidFill>
              </a:rPr>
              <a:t>Data storage inside and outside the SharePoint DB</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Deployment Flexibility</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Terabytes of data and multi-million item lists</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Improved Platform resiliency and redundancy</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Advanced back-up, restore and disaster recovery</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Scale with Governance</a:t>
            </a:r>
            <a:endParaRPr lang="en-US" altLang="zh-CN" sz="2000" b="1" i="1" dirty="0">
              <a:solidFill>
                <a:srgbClr val="FFFFFF"/>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Developer Investments</a:t>
            </a:r>
            <a:endParaRPr lang="en-US" dirty="0"/>
          </a:p>
        </p:txBody>
      </p:sp>
      <p:sp>
        <p:nvSpPr>
          <p:cNvPr id="5" name="Rounded Rectangle 4"/>
          <p:cNvSpPr/>
          <p:nvPr/>
        </p:nvSpPr>
        <p:spPr bwMode="auto">
          <a:xfrm>
            <a:off x="152401" y="5255918"/>
            <a:ext cx="8991599" cy="122108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Standardized WSP Package Deployment</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SharePoint Online shared solution hosting</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Install on Vista SP1 or Windows 7 for Developers only</a:t>
            </a:r>
            <a:endParaRPr lang="en-US" sz="2000" i="1" dirty="0">
              <a:solidFill>
                <a:schemeClr val="tx1"/>
              </a:solidFill>
            </a:endParaRPr>
          </a:p>
        </p:txBody>
      </p:sp>
      <p:sp>
        <p:nvSpPr>
          <p:cNvPr id="6" name="Rounded Rectangle 5"/>
          <p:cNvSpPr/>
          <p:nvPr/>
        </p:nvSpPr>
        <p:spPr bwMode="auto">
          <a:xfrm>
            <a:off x="258205" y="5251704"/>
            <a:ext cx="2103995" cy="1225296"/>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Solution Hosting </a:t>
            </a:r>
            <a:endParaRPr lang="en-US" altLang="zh-CN" sz="2000" b="1" i="1" dirty="0">
              <a:solidFill>
                <a:srgbClr val="FFFFFF"/>
              </a:solidFill>
              <a:effectLst>
                <a:outerShdw blurRad="38100" dist="38100" dir="2700000" algn="tl">
                  <a:srgbClr val="000000">
                    <a:alpha val="43137"/>
                  </a:srgbClr>
                </a:outerShdw>
              </a:effectLst>
            </a:endParaRPr>
          </a:p>
        </p:txBody>
      </p:sp>
      <p:sp>
        <p:nvSpPr>
          <p:cNvPr id="7" name="Rounded Rectangle 6"/>
          <p:cNvSpPr/>
          <p:nvPr/>
        </p:nvSpPr>
        <p:spPr bwMode="auto">
          <a:xfrm>
            <a:off x="152401" y="3764158"/>
            <a:ext cx="8991599" cy="1188842"/>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Rich solution UI with Silverlight, XSLT View, Clean HTML </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Data Foundation – Relationships, Lookup</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Better programmability with LINQ, Client API</a:t>
            </a:r>
            <a:endParaRPr lang="en-US" sz="2000" i="1" dirty="0">
              <a:solidFill>
                <a:schemeClr val="tx1"/>
              </a:solidFill>
            </a:endParaRPr>
          </a:p>
        </p:txBody>
      </p:sp>
      <p:sp>
        <p:nvSpPr>
          <p:cNvPr id="8" name="Rounded Rectangle 7"/>
          <p:cNvSpPr/>
          <p:nvPr/>
        </p:nvSpPr>
        <p:spPr bwMode="auto">
          <a:xfrm>
            <a:off x="258205" y="3761042"/>
            <a:ext cx="2103995" cy="1191958"/>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Deployment Platform</a:t>
            </a:r>
            <a:endParaRPr lang="en-US" altLang="zh-CN" sz="2000" b="1" i="1" dirty="0">
              <a:solidFill>
                <a:srgbClr val="FFFFFF"/>
              </a:solidFill>
              <a:effectLst>
                <a:outerShdw blurRad="38100" dist="38100" dir="2700000" algn="tl">
                  <a:srgbClr val="000000">
                    <a:alpha val="43137"/>
                  </a:srgbClr>
                </a:outerShdw>
              </a:effectLst>
            </a:endParaRPr>
          </a:p>
        </p:txBody>
      </p:sp>
      <p:sp>
        <p:nvSpPr>
          <p:cNvPr id="9" name="Rounded Rectangle 8"/>
          <p:cNvSpPr/>
          <p:nvPr/>
        </p:nvSpPr>
        <p:spPr bwMode="auto">
          <a:xfrm>
            <a:off x="152401" y="2190335"/>
            <a:ext cx="8991599" cy="1314866"/>
          </a:xfrm>
          <a:prstGeom prst="roundRect">
            <a:avLst>
              <a:gd name="adj" fmla="val 11745"/>
            </a:avLst>
          </a:prstGeom>
          <a:gradFill>
            <a:gsLst>
              <a:gs pos="0">
                <a:srgbClr val="000000">
                  <a:alpha val="40000"/>
                </a:srgbClr>
              </a:gs>
              <a:gs pos="50000">
                <a:srgbClr val="000000">
                  <a:alpha val="30000"/>
                </a:srgbClr>
              </a:gs>
              <a:gs pos="100000">
                <a:srgbClr val="000000">
                  <a:alpha val="0"/>
                </a:srgbClr>
              </a:gs>
            </a:gsLst>
            <a:path path="circle">
              <a:fillToRect l="50000" t="50000" r="50000" b="50000"/>
            </a:path>
          </a:gradFill>
          <a:ln w="12700">
            <a:gradFill flip="none" rotWithShape="1">
              <a:gsLst>
                <a:gs pos="0">
                  <a:srgbClr val="1C86F0"/>
                </a:gs>
                <a:gs pos="50000">
                  <a:srgbClr val="1C86F0">
                    <a:alpha val="59000"/>
                  </a:srgbClr>
                </a:gs>
                <a:gs pos="100000">
                  <a:schemeClr val="accent1">
                    <a:tint val="23500"/>
                    <a:satMod val="160000"/>
                    <a:alpha val="0"/>
                  </a:schemeClr>
                </a:gs>
              </a:gsLst>
              <a:path path="circle">
                <a:fillToRect l="50000" t="50000" r="50000" b="50000"/>
              </a:path>
              <a:tileRect/>
            </a:gradFill>
            <a:headEnd type="none" w="med" len="med"/>
            <a:tailEnd type="none" w="med" len="med"/>
          </a:ln>
          <a:effectLst/>
          <a:scene3d>
            <a:camera prst="perspectiveRight" fov="0">
              <a:rot lat="0" lon="21000000" rev="0"/>
            </a:camera>
            <a:lightRig rig="chilly" dir="t"/>
          </a:scene3d>
        </p:spPr>
        <p:style>
          <a:lnRef idx="2">
            <a:schemeClr val="accent5">
              <a:shade val="50000"/>
            </a:schemeClr>
          </a:lnRef>
          <a:fillRef idx="1">
            <a:schemeClr val="accent5"/>
          </a:fillRef>
          <a:effectRef idx="0">
            <a:schemeClr val="accent5"/>
          </a:effectRef>
          <a:fontRef idx="minor">
            <a:schemeClr val="lt1"/>
          </a:fontRef>
        </p:style>
        <p:txBody>
          <a:bodyPr vert="horz" wrap="square" lIns="2560320" tIns="91440" rIns="0" bIns="0" numCol="1" rtlCol="0" anchor="ctr" anchorCtr="0" compatLnSpc="1">
            <a:prstTxWarp prst="textNoShape">
              <a:avLst/>
            </a:prstTxWarp>
            <a:noAutofit/>
          </a:bodyPr>
          <a:lstStyle/>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Rapidly develop solutions with Visual Studio 2010</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Application Lifecycle Management &amp; Team Dev </a:t>
            </a:r>
          </a:p>
          <a:p>
            <a:pPr marL="333375" indent="-333375" defTabSz="914363">
              <a:lnSpc>
                <a:spcPct val="90000"/>
              </a:lnSpc>
              <a:spcBef>
                <a:spcPct val="20000"/>
              </a:spcBef>
              <a:buClr>
                <a:srgbClr val="0C2E68"/>
              </a:buClr>
              <a:buSzPct val="85000"/>
              <a:buBlip>
                <a:blip r:embed="rId2"/>
              </a:buBlip>
              <a:defRPr sz="2000" i="1">
                <a:solidFill>
                  <a:srgbClr val="FFFFFF"/>
                </a:solidFill>
              </a:defRPr>
            </a:pPr>
            <a:r>
              <a:rPr lang="en-US" sz="2000" i="1" dirty="0" smtClean="0">
                <a:solidFill>
                  <a:schemeClr val="tx1"/>
                </a:solidFill>
              </a:rPr>
              <a:t>Solution quality improved with debugging tools </a:t>
            </a:r>
            <a:endParaRPr lang="en-US" sz="2000" i="1" dirty="0">
              <a:solidFill>
                <a:schemeClr val="tx1"/>
              </a:solidFill>
            </a:endParaRPr>
          </a:p>
        </p:txBody>
      </p:sp>
      <p:sp>
        <p:nvSpPr>
          <p:cNvPr id="10" name="Rounded Rectangle 9"/>
          <p:cNvSpPr/>
          <p:nvPr/>
        </p:nvSpPr>
        <p:spPr bwMode="auto">
          <a:xfrm>
            <a:off x="258205" y="2194179"/>
            <a:ext cx="2103995" cy="1311021"/>
          </a:xfrm>
          <a:prstGeom prst="roundRect">
            <a:avLst>
              <a:gd name="adj" fmla="val 8473"/>
            </a:avLst>
          </a:prstGeom>
          <a:gradFill flip="none" rotWithShape="1">
            <a:gsLst>
              <a:gs pos="0">
                <a:schemeClr val="bg2">
                  <a:lumMod val="90000"/>
                </a:schemeClr>
              </a:gs>
              <a:gs pos="21000">
                <a:srgbClr val="76B6EA"/>
              </a:gs>
              <a:gs pos="44000">
                <a:srgbClr val="1653C0"/>
              </a:gs>
              <a:gs pos="100000">
                <a:srgbClr val="1653C0"/>
              </a:gs>
            </a:gsLst>
            <a:lin ang="4200000" scaled="0"/>
            <a:tileRect/>
          </a:gradFill>
          <a:ln w="9525" cap="flat" cmpd="sng" algn="ctr">
            <a:noFill/>
            <a:prstDash val="solid"/>
            <a:round/>
            <a:headEnd type="none" w="med" len="med"/>
            <a:tailEnd type="none" w="med" len="med"/>
          </a:ln>
          <a:effectLst>
            <a:outerShdw blurRad="508000" sx="102000" sy="102000" algn="ctr" rotWithShape="0">
              <a:prstClr val="black"/>
            </a:outerShdw>
          </a:effectLst>
        </p:spPr>
        <p:txBody>
          <a:bodyPr vert="horz" wrap="square" lIns="91440" tIns="45720" rIns="91440" bIns="45720" numCol="1" rtlCol="0" anchor="ctr" anchorCtr="0" compatLnSpc="1">
            <a:prstTxWarp prst="textNoShape">
              <a:avLst/>
            </a:prstTxWarp>
            <a:flatTx/>
          </a:bodyPr>
          <a:lstStyle/>
          <a:p>
            <a:pPr algn="ctr" defTabSz="-13873163" eaLnBrk="0" hangingPunct="0">
              <a:lnSpc>
                <a:spcPct val="90000"/>
              </a:lnSpc>
              <a:spcBef>
                <a:spcPct val="30000"/>
              </a:spcBef>
              <a:buClr>
                <a:srgbClr val="0C2E68"/>
              </a:buClr>
              <a:buSzPct val="85000"/>
              <a:defRPr sz="2200">
                <a:gradFill flip="none" rotWithShape="1">
                  <a:gsLst>
                    <a:gs pos="0">
                      <a:srgbClr val="444445"/>
                    </a:gs>
                    <a:gs pos="100000">
                      <a:srgbClr val="444445"/>
                    </a:gs>
                  </a:gsLst>
                  <a:lin ang="2700000" scaled="1"/>
                  <a:tileRect/>
                </a:gradFill>
                <a:effectLst>
                  <a:outerShdw blurRad="38100" dist="38100" dir="2700000" algn="tl">
                    <a:srgbClr val="000000">
                      <a:alpha val="43137"/>
                    </a:srgbClr>
                  </a:outerShdw>
                </a:effectLst>
              </a:defRPr>
            </a:pPr>
            <a:r>
              <a:rPr lang="en-US" altLang="zh-CN" sz="2000" b="1" i="1" dirty="0" smtClean="0">
                <a:solidFill>
                  <a:srgbClr val="FFFFFF"/>
                </a:solidFill>
                <a:effectLst>
                  <a:outerShdw blurRad="38100" dist="38100" dir="2700000" algn="tl">
                    <a:srgbClr val="000000">
                      <a:alpha val="43137"/>
                    </a:srgbClr>
                  </a:outerShdw>
                </a:effectLst>
              </a:rPr>
              <a:t>Developer</a:t>
            </a:r>
            <a:br>
              <a:rPr lang="en-US" altLang="zh-CN" sz="2000" b="1" i="1" dirty="0" smtClean="0">
                <a:solidFill>
                  <a:srgbClr val="FFFFFF"/>
                </a:solidFill>
                <a:effectLst>
                  <a:outerShdw blurRad="38100" dist="38100" dir="2700000" algn="tl">
                    <a:srgbClr val="000000">
                      <a:alpha val="43137"/>
                    </a:srgbClr>
                  </a:outerShdw>
                </a:effectLst>
              </a:rPr>
            </a:br>
            <a:r>
              <a:rPr lang="en-US" altLang="zh-CN" sz="2000" b="1" i="1" dirty="0" smtClean="0">
                <a:solidFill>
                  <a:srgbClr val="FFFFFF"/>
                </a:solidFill>
                <a:effectLst>
                  <a:outerShdw blurRad="38100" dist="38100" dir="2700000" algn="tl">
                    <a:srgbClr val="000000">
                      <a:alpha val="43137"/>
                    </a:srgbClr>
                  </a:outerShdw>
                </a:effectLst>
              </a:rPr>
              <a:t>Productivity</a:t>
            </a:r>
            <a:endParaRPr lang="en-US" altLang="zh-CN" sz="2000" b="1" i="1" dirty="0">
              <a:solidFill>
                <a:srgbClr val="FFFFFF"/>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838200" y="1447800"/>
            <a:ext cx="7543800" cy="2895600"/>
          </a:xfrm>
          <a:prstGeom prst="rect">
            <a:avLst/>
          </a:prstGeom>
        </p:spPr>
        <p:txBody>
          <a:bodyPr/>
          <a:lstStyle/>
          <a:p>
            <a:pPr algn="ctr" fontAlgn="auto">
              <a:spcBef>
                <a:spcPts val="0"/>
              </a:spcBef>
              <a:spcAft>
                <a:spcPts val="0"/>
              </a:spcAft>
              <a:defRPr/>
            </a:pPr>
            <a:endParaRPr lang="en-US" sz="2000" dirty="0">
              <a:latin typeface="+mn-lt"/>
              <a:cs typeface="+mn-cs"/>
            </a:endParaRPr>
          </a:p>
        </p:txBody>
      </p:sp>
      <p:pic>
        <p:nvPicPr>
          <p:cNvPr id="4" name="Rectangle 28673"/>
          <p:cNvPicPr>
            <a:picLocks noChangeAspect="1" noChangeArrowheads="1"/>
          </p:cNvPicPr>
          <p:nvPr/>
        </p:nvPicPr>
        <p:blipFill>
          <a:blip r:embed="rId3" cstate="print"/>
          <a:srcRect/>
          <a:stretch>
            <a:fillRect/>
          </a:stretch>
        </p:blipFill>
        <p:spPr bwMode="auto">
          <a:xfrm>
            <a:off x="0" y="2057400"/>
            <a:ext cx="9144000" cy="2044700"/>
          </a:xfrm>
          <a:prstGeom prst="rect">
            <a:avLst/>
          </a:prstGeom>
          <a:noFill/>
          <a:ln w="9525">
            <a:noFill/>
            <a:miter lim="800000"/>
            <a:headEnd/>
            <a:tailEnd/>
          </a:ln>
        </p:spPr>
      </p:pic>
      <p:sp>
        <p:nvSpPr>
          <p:cNvPr id="6" name="TextBox 5"/>
          <p:cNvSpPr txBox="1">
            <a:spLocks noChangeArrowheads="1"/>
          </p:cNvSpPr>
          <p:nvPr/>
        </p:nvSpPr>
        <p:spPr bwMode="auto">
          <a:xfrm>
            <a:off x="762000" y="2667000"/>
            <a:ext cx="7386638" cy="695325"/>
          </a:xfrm>
          <a:prstGeom prst="rect">
            <a:avLst/>
          </a:prstGeom>
          <a:noFill/>
          <a:ln w="9525" algn="ctr">
            <a:noFill/>
            <a:miter lim="800000"/>
            <a:headEnd/>
            <a:tailEnd/>
          </a:ln>
        </p:spPr>
        <p:txBody>
          <a:bodyPr anchor="ctr"/>
          <a:lstStyle/>
          <a:p>
            <a:r>
              <a:rPr lang="en-US" sz="4000" dirty="0"/>
              <a:t>Q &amp; A</a:t>
            </a:r>
          </a:p>
        </p:txBody>
      </p:sp>
      <p:sp>
        <p:nvSpPr>
          <p:cNvPr id="44037" name="TextBox 7"/>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7"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ppt_x</p:attrName>
                                        </p:attrNameLst>
                                      </p:cBhvr>
                                      <p:tavLst>
                                        <p:tav tm="0">
                                          <p:val>
                                            <p:strVal val="#ppt_x-#ppt_w/2"/>
                                          </p:val>
                                        </p:tav>
                                        <p:tav tm="100000">
                                          <p:val>
                                            <p:strVal val="#ppt_x"/>
                                          </p:val>
                                        </p:tav>
                                      </p:tavLst>
                                    </p:anim>
                                    <p:anim calcmode="lin" valueType="num">
                                      <p:cBhvr>
                                        <p:cTn id="11" dur="500" fill="hold"/>
                                        <p:tgtEl>
                                          <p:spTgt spid="4"/>
                                        </p:tgtEl>
                                        <p:attrNameLst>
                                          <p:attrName>ppt_y</p:attrName>
                                        </p:attrNameLst>
                                      </p:cBhvr>
                                      <p:tavLst>
                                        <p:tav tm="0">
                                          <p:val>
                                            <p:strVal val="#ppt_y"/>
                                          </p:val>
                                        </p:tav>
                                        <p:tav tm="100000">
                                          <p:val>
                                            <p:strVal val="#ppt_y"/>
                                          </p:val>
                                        </p:tav>
                                      </p:tavLst>
                                    </p:anim>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err="1" smtClean="0"/>
              <a:t>Arpan</a:t>
            </a:r>
            <a:r>
              <a:rPr lang="en-US" dirty="0" smtClean="0"/>
              <a:t> Shaw’s SPC09 presentation…</a:t>
            </a:r>
          </a:p>
          <a:p>
            <a:r>
              <a:rPr lang="en-US" dirty="0" smtClean="0"/>
              <a:t>SPC09 Beta book</a:t>
            </a:r>
          </a:p>
          <a:p>
            <a:r>
              <a:rPr lang="en-US" dirty="0" smtClean="0">
                <a:hlinkClick r:id="rId2"/>
              </a:rPr>
              <a:t>http://mssharepointitpro.com</a:t>
            </a:r>
            <a:endParaRPr lang="en-US" dirty="0" smtClean="0"/>
          </a:p>
          <a:p>
            <a:r>
              <a:rPr lang="en-US" dirty="0" smtClean="0">
                <a:hlinkClick r:id="rId3"/>
              </a:rPr>
              <a:t>http://mssharepointdeveloper.com</a:t>
            </a:r>
            <a:endParaRPr lang="en-US" dirty="0" smtClean="0"/>
          </a:p>
          <a:p>
            <a:r>
              <a:rPr lang="en-US" dirty="0" smtClean="0">
                <a:hlinkClick r:id="rId4"/>
              </a:rPr>
              <a:t>http://sharepoint.microsoft.com</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049"/>
          <p:cNvSpPr txBox="1">
            <a:spLocks noChangeArrowheads="1"/>
          </p:cNvSpPr>
          <p:nvPr/>
        </p:nvSpPr>
        <p:spPr>
          <a:xfrm>
            <a:off x="762000" y="2133600"/>
            <a:ext cx="7391400" cy="2895600"/>
          </a:xfrm>
          <a:prstGeom prst="rect">
            <a:avLst/>
          </a:prstGeom>
        </p:spPr>
        <p:txBody>
          <a:bodyPr/>
          <a:lstStyle/>
          <a:p>
            <a:pPr algn="ctr" fontAlgn="auto">
              <a:spcBef>
                <a:spcPts val="0"/>
              </a:spcBef>
              <a:spcAft>
                <a:spcPts val="0"/>
              </a:spcAft>
              <a:defRPr/>
            </a:pPr>
            <a:r>
              <a:rPr lang="en-US" sz="4400" kern="0" dirty="0">
                <a:latin typeface="+mj-lt"/>
                <a:ea typeface="+mj-ea"/>
                <a:cs typeface="+mj-cs"/>
              </a:rPr>
              <a:t>Thanks for coming</a:t>
            </a:r>
            <a:r>
              <a:rPr lang="en-US" sz="4400" kern="0" dirty="0" smtClean="0">
                <a:latin typeface="+mj-lt"/>
                <a:ea typeface="+mj-ea"/>
                <a:cs typeface="+mj-cs"/>
              </a:rPr>
              <a:t>!</a:t>
            </a:r>
          </a:p>
          <a:p>
            <a:pPr algn="ctr" fontAlgn="auto">
              <a:spcBef>
                <a:spcPts val="0"/>
              </a:spcBef>
              <a:spcAft>
                <a:spcPts val="0"/>
              </a:spcAft>
              <a:defRPr/>
            </a:pPr>
            <a:endParaRPr lang="en-US" sz="4400" kern="0" dirty="0" smtClean="0">
              <a:latin typeface="+mj-lt"/>
              <a:ea typeface="+mj-ea"/>
              <a:cs typeface="+mj-cs"/>
            </a:endParaRPr>
          </a:p>
          <a:p>
            <a:pPr algn="ctr" fontAlgn="auto">
              <a:spcBef>
                <a:spcPts val="0"/>
              </a:spcBef>
              <a:spcAft>
                <a:spcPts val="0"/>
              </a:spcAft>
              <a:defRPr/>
            </a:pPr>
            <a:r>
              <a:rPr lang="en-US" sz="4400" kern="0" dirty="0" smtClean="0">
                <a:latin typeface="+mj-lt"/>
                <a:ea typeface="+mj-ea"/>
                <a:cs typeface="+mj-cs"/>
              </a:rPr>
              <a:t>Stick around for more sessions.</a:t>
            </a:r>
          </a:p>
          <a:p>
            <a:pPr algn="ctr" fontAlgn="auto">
              <a:spcBef>
                <a:spcPts val="0"/>
              </a:spcBef>
              <a:spcAft>
                <a:spcPts val="0"/>
              </a:spcAft>
              <a:defRPr/>
            </a:pPr>
            <a:r>
              <a:rPr lang="en-US" sz="4400" kern="0" dirty="0" smtClean="0">
                <a:latin typeface="+mj-lt"/>
                <a:ea typeface="+mj-ea"/>
                <a:cs typeface="+mj-cs"/>
              </a:rPr>
              <a:t>Come back for </a:t>
            </a:r>
            <a:r>
              <a:rPr lang="en-US" sz="4400" kern="0" dirty="0" err="1" smtClean="0">
                <a:latin typeface="+mj-lt"/>
                <a:ea typeface="+mj-ea"/>
                <a:cs typeface="+mj-cs"/>
              </a:rPr>
              <a:t>SharePint</a:t>
            </a:r>
            <a:r>
              <a:rPr lang="en-US" sz="4400" kern="0" dirty="0" smtClean="0">
                <a:latin typeface="+mj-lt"/>
                <a:ea typeface="+mj-ea"/>
                <a:cs typeface="+mj-cs"/>
              </a:rPr>
              <a:t>!</a:t>
            </a:r>
            <a:endParaRPr lang="en-US" sz="4400" kern="0" dirty="0">
              <a:latin typeface="+mj-lt"/>
              <a:ea typeface="+mj-ea"/>
              <a:cs typeface="+mj-cs"/>
            </a:endParaRPr>
          </a:p>
        </p:txBody>
      </p:sp>
      <p:sp>
        <p:nvSpPr>
          <p:cNvPr id="45059" name="TextBox 5"/>
          <p:cNvSpPr txBox="1">
            <a:spLocks noChangeArrowheads="1"/>
          </p:cNvSpPr>
          <p:nvPr/>
        </p:nvSpPr>
        <p:spPr bwMode="auto">
          <a:xfrm>
            <a:off x="990600" y="6629400"/>
            <a:ext cx="2819400" cy="554038"/>
          </a:xfrm>
          <a:prstGeom prst="rect">
            <a:avLst/>
          </a:prstGeom>
          <a:noFill/>
          <a:ln w="9525" algn="ctr">
            <a:noFill/>
            <a:miter lim="800000"/>
            <a:headEnd/>
            <a:tailEnd/>
          </a:ln>
        </p:spPr>
        <p:txBody>
          <a:bodyPr>
            <a:spAutoFit/>
          </a:bodyPr>
          <a:lstStyle/>
          <a:p>
            <a:pPr>
              <a:spcBef>
                <a:spcPct val="50000"/>
              </a:spcBef>
            </a:pPr>
            <a:r>
              <a:rPr lang="en-US" sz="1200">
                <a:solidFill>
                  <a:srgbClr val="D8D8D8"/>
                </a:solidFill>
                <a:latin typeface="Calibri" pitchFamily="34" charset="0"/>
              </a:rPr>
              <a:t>http://www.sharepointmn.com</a:t>
            </a:r>
          </a:p>
          <a:p>
            <a:pPr>
              <a:spcBef>
                <a:spcPct val="50000"/>
              </a:spcBef>
            </a:pPr>
            <a:endParaRPr lang="en-US" sz="1200">
              <a:solidFill>
                <a:srgbClr val="D8D8D8"/>
              </a:solidFill>
              <a:latin typeface="Calibri" pitchFamily="34" charset="0"/>
            </a:endParaRPr>
          </a:p>
        </p:txBody>
      </p:sp>
      <p:pic>
        <p:nvPicPr>
          <p:cNvPr id="38914" name="Picture 2" descr="sparepintlargeblack"/>
          <p:cNvPicPr>
            <a:picLocks noChangeAspect="1" noChangeArrowheads="1"/>
          </p:cNvPicPr>
          <p:nvPr/>
        </p:nvPicPr>
        <p:blipFill>
          <a:blip r:embed="rId2"/>
          <a:srcRect/>
          <a:stretch>
            <a:fillRect/>
          </a:stretch>
        </p:blipFill>
        <p:spPr bwMode="auto">
          <a:xfrm>
            <a:off x="4648200" y="5181600"/>
            <a:ext cx="4495800" cy="1438275"/>
          </a:xfrm>
          <a:prstGeom prst="rect">
            <a:avLst/>
          </a:prstGeom>
          <a:noFill/>
        </p:spPr>
      </p:pic>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5_Inetium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0ED1AB70FEEB40AABF66AC4B3CAC50" ma:contentTypeVersion="5" ma:contentTypeDescription="Create a new document." ma:contentTypeScope="" ma:versionID="906077b35c678cb5b25699d18ba3c357">
  <xsd:schema xmlns:xsd="http://www.w3.org/2001/XMLSchema" xmlns:p="http://schemas.microsoft.com/office/2006/metadata/properties" xmlns:ns2="2d633912-0781-4889-9a5d-8de816c0e630" targetNamespace="http://schemas.microsoft.com/office/2006/metadata/properties" ma:root="true" ma:fieldsID="964f10d9b36f0db0462656804253ed03" ns2:_="">
    <xsd:import namespace="2d633912-0781-4889-9a5d-8de816c0e630"/>
    <xsd:element name="properties">
      <xsd:complexType>
        <xsd:sequence>
          <xsd:element name="documentManagement">
            <xsd:complexType>
              <xsd:all>
                <xsd:element ref="ns2:User_x0020_Group_x0020_Meeting" minOccurs="0"/>
                <xsd:element ref="ns2:Meeting_x0020__x0023_" minOccurs="0"/>
              </xsd:all>
            </xsd:complexType>
          </xsd:element>
        </xsd:sequence>
      </xsd:complexType>
    </xsd:element>
  </xsd:schema>
  <xsd:schema xmlns:xsd="http://www.w3.org/2001/XMLSchema" xmlns:dms="http://schemas.microsoft.com/office/2006/documentManagement/types" targetNamespace="2d633912-0781-4889-9a5d-8de816c0e630" elementFormDefault="qualified">
    <xsd:import namespace="http://schemas.microsoft.com/office/2006/documentManagement/types"/>
    <xsd:element name="User_x0020_Group_x0020_Meeting" ma:index="8" nillable="true" ma:displayName="User Group Meeting" ma:list="{be2264d3-a752-4a1e-a41e-56d2209e81cf}" ma:internalName="User_x0020_Group_x0020_Meeting" ma:readOnly="false" ma:showField="Title">
      <xsd:simpleType>
        <xsd:restriction base="dms:Lookup"/>
      </xsd:simpleType>
    </xsd:element>
    <xsd:element name="Meeting_x0020__x0023_" ma:index="9" nillable="true" ma:displayName="Meeting #" ma:decimals="0" ma:internalName="Meeting_x0020__x0023_">
      <xsd:simpleType>
        <xsd:restriction base="dms:Number"/>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4.xml><?xml version="1.0" encoding="utf-8"?>
<p:properties xmlns:p="http://schemas.microsoft.com/office/2006/metadata/properties" xmlns:xsi="http://www.w3.org/2001/XMLSchema-instance">
  <documentManagement>
    <User_x0020_Group_x0020_Meeting xmlns="2d633912-0781-4889-9a5d-8de816c0e630">74</User_x0020_Group_x0020_Meeting>
    <Meeting_x0020__x0023_ xmlns="2d633912-0781-4889-9a5d-8de816c0e630">60</Meeting_x0020__x0023_>
  </documentManagement>
</p:properties>
</file>

<file path=customXml/itemProps1.xml><?xml version="1.0" encoding="utf-8"?>
<ds:datastoreItem xmlns:ds="http://schemas.openxmlformats.org/officeDocument/2006/customXml" ds:itemID="{D611DA60-C810-417F-8AF8-6EC70FFB9619}"/>
</file>

<file path=customXml/itemProps2.xml><?xml version="1.0" encoding="utf-8"?>
<ds:datastoreItem xmlns:ds="http://schemas.openxmlformats.org/officeDocument/2006/customXml" ds:itemID="{71AF06E0-1078-4618-9975-C7A55CB689D3}"/>
</file>

<file path=customXml/itemProps3.xml><?xml version="1.0" encoding="utf-8"?>
<ds:datastoreItem xmlns:ds="http://schemas.openxmlformats.org/officeDocument/2006/customXml" ds:itemID="{1727BD71-F16F-4F2B-8D68-1D73F30BAB58}"/>
</file>

<file path=customXml/itemProps4.xml><?xml version="1.0" encoding="utf-8"?>
<ds:datastoreItem xmlns:ds="http://schemas.openxmlformats.org/officeDocument/2006/customXml" ds:itemID="{74C6CE02-46ED-458F-9E19-AE9479655C7C}"/>
</file>

<file path=docProps/app.xml><?xml version="1.0" encoding="utf-8"?>
<Properties xmlns="http://schemas.openxmlformats.org/officeDocument/2006/extended-properties" xmlns:vt="http://schemas.openxmlformats.org/officeDocument/2006/docPropsVTypes">
  <TotalTime>20864</TotalTime>
  <Words>2850</Words>
  <Application>Microsoft Office PowerPoint</Application>
  <PresentationFormat>On-screen Show (4:3)</PresentationFormat>
  <Paragraphs>711</Paragraphs>
  <Slides>77</Slides>
  <Notes>39</Notes>
  <HiddenSlides>0</HiddenSlides>
  <MMClips>0</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Office Theme</vt:lpstr>
      <vt:lpstr>Slide 1</vt:lpstr>
      <vt:lpstr>Slide 2</vt:lpstr>
      <vt:lpstr>Slide 3</vt:lpstr>
      <vt:lpstr>User Group Goal / Objectives</vt:lpstr>
      <vt:lpstr>Introductions – MNSPUG Sponsors</vt:lpstr>
      <vt:lpstr>www.sharepointmn.com</vt:lpstr>
      <vt:lpstr>Upcoming Schedule</vt:lpstr>
      <vt:lpstr>Slide 8</vt:lpstr>
      <vt:lpstr>Thanks!</vt:lpstr>
      <vt:lpstr>SPC09</vt:lpstr>
      <vt:lpstr>Announcements</vt:lpstr>
      <vt:lpstr>Veterans Day</vt:lpstr>
      <vt:lpstr>Slide 13</vt:lpstr>
      <vt:lpstr>*Disclaimer*</vt:lpstr>
      <vt:lpstr>Microsoft SharePoint 2010 The Business Collaboration Platform for the Enterprise and the Web</vt:lpstr>
      <vt:lpstr>SharePoint 2010 Timeline</vt:lpstr>
      <vt:lpstr>Slide 17</vt:lpstr>
      <vt:lpstr>“SharePoint”</vt:lpstr>
      <vt:lpstr>And now in 2010:</vt:lpstr>
      <vt:lpstr>Slide 20</vt:lpstr>
      <vt:lpstr>Slide 21</vt:lpstr>
      <vt:lpstr>Internet/Extranet</vt:lpstr>
      <vt:lpstr>Microsoft Enterprise Search</vt:lpstr>
      <vt:lpstr>Slide 24</vt:lpstr>
      <vt:lpstr>SharePoint Online</vt:lpstr>
      <vt:lpstr>Where did “Office” go?</vt:lpstr>
      <vt:lpstr>Building Solutions with SharePoint</vt:lpstr>
      <vt:lpstr>2010 is a BIG release</vt:lpstr>
      <vt:lpstr>SharePoint Core Features </vt:lpstr>
      <vt:lpstr>SharePoint Foundation 2010 </vt:lpstr>
      <vt:lpstr>SharePoint Server 2010 </vt:lpstr>
      <vt:lpstr>Slide 32</vt:lpstr>
      <vt:lpstr>What are Sites?</vt:lpstr>
      <vt:lpstr>SharePoint Sites</vt:lpstr>
      <vt:lpstr>Ribbon</vt:lpstr>
      <vt:lpstr>Workspace</vt:lpstr>
      <vt:lpstr>Mobile</vt:lpstr>
      <vt:lpstr>Office Web Application</vt:lpstr>
      <vt:lpstr>Demos/Screenshots</vt:lpstr>
      <vt:lpstr>Slide 40</vt:lpstr>
      <vt:lpstr>What are Communities?</vt:lpstr>
      <vt:lpstr>SharePoint Communities</vt:lpstr>
      <vt:lpstr>My Sites &amp; Profiles</vt:lpstr>
      <vt:lpstr>Tags, Notes &amp; Ratings</vt:lpstr>
      <vt:lpstr>Blogs &amp; Wikis</vt:lpstr>
      <vt:lpstr>Demos/Screenshots</vt:lpstr>
      <vt:lpstr>Slide 47</vt:lpstr>
      <vt:lpstr>What is Content?</vt:lpstr>
      <vt:lpstr>SharePoint Content</vt:lpstr>
      <vt:lpstr>Metadata</vt:lpstr>
      <vt:lpstr>Video Streaming</vt:lpstr>
      <vt:lpstr>Document Sets</vt:lpstr>
      <vt:lpstr>Document Routing</vt:lpstr>
      <vt:lpstr>Demos/Screenshots</vt:lpstr>
      <vt:lpstr>Slide 55</vt:lpstr>
      <vt:lpstr>What is Search?</vt:lpstr>
      <vt:lpstr>SharePoint Search</vt:lpstr>
      <vt:lpstr>Wildcard Searching</vt:lpstr>
      <vt:lpstr>Improved Search Results</vt:lpstr>
      <vt:lpstr>Demos/Screenshots</vt:lpstr>
      <vt:lpstr>Slide 61</vt:lpstr>
      <vt:lpstr>What are Insights?</vt:lpstr>
      <vt:lpstr>SharePoint Insights</vt:lpstr>
      <vt:lpstr>Lots of new toys</vt:lpstr>
      <vt:lpstr>Demos/Screenshots</vt:lpstr>
      <vt:lpstr>Slide 66</vt:lpstr>
      <vt:lpstr>What are Composites?</vt:lpstr>
      <vt:lpstr>SharePoint Composites</vt:lpstr>
      <vt:lpstr>External Lists (and Office Client Integration)</vt:lpstr>
      <vt:lpstr>Sandbox Solutions</vt:lpstr>
      <vt:lpstr>Demos/Screenshots</vt:lpstr>
      <vt:lpstr>SharePoint Server 2010 </vt:lpstr>
      <vt:lpstr>IT Pro Investments</vt:lpstr>
      <vt:lpstr>Developer Investments</vt:lpstr>
      <vt:lpstr>Slide 75</vt:lpstr>
      <vt:lpstr>References</vt:lpstr>
      <vt:lpstr>Slide 77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SharePoint 2010 Overview</dc:title>
  <dc:creator>Wes Preston;rmitchell</dc:creator>
  <cp:keywords>MNSPUG;2010 Overview</cp:keywords>
  <cp:lastModifiedBy>Windows User</cp:lastModifiedBy>
  <cp:revision>1219</cp:revision>
  <dcterms:created xsi:type="dcterms:W3CDTF">2006-12-13T13:26:46Z</dcterms:created>
  <dcterms:modified xsi:type="dcterms:W3CDTF">2009-11-11T12:52:04Z</dcterms:modified>
  <cp:contentType>Document</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eting Date">
    <vt:lpwstr>2007-05-02</vt:lpwstr>
  </property>
  <property fmtid="{D5CDD505-2E9C-101B-9397-08002B2CF9AE}" pid="3" name="ContentType">
    <vt:lpwstr>Document</vt:lpwstr>
  </property>
  <property fmtid="{D5CDD505-2E9C-101B-9397-08002B2CF9AE}" pid="4" name="ContentTypeId">
    <vt:lpwstr>0x010100090ED1AB70FEEB40AABF66AC4B3CAC50</vt:lpwstr>
  </property>
  <property fmtid="{D5CDD505-2E9C-101B-9397-08002B2CF9AE}" pid="5" name="Order">
    <vt:r8>16300</vt:r8>
  </property>
</Properties>
</file>