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8364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52B56-0EFC-4CD1-849E-A8B6FD98BC3E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3190D-3DAA-45CB-98A9-F93818646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4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549E-C124-5B50-570D-7C868A30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0EF4F-788C-DF03-674D-EF56C5F18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905C2-B646-6960-2B42-C50B246F7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0D31B-6949-E617-EC27-6E1265D98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67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3ABA-7284-E747-14D8-FA3E1D1A8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B68A0-C56F-ECB4-4BCC-6C1BA02BE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C93AC-31DF-6219-BBAA-4A4EB56FB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DD6F6-0959-2C3F-F423-730B0468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D8645-7842-5E13-365F-B8E33B53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47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9254-7202-0FD4-A68B-89BEA4C1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49DBD-CB5F-DC38-AF6A-E1472D460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76EB5-479D-D562-4F81-E4941A746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77CCC-A19B-02E2-F247-D3FA4D6E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3FBC0-EFFA-3A3F-9A1D-B119C5FF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55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D674-BEC0-7BD1-A118-72CC16F3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B8469-93AE-CA25-7D8B-61F988E95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4180C-49D5-E4AC-D5DD-CFB9FE4D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05FBD-C271-9070-1F79-C44C46F8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D8C64-B333-3784-2363-94C8389A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6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06A0-8469-350B-338C-8FE68F9B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EFBA6-C11C-DAD9-2518-F2DB094CF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E6E83-1A72-6BF4-7067-441DCEE45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26E85-3386-4C83-85E7-1201BEB41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41FE8-C7D4-49B3-F946-C478FC15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7E188-A367-8B5C-AD5E-1DE28202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87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5DE8-2D49-C99C-E2E2-1D953516D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B6FF4-76EC-95A3-1A21-0CD751229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E70AB-5CB0-8D62-2C8B-24F2A648C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5410B-FEB8-5A58-F2AC-B0D75277B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B2AD3-FC21-EBDA-C4B8-A3DC2E0B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5CE30-0F56-30C0-16D1-C3DE1323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F48B7-550B-8FDC-964E-C0E75F9EA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DED09-D2E4-D076-8C0B-01905CAB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83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722F-E6D0-AFB8-8AE0-29321381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DBFD3-8574-4411-1504-E38BABDA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A9887-79B5-041E-16CD-298D422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3EB1D-0B1D-BA82-F827-2250AD7B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3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AD00C8-F5A3-7134-8104-12222638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84689-6E25-426A-9243-25655FE9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CFA0B-0534-A73B-E05B-3D5FAEB7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4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375B-84BA-8ECE-AF24-47E56ECD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F30FF-9D28-91F8-B3CD-44E99E581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C2D3A-E579-5D3F-B504-C7AD6FF07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A42A5-1545-4542-9FA6-78E585AE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79D0B-042A-F7F7-1528-76DC6B7E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2A829-5F94-DFFA-25D4-E68D7E91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72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6D6F-2E5D-0F34-69CB-05C7B384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759E9-AC9E-A86C-EFE9-995F0961A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75343-E7F8-55F5-692C-9AFAAE705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BF4A5-9608-3C7F-12B1-65D78EE1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31D51-38E5-2199-BA61-9A679503D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9266E-FBB4-02C7-3A58-5DF5AFFB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76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6678-7D74-C7A6-4A83-F0557BCE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AFACA-015B-FFCB-4355-48AB73866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7F9E6-5EE5-7758-B1B3-FE4FE22D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89BF3-9E95-3541-40A1-42F0A998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F189A-8AC1-0EF6-9093-D7B5EAA6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3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4610D6-739A-D8F5-1F93-C0999BEBC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9F5C0-1FB2-5A77-1356-BF03840B9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CF107-6FA6-FE00-20C6-1BC9A662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C1C1-F938-87B9-BDA0-F321E014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3F77-E3E8-2C22-F5FB-06AF049B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64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480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08025E-F8A8-C235-8DAE-7EC1E5F5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93D22-6190-2937-84D4-121BC4C99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E4893-33DF-F5D9-C6C5-C64E2D8C4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6E454-7EB9-42DE-A704-C5FFFA14AC79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5FE08-96C4-B454-F783-4040B987F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0F6B0-8D9F-6157-00FF-1414BCDD3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2ED64-AB9F-4C25-B0BA-A91CCFBA3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5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sites/ITLeadershipTeam/Lists/ELGi%20IT%20Program%20%20Project%20Intake/AllItems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lgi.sharepoint.com/sites/ITLeadershipTeam/Lists/Project%20Review%20Board%20Tracker/NA%20Regional%20View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E936F-AA33-2BB1-09E1-94D20834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52CB6-8275-B0F8-779C-8051792265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480" y="286132"/>
            <a:ext cx="10588959" cy="36576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Intake Process </a:t>
            </a:r>
            <a:r>
              <a:rPr lang="en-US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(Link) </a:t>
            </a:r>
            <a:endParaRPr lang="en-US" sz="2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91B3CD85-E265-EC85-2CCB-2891B102E471}"/>
              </a:ext>
            </a:extLst>
          </p:cNvPr>
          <p:cNvGraphicFramePr>
            <a:graphicFrameLocks noGrp="1"/>
          </p:cNvGraphicFramePr>
          <p:nvPr/>
        </p:nvGraphicFramePr>
        <p:xfrm>
          <a:off x="614196" y="922720"/>
          <a:ext cx="11037030" cy="5275300"/>
        </p:xfrm>
        <a:graphic>
          <a:graphicData uri="http://schemas.openxmlformats.org/drawingml/2006/table">
            <a:tbl>
              <a:tblPr/>
              <a:tblGrid>
                <a:gridCol w="1320562">
                  <a:extLst>
                    <a:ext uri="{9D8B030D-6E8A-4147-A177-3AD203B41FA5}">
                      <a16:colId xmlns:a16="http://schemas.microsoft.com/office/drawing/2014/main" val="178649998"/>
                    </a:ext>
                  </a:extLst>
                </a:gridCol>
                <a:gridCol w="9716468">
                  <a:extLst>
                    <a:ext uri="{9D8B030D-6E8A-4147-A177-3AD203B41FA5}">
                      <a16:colId xmlns:a16="http://schemas.microsoft.com/office/drawing/2014/main" val="1807522197"/>
                    </a:ext>
                  </a:extLst>
                </a:gridCol>
              </a:tblGrid>
              <a:tr h="1894052">
                <a:tc>
                  <a:txBody>
                    <a:bodyPr/>
                    <a:lstStyle>
                      <a:lvl1pPr marL="0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157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03153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5472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0630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5788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0945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161035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1261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Demand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157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03153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5472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0630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5788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0945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161035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1261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endParaRPr lang="en-US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28119"/>
                  </a:ext>
                </a:extLst>
              </a:tr>
              <a:tr h="1690624">
                <a:tc>
                  <a:txBody>
                    <a:bodyPr/>
                    <a:lstStyle>
                      <a:lvl1pPr marL="0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157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03153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5472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0630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5788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0945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161035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1261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Case Development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157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03153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5472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0630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5788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0945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161035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1261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endParaRPr lang="en-US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549620"/>
                  </a:ext>
                </a:extLst>
              </a:tr>
              <a:tr h="1690624">
                <a:tc>
                  <a:txBody>
                    <a:bodyPr/>
                    <a:lstStyle>
                      <a:lvl1pPr marL="0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157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03153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5472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0630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5788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0945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161035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1261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Case Review and Sequencing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1pPr>
                      <a:lvl2pPr marL="45157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2pPr>
                      <a:lvl3pPr marL="903153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3pPr>
                      <a:lvl4pPr marL="135472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4pPr>
                      <a:lvl5pPr marL="1806306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5pPr>
                      <a:lvl6pPr marL="225788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6pPr>
                      <a:lvl7pPr marL="2709459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7pPr>
                      <a:lvl8pPr marL="3161035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8pPr>
                      <a:lvl9pPr marL="3612612" algn="l" defTabSz="903153" rtl="0" eaLnBrk="1" latinLnBrk="0" hangingPunct="1">
                        <a:defRPr sz="1778" kern="1200">
                          <a:solidFill>
                            <a:schemeClr val="dk1"/>
                          </a:solidFill>
                          <a:latin typeface="Open Sans"/>
                        </a:defRPr>
                      </a:lvl9pPr>
                    </a:lstStyle>
                    <a:p>
                      <a:endParaRPr lang="en-US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99647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D26723E8-C434-595A-A037-B7F04625D1EC}"/>
              </a:ext>
            </a:extLst>
          </p:cNvPr>
          <p:cNvSpPr/>
          <p:nvPr/>
        </p:nvSpPr>
        <p:spPr bwMode="auto">
          <a:xfrm>
            <a:off x="2438494" y="1432515"/>
            <a:ext cx="1837774" cy="82296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prstClr val="black"/>
                </a:solidFill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Regional and functional business owners/leads submit project via intake form</a:t>
            </a:r>
            <a:r>
              <a:rPr lang="en-US" sz="1000" b="1" kern="0">
                <a:solidFill>
                  <a:prstClr val="black"/>
                </a:solidFill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. Status =“Draft” 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AF4972-DB06-2700-093B-0D34524A9521}"/>
              </a:ext>
            </a:extLst>
          </p:cNvPr>
          <p:cNvSpPr/>
          <p:nvPr/>
        </p:nvSpPr>
        <p:spPr bwMode="auto">
          <a:xfrm>
            <a:off x="5115989" y="1432515"/>
            <a:ext cx="2456872" cy="82296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IT Heads/BRMs review intake form for completion.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5A6089-9B53-ED36-7BD9-63434EBB11FC}"/>
              </a:ext>
            </a:extLst>
          </p:cNvPr>
          <p:cNvSpPr/>
          <p:nvPr/>
        </p:nvSpPr>
        <p:spPr bwMode="auto">
          <a:xfrm>
            <a:off x="4084069" y="3230229"/>
            <a:ext cx="1342975" cy="100584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IT Product Lead to develop business case consulting key stakeholders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CA1015-9D89-DCB7-DC78-1D3936CEA180}"/>
              </a:ext>
            </a:extLst>
          </p:cNvPr>
          <p:cNvSpPr/>
          <p:nvPr/>
        </p:nvSpPr>
        <p:spPr bwMode="auto">
          <a:xfrm>
            <a:off x="8412582" y="1432515"/>
            <a:ext cx="1463040" cy="82296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IT Head reviews and assigns a product lead. 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Moves Status to="Submitted"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B2E357-8433-F327-FDA4-4E4DEC3EF30D}"/>
              </a:ext>
            </a:extLst>
          </p:cNvPr>
          <p:cNvSpPr/>
          <p:nvPr/>
        </p:nvSpPr>
        <p:spPr bwMode="auto">
          <a:xfrm>
            <a:off x="9542821" y="3219561"/>
            <a:ext cx="1657618" cy="100584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Business &amp; Functional Portfolio  leads pre-reviews final business case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kern="0">
                <a:solidFill>
                  <a:prstClr val="black"/>
                </a:solidFill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Product Lead flips the status to </a:t>
            </a:r>
            <a:r>
              <a:rPr lang="en-US" sz="1000" b="1" kern="0">
                <a:solidFill>
                  <a:prstClr val="black"/>
                </a:solidFill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“Ready for Demand Review”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F07826-DD92-BA46-A9EE-25F52716B166}"/>
              </a:ext>
            </a:extLst>
          </p:cNvPr>
          <p:cNvSpPr/>
          <p:nvPr/>
        </p:nvSpPr>
        <p:spPr bwMode="auto">
          <a:xfrm>
            <a:off x="2674020" y="3219559"/>
            <a:ext cx="1168402" cy="100584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IT Product lead / BRM creates stakeholder map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F0F30EA-686A-5969-289B-EDD3FD085E8D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3842422" y="3722479"/>
            <a:ext cx="241647" cy="10670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7DF902-3243-3B17-9299-8710DA7C39B0}"/>
              </a:ext>
            </a:extLst>
          </p:cNvPr>
          <p:cNvCxnSpPr>
            <a:cxnSpLocks/>
            <a:stCxn id="29" idx="3"/>
            <a:endCxn id="64" idx="1"/>
          </p:cNvCxnSpPr>
          <p:nvPr/>
        </p:nvCxnSpPr>
        <p:spPr>
          <a:xfrm>
            <a:off x="5427044" y="3733149"/>
            <a:ext cx="241647" cy="1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9F36E68-5C0B-7D3B-2378-4F9A22E337F1}"/>
              </a:ext>
            </a:extLst>
          </p:cNvPr>
          <p:cNvCxnSpPr>
            <a:cxnSpLocks/>
            <a:stCxn id="64" idx="3"/>
            <a:endCxn id="63" idx="1"/>
          </p:cNvCxnSpPr>
          <p:nvPr/>
        </p:nvCxnSpPr>
        <p:spPr>
          <a:xfrm flipV="1">
            <a:off x="7621585" y="3722480"/>
            <a:ext cx="241647" cy="10670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22E284-2A9A-0E93-002A-3C45B95ED89A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262673" y="3722479"/>
            <a:ext cx="280148" cy="2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B261714-08C4-441B-FA36-33164C5CC369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7572861" y="1843995"/>
            <a:ext cx="839721" cy="0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53A6B6A-F658-AE7C-B7A4-F0E80D3154B6}"/>
              </a:ext>
            </a:extLst>
          </p:cNvPr>
          <p:cNvCxnSpPr>
            <a:cxnSpLocks/>
            <a:stCxn id="30" idx="2"/>
            <a:endCxn id="34" idx="1"/>
          </p:cNvCxnSpPr>
          <p:nvPr/>
        </p:nvCxnSpPr>
        <p:spPr>
          <a:xfrm rot="5400000">
            <a:off x="5175559" y="-246064"/>
            <a:ext cx="1467004" cy="6470082"/>
          </a:xfrm>
          <a:prstGeom prst="bentConnector4">
            <a:avLst>
              <a:gd name="adj1" fmla="val 32859"/>
              <a:gd name="adj2" fmla="val 103533"/>
            </a:avLst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586E33A-C89F-D5C0-C674-9D2AD661724E}"/>
              </a:ext>
            </a:extLst>
          </p:cNvPr>
          <p:cNvSpPr/>
          <p:nvPr/>
        </p:nvSpPr>
        <p:spPr bwMode="auto">
          <a:xfrm>
            <a:off x="6191440" y="5002920"/>
            <a:ext cx="2011680" cy="73152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If Approved : IT Capability team, in collaborates with EA to determine the project sequencing based on dependencies and resource capacity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ヒラギノ角ゴ ProN W3" pitchFamily="-110" charset="-128"/>
              <a:sym typeface="Arial" pitchFamily="-110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EDD0BF-9A7A-7ECE-D965-4C65F43A1C08}"/>
              </a:ext>
            </a:extLst>
          </p:cNvPr>
          <p:cNvCxnSpPr>
            <a:cxnSpLocks/>
            <a:stCxn id="54" idx="3"/>
            <a:endCxn id="43" idx="1"/>
          </p:cNvCxnSpPr>
          <p:nvPr/>
        </p:nvCxnSpPr>
        <p:spPr>
          <a:xfrm>
            <a:off x="5874555" y="5367004"/>
            <a:ext cx="316885" cy="1676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5B877DF-5B19-2BF2-6A36-24AAB86BB8AC}"/>
              </a:ext>
            </a:extLst>
          </p:cNvPr>
          <p:cNvSpPr/>
          <p:nvPr/>
        </p:nvSpPr>
        <p:spPr bwMode="auto">
          <a:xfrm>
            <a:off x="8537499" y="5001244"/>
            <a:ext cx="1401643" cy="73152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  <a:hlinkClick r:id="rId4"/>
              </a:rPr>
              <a:t>Follow Project Stage - Gate Process. Project Status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  <a:hlinkClick r:id="rId4"/>
              </a:rPr>
              <a:t>“PRB Initiated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”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F90620-7B45-6540-86E0-1682212EFA3B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8220613" y="5367004"/>
            <a:ext cx="316886" cy="0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0ADB7ACD-7D57-1E49-2E1B-BD70695A65AF}"/>
              </a:ext>
            </a:extLst>
          </p:cNvPr>
          <p:cNvCxnSpPr>
            <a:cxnSpLocks/>
            <a:stCxn id="31" idx="2"/>
            <a:endCxn id="54" idx="1"/>
          </p:cNvCxnSpPr>
          <p:nvPr/>
        </p:nvCxnSpPr>
        <p:spPr>
          <a:xfrm rot="5400000">
            <a:off x="5952025" y="947398"/>
            <a:ext cx="1141603" cy="7697609"/>
          </a:xfrm>
          <a:prstGeom prst="bentConnector4">
            <a:avLst>
              <a:gd name="adj1" fmla="val 33980"/>
              <a:gd name="adj2" fmla="val 102970"/>
            </a:avLst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505FE6-61AC-2D33-F415-0B69D92F060E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4276268" y="1843995"/>
            <a:ext cx="839721" cy="0"/>
          </a:xfrm>
          <a:prstGeom prst="straightConnector1">
            <a:avLst/>
          </a:prstGeom>
          <a:noFill/>
          <a:ln w="12700" cap="sq" cmpd="sng" algn="ctr">
            <a:solidFill>
              <a:srgbClr val="86BC25">
                <a:lumMod val="50000"/>
              </a:srgbClr>
            </a:solidFill>
            <a:prstDash val="solid"/>
            <a:round/>
            <a:tailEnd type="triangle"/>
          </a:ln>
          <a:effectLst/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84E6C28-0CD3-85B7-13CC-236FF2301B17}"/>
              </a:ext>
            </a:extLst>
          </p:cNvPr>
          <p:cNvSpPr/>
          <p:nvPr/>
        </p:nvSpPr>
        <p:spPr bwMode="auto">
          <a:xfrm>
            <a:off x="2674021" y="5001244"/>
            <a:ext cx="3200534" cy="73152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Demand review meetings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 Review business case by Functional, Regional leaders and CIDO.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 dirty="0">
                <a:solidFill>
                  <a:prstClr val="black"/>
                </a:solidFill>
                <a:ea typeface="ヒラギノ角ゴ ProN W3" pitchFamily="-110" charset="-128"/>
                <a:sym typeface="Arial" pitchFamily="-110" charset="0"/>
              </a:rPr>
              <a:t>Project is </a:t>
            </a:r>
            <a:r>
              <a:rPr lang="en-US" sz="1000" b="1" kern="0" dirty="0">
                <a:solidFill>
                  <a:prstClr val="black"/>
                </a:solidFill>
                <a:ea typeface="ヒラギノ角ゴ ProN W3" pitchFamily="-110" charset="-128"/>
                <a:sym typeface="Arial" pitchFamily="-110" charset="0"/>
              </a:rPr>
              <a:t>A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pproved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/Rejected/On-Hold/</a:t>
            </a:r>
            <a:r>
              <a:rPr lang="en-US" sz="1000" b="1" kern="0" dirty="0">
                <a:solidFill>
                  <a:prstClr val="black"/>
                </a:solidFill>
                <a:ea typeface="ヒラギノ角ゴ ProN W3" pitchFamily="-110" charset="-128"/>
                <a:sym typeface="Arial" pitchFamily="-110" charset="0"/>
              </a:rPr>
              <a:t>D</a:t>
            </a:r>
            <a:r>
              <a:rPr kumimoji="0" lang="en-US" sz="10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effered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sym typeface="Arial" pitchFamily="-110" charset="0"/>
              </a:rPr>
              <a:t>Project.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D846C72-2BD4-08B3-149E-AF8B9F9D0048}"/>
              </a:ext>
            </a:extLst>
          </p:cNvPr>
          <p:cNvSpPr/>
          <p:nvPr/>
        </p:nvSpPr>
        <p:spPr bwMode="auto">
          <a:xfrm>
            <a:off x="7863232" y="3219560"/>
            <a:ext cx="1399441" cy="10058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IT Product Owner works with Architect weighs in on solution and validates against technical roadmap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545FB9-D772-DF04-3C72-D5B770E32229}"/>
              </a:ext>
            </a:extLst>
          </p:cNvPr>
          <p:cNvSpPr/>
          <p:nvPr/>
        </p:nvSpPr>
        <p:spPr bwMode="auto">
          <a:xfrm>
            <a:off x="5668691" y="3230230"/>
            <a:ext cx="1952894" cy="10058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                                                                                                                                                              IT Product lead Work with Finance to review high level estimates.</a:t>
            </a:r>
            <a:r>
              <a:rPr lang="en-US" sz="1000" kern="0">
                <a:solidFill>
                  <a:prstClr val="black"/>
                </a:solidFill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 Product Lead </a:t>
            </a:r>
            <a:r>
              <a:rPr lang="en-US" sz="1000" kern="0">
                <a:solidFill>
                  <a:prstClr val="black"/>
                </a:solidFill>
                <a:ea typeface="ヒラギノ角ゴ ProN W3" pitchFamily="-110" charset="-128"/>
                <a:sym typeface="Arial" pitchFamily="-110" charset="0"/>
              </a:rPr>
              <a:t>flips</a:t>
            </a:r>
            <a:r>
              <a:rPr lang="en-US" sz="1000" kern="0">
                <a:solidFill>
                  <a:prstClr val="black"/>
                </a:solidFill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 the status to </a:t>
            </a:r>
            <a:r>
              <a:rPr lang="en-US" sz="1000" b="1" kern="0">
                <a:solidFill>
                  <a:prstClr val="black"/>
                </a:solidFill>
                <a:ea typeface="ヒラギノ角ゴ ProN W3" pitchFamily="-110" charset="-128"/>
                <a:cs typeface="ヒラギノ角ゴ ProN W3" pitchFamily="-110" charset="-128"/>
                <a:sym typeface="Arial" pitchFamily="-110" charset="0"/>
              </a:rPr>
              <a:t>“Architect Review”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ヒラギノ角ゴ ProN W3" pitchFamily="-110" charset="-128"/>
              <a:cs typeface="ヒラギノ角ゴ ProN W3" pitchFamily="-110" charset="-128"/>
              <a:sym typeface="Arial" pitchFamily="-110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1000C5-A881-0044-59FB-C0D53CA2FBE3}"/>
              </a:ext>
            </a:extLst>
          </p:cNvPr>
          <p:cNvCxnSpPr>
            <a:cxnSpLocks/>
          </p:cNvCxnSpPr>
          <p:nvPr/>
        </p:nvCxnSpPr>
        <p:spPr>
          <a:xfrm>
            <a:off x="10103749" y="4926411"/>
            <a:ext cx="0" cy="88599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1559114C-F55A-A431-9E83-F93EF8D278D3}"/>
              </a:ext>
            </a:extLst>
          </p:cNvPr>
          <p:cNvSpPr/>
          <p:nvPr/>
        </p:nvSpPr>
        <p:spPr>
          <a:xfrm>
            <a:off x="10256028" y="5001244"/>
            <a:ext cx="944411" cy="731520"/>
          </a:xfrm>
          <a:prstGeom prst="roundRect">
            <a:avLst>
              <a:gd name="adj" fmla="val 11232"/>
            </a:avLst>
          </a:prstGeom>
          <a:solidFill>
            <a:srgbClr val="E7E6E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rgbClr val="FF0000"/>
                </a:solidFill>
                <a:ea typeface="Open Sans"/>
                <a:cs typeface="Open Sans"/>
              </a:rPr>
              <a:t>Gate 1</a:t>
            </a:r>
            <a:br>
              <a:rPr lang="en-US" sz="1100" b="1">
                <a:solidFill>
                  <a:srgbClr val="FF0000"/>
                </a:solidFill>
                <a:ea typeface="Open Sans"/>
                <a:cs typeface="Open Sans"/>
              </a:rPr>
            </a:br>
            <a:r>
              <a:rPr lang="en-US" sz="1100" i="1">
                <a:solidFill>
                  <a:srgbClr val="FF0000"/>
                </a:solidFill>
                <a:ea typeface="Open Sans"/>
                <a:cs typeface="Open Sans"/>
              </a:rPr>
              <a:t>Discovery</a:t>
            </a:r>
          </a:p>
        </p:txBody>
      </p:sp>
    </p:spTree>
    <p:extLst>
      <p:ext uri="{BB962C8B-B14F-4D97-AF65-F5344CB8AC3E}">
        <p14:creationId xmlns:p14="http://schemas.microsoft.com/office/powerpoint/2010/main" val="3236335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BF662C8E6B1B4FB44BD71793BD93DB" ma:contentTypeVersion="12" ma:contentTypeDescription="Create a new document." ma:contentTypeScope="" ma:versionID="359edbd54b91f89f7b5967e5868cf57f">
  <xsd:schema xmlns:xsd="http://www.w3.org/2001/XMLSchema" xmlns:xs="http://www.w3.org/2001/XMLSchema" xmlns:p="http://schemas.microsoft.com/office/2006/metadata/properties" xmlns:ns2="567ba4dc-eaa4-4764-9078-86fe8f265db1" xmlns:ns3="7819852d-30be-49c4-8858-6cbc4a1ff376" targetNamespace="http://schemas.microsoft.com/office/2006/metadata/properties" ma:root="true" ma:fieldsID="0ca917debac4bbcfce4d1e996a62dbea" ns2:_="" ns3:_="">
    <xsd:import namespace="567ba4dc-eaa4-4764-9078-86fe8f265db1"/>
    <xsd:import namespace="7819852d-30be-49c4-8858-6cbc4a1ff3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ba4dc-eaa4-4764-9078-86fe8f265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f1a0d83-9611-4640-8550-972b60db5c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9852d-30be-49c4-8858-6cbc4a1ff3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b2544d4-0065-4ae2-a6d8-b9fecf82731d}" ma:internalName="TaxCatchAll" ma:showField="CatchAllData" ma:web="7819852d-30be-49c4-8858-6cbc4a1ff3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19852d-30be-49c4-8858-6cbc4a1ff376" xsi:nil="true"/>
    <lcf76f155ced4ddcb4097134ff3c332f xmlns="567ba4dc-eaa4-4764-9078-86fe8f265d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AAB15E-3DCC-41CA-AA41-1C436C5A68EE}"/>
</file>

<file path=customXml/itemProps2.xml><?xml version="1.0" encoding="utf-8"?>
<ds:datastoreItem xmlns:ds="http://schemas.openxmlformats.org/officeDocument/2006/customXml" ds:itemID="{63A9A075-8E11-483F-9022-12B55C4D62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309E88-3BC3-4281-885F-DBAC8CA0F710}">
  <ds:schemaRefs>
    <ds:schemaRef ds:uri="http://schemas.microsoft.com/office/2006/metadata/properties"/>
    <ds:schemaRef ds:uri="http://www.w3.org/XML/1998/namespace"/>
    <ds:schemaRef ds:uri="567ba4dc-eaa4-4764-9078-86fe8f265db1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Open Sans</vt:lpstr>
      <vt:lpstr>Verdana</vt:lpstr>
      <vt:lpstr>ヒラギノ角ゴ ProN W3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Pappachan</dc:creator>
  <cp:lastModifiedBy>Anish Pappachan</cp:lastModifiedBy>
  <cp:revision>1</cp:revision>
  <dcterms:created xsi:type="dcterms:W3CDTF">2025-12-10T12:24:01Z</dcterms:created>
  <dcterms:modified xsi:type="dcterms:W3CDTF">2025-12-10T12:27:46Z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0x01010055BF662C8E6B1B4FB44BD71793BD93DB</vt:lpwstr>
  </property>
</Properties>
</file>