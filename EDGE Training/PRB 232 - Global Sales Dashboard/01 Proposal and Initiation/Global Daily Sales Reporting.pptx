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147483613" r:id="rId2"/>
    <p:sldId id="2147483617" r:id="rId3"/>
    <p:sldId id="2147483631" r:id="rId4"/>
    <p:sldId id="2147483644" r:id="rId5"/>
    <p:sldId id="2147483645" r:id="rId6"/>
    <p:sldId id="2147483632" r:id="rId7"/>
    <p:sldId id="2147483634" r:id="rId8"/>
    <p:sldId id="2147483635" r:id="rId9"/>
    <p:sldId id="2147483638" r:id="rId10"/>
    <p:sldId id="2147483646" r:id="rId11"/>
    <p:sldId id="21474836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9652-3541-4477-A363-FD76F688FAF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473F6-AAFC-4063-B2BB-A11ABB5E8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50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BE83-CB33-40FC-AFEF-3A39EDB162E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048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104A-77A6-EB14-544D-48758B55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C2C43-FCF8-7C08-0C2E-5C59B670C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03E8A-0BF1-36EA-DF35-0A48DD81F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10638-5C74-431B-526A-71A0E43EB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BE83-CB33-40FC-AFEF-3A39EDB162E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899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BE83-CB33-40FC-AFEF-3A39EDB162E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81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07837AC-A8F8-834F-D00B-5F5A3B22A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80" y="751441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707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342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968390-1116-4E3A-9B0A-1A7E025FC6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420" y="3048657"/>
            <a:ext cx="10926067" cy="8029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445"/>
              </a:lnSpc>
              <a:spcBef>
                <a:spcPts val="0"/>
              </a:spcBef>
              <a:buNone/>
              <a:defRPr sz="434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Presentation Title Verdana 44 Pt</a:t>
            </a:r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8DA20CE-C03A-419B-9CF7-563BB71A9D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926" y="3851562"/>
            <a:ext cx="10926561" cy="468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73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Presentation Subtitle Verdana Bold 22 Pt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A6DEE8-DCA8-4CB7-9F93-AFBDD1F583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6705" y="1121364"/>
            <a:ext cx="3697783" cy="33711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494"/>
              </a:spcBef>
              <a:buNone/>
              <a:defRPr sz="118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18 February, 2022</a:t>
            </a:r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D0FF670-C5A9-4980-B3C0-8DA623F369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7926" y="5850907"/>
            <a:ext cx="2502370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9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Doc Number: 00000000</a:t>
            </a:r>
          </a:p>
        </p:txBody>
      </p:sp>
    </p:spTree>
    <p:extLst>
      <p:ext uri="{BB962C8B-B14F-4D97-AF65-F5344CB8AC3E}">
        <p14:creationId xmlns:p14="http://schemas.microsoft.com/office/powerpoint/2010/main" val="470338138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0201B852-FE8B-E563-17E5-EFC0EA1DD8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139821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5" imgH="416" progId="TCLayout.ActiveDocument.1">
                  <p:embed/>
                </p:oleObj>
              </mc:Choice>
              <mc:Fallback>
                <p:oleObj name="think-cell Slide" r:id="rId6" imgW="415" imgH="41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01B852-FE8B-E563-17E5-EFC0EA1DD8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840140" y="6404265"/>
            <a:ext cx="2742260" cy="1828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z="790" smtClean="0">
                <a:latin typeface="Verdana" panose="020B0604030504040204" pitchFamily="34" charset="0"/>
                <a:ea typeface="Verdana" panose="020B0604030504040204" pitchFamily="34" charset="0"/>
              </a:rPr>
              <a:pPr algn="r"/>
              <a:t>‹#›</a:t>
            </a:fld>
            <a:endParaRPr lang="en-IN" sz="79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53217" y="6404265"/>
            <a:ext cx="8998042" cy="182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44" marR="0" indent="0" algn="r" defTabSz="451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0">
                <a:solidFill>
                  <a:srgbClr val="FF0000"/>
                </a:solidFill>
              </a:rPr>
              <a:t>Conﬁdential. </a:t>
            </a:r>
            <a:r>
              <a:rPr lang="en-US" sz="790" spc="-30">
                <a:solidFill>
                  <a:srgbClr val="FF0000"/>
                </a:solidFill>
              </a:rPr>
              <a:t>F</a:t>
            </a:r>
            <a:r>
              <a:rPr lang="en-US" sz="790">
                <a:solidFill>
                  <a:srgbClr val="FF0000"/>
                </a:solidFill>
              </a:rPr>
              <a:t>or Internal Circulation Only </a:t>
            </a:r>
            <a:r>
              <a:rPr lang="en-US" sz="790"/>
              <a:t>| Copyright © E</a:t>
            </a:r>
            <a:r>
              <a:rPr lang="en-US" sz="790" spc="-15"/>
              <a:t>L</a:t>
            </a:r>
            <a:r>
              <a:rPr lang="en-US" sz="790"/>
              <a:t>GI EQUIPMEN</a:t>
            </a:r>
            <a:r>
              <a:rPr lang="en-US" sz="790" spc="-10"/>
              <a:t>T</a:t>
            </a:r>
            <a:r>
              <a:rPr lang="en-US" sz="790"/>
              <a:t>S LIMITED 2025 | All Rights Reserved</a:t>
            </a:r>
          </a:p>
          <a:p>
            <a:pPr marL="12544" algn="r"/>
            <a:endParaRPr lang="en-US" sz="79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818" b="-6496"/>
          <a:stretch/>
        </p:blipFill>
        <p:spPr>
          <a:xfrm>
            <a:off x="0" y="6312345"/>
            <a:ext cx="1469608" cy="393254"/>
          </a:xfrm>
          <a:prstGeom prst="rect">
            <a:avLst/>
          </a:prstGeom>
        </p:spPr>
      </p:pic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547148" y="6312345"/>
            <a:ext cx="10058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E7579CF-9951-EA77-7256-FD1D13E51616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E25C97-403C-5BAE-F513-53B9350EA466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D14DFD-DA02-2C3E-980D-C672594500ED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30EBEC-0EAE-9C63-F22F-D5AD2DB3EEE6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739E4D-6756-60E3-20C9-EC5CB87A8C7A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912B3-DB61-A209-B6C6-07BCBCF4938C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049CB8-0001-1696-2C0A-DC241DE15417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8254E52-339F-67DA-514E-0B2ADC0B03D8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207E14-6655-AC2A-ED88-851D8FB96BC6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97C73A-AFDF-9F27-177F-11A9ABC5E559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132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E96A48-5B4B-F866-ECC0-382269F9D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80" y="928053"/>
            <a:ext cx="8170854" cy="529218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07E585-C9E5-475E-F4D1-B0DDF2909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480" y="275646"/>
            <a:ext cx="10965002" cy="365760"/>
          </a:xfrm>
        </p:spPr>
        <p:txBody>
          <a:bodyPr/>
          <a:lstStyle/>
          <a:p>
            <a:r>
              <a:rPr lang="en-US" dirty="0" err="1"/>
              <a:t>PowerBI</a:t>
            </a:r>
            <a:r>
              <a:rPr lang="en-US" dirty="0"/>
              <a:t> App Powered Finance Reporting Hub Prototype</a:t>
            </a:r>
            <a:endParaRPr lang="en-US" b="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B6687D-B7EC-2011-54A8-04E9135FEE7F}"/>
              </a:ext>
            </a:extLst>
          </p:cNvPr>
          <p:cNvSpPr/>
          <p:nvPr/>
        </p:nvSpPr>
        <p:spPr>
          <a:xfrm>
            <a:off x="3520584" y="3080035"/>
            <a:ext cx="3958927" cy="1040642"/>
          </a:xfrm>
          <a:prstGeom prst="rect">
            <a:avLst/>
          </a:prstGeom>
          <a:solidFill>
            <a:schemeClr val="tx1">
              <a:alpha val="19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Illustrative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66C02-CC4C-AA58-68B4-07088C6D1FFF}"/>
              </a:ext>
            </a:extLst>
          </p:cNvPr>
          <p:cNvSpPr/>
          <p:nvPr/>
        </p:nvSpPr>
        <p:spPr>
          <a:xfrm>
            <a:off x="3537854" y="1023257"/>
            <a:ext cx="2882965" cy="224972"/>
          </a:xfrm>
          <a:prstGeom prst="rect">
            <a:avLst/>
          </a:prstGeom>
          <a:solidFill>
            <a:srgbClr val="3B3A3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Sales &amp; Margin Reporting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1C03B4-4AA3-BC04-339C-1972750593C1}"/>
              </a:ext>
            </a:extLst>
          </p:cNvPr>
          <p:cNvSpPr/>
          <p:nvPr/>
        </p:nvSpPr>
        <p:spPr>
          <a:xfrm>
            <a:off x="2178016" y="1355449"/>
            <a:ext cx="1139749" cy="224972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rgbClr val="FFFF00"/>
                </a:solidFill>
              </a:rPr>
              <a:t>Finance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FD26A-2B24-2B76-4D48-8C1E6F19E27A}"/>
              </a:ext>
            </a:extLst>
          </p:cNvPr>
          <p:cNvSpPr/>
          <p:nvPr/>
        </p:nvSpPr>
        <p:spPr>
          <a:xfrm>
            <a:off x="611480" y="4129607"/>
            <a:ext cx="978484" cy="292267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Inventory Reporting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2152B-2507-5CFC-D895-8F88C8939634}"/>
              </a:ext>
            </a:extLst>
          </p:cNvPr>
          <p:cNvSpPr/>
          <p:nvPr/>
        </p:nvSpPr>
        <p:spPr>
          <a:xfrm>
            <a:off x="611480" y="2855063"/>
            <a:ext cx="1271911" cy="224972"/>
          </a:xfrm>
          <a:prstGeom prst="rect">
            <a:avLst/>
          </a:prstGeom>
          <a:solidFill>
            <a:srgbClr val="032D6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Sales Reporting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580553-BFD4-61DD-C45D-6CB8B4A78A62}"/>
              </a:ext>
            </a:extLst>
          </p:cNvPr>
          <p:cNvSpPr/>
          <p:nvPr/>
        </p:nvSpPr>
        <p:spPr>
          <a:xfrm>
            <a:off x="611480" y="3766781"/>
            <a:ext cx="1026251" cy="147329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Expense Reporting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A01BDE-B683-B2F2-BE03-567FBE46D349}"/>
              </a:ext>
            </a:extLst>
          </p:cNvPr>
          <p:cNvSpPr/>
          <p:nvPr/>
        </p:nvSpPr>
        <p:spPr>
          <a:xfrm>
            <a:off x="611480" y="3429000"/>
            <a:ext cx="1271911" cy="224972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Margin 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F26ECA-30D8-E2E6-079E-6C8105D96516}"/>
              </a:ext>
            </a:extLst>
          </p:cNvPr>
          <p:cNvSpPr/>
          <p:nvPr/>
        </p:nvSpPr>
        <p:spPr>
          <a:xfrm>
            <a:off x="3149282" y="1369097"/>
            <a:ext cx="1139749" cy="224972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1"/>
                </a:solidFill>
              </a:rPr>
              <a:t>S&amp;OP  team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7E9EFB-9E13-D80F-F849-854C113E4E53}"/>
              </a:ext>
            </a:extLst>
          </p:cNvPr>
          <p:cNvSpPr/>
          <p:nvPr/>
        </p:nvSpPr>
        <p:spPr>
          <a:xfrm>
            <a:off x="4045485" y="1355449"/>
            <a:ext cx="1454563" cy="238620"/>
          </a:xfrm>
          <a:prstGeom prst="rect">
            <a:avLst/>
          </a:prstGeom>
          <a:solidFill>
            <a:srgbClr val="004B8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1"/>
                </a:solidFill>
              </a:rPr>
              <a:t>Audit – Internal &amp; External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B0A3D6-DC5C-9835-A7DF-C3838A6F76F2}"/>
              </a:ext>
            </a:extLst>
          </p:cNvPr>
          <p:cNvSpPr/>
          <p:nvPr/>
        </p:nvSpPr>
        <p:spPr>
          <a:xfrm>
            <a:off x="600383" y="3173191"/>
            <a:ext cx="1271911" cy="224972"/>
          </a:xfrm>
          <a:prstGeom prst="rect">
            <a:avLst/>
          </a:prstGeom>
          <a:solidFill>
            <a:srgbClr val="032D6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Daily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70B81F-11C9-0769-FEBE-44E989455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365" y="2885886"/>
            <a:ext cx="200026" cy="20002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0D324C-176A-AAC2-85F5-DE1CACD5F954}"/>
              </a:ext>
            </a:extLst>
          </p:cNvPr>
          <p:cNvSpPr/>
          <p:nvPr/>
        </p:nvSpPr>
        <p:spPr>
          <a:xfrm>
            <a:off x="9116703" y="1467935"/>
            <a:ext cx="2954741" cy="4571199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900" b="1" u="sng" dirty="0">
                <a:solidFill>
                  <a:schemeClr val="tx1"/>
                </a:solidFill>
              </a:rPr>
              <a:t>NOTES:</a:t>
            </a:r>
            <a:r>
              <a:rPr lang="en-IN" sz="90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A Power BI App provides a secure, scalable, and governed single access point for consolidating Finance dashboards, improving usability, control, and adoption.</a:t>
            </a:r>
            <a:endParaRPr lang="en-IN" sz="1000" dirty="0">
              <a:solidFill>
                <a:schemeClr val="tx1"/>
              </a:solidFill>
            </a:endParaRPr>
          </a:p>
          <a:p>
            <a:pPr algn="ctr"/>
            <a:endParaRPr lang="en-IN" sz="10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000" b="1" dirty="0">
                <a:solidFill>
                  <a:schemeClr val="tx1"/>
                </a:solidFill>
              </a:rPr>
              <a:t>1. Single Entry Point for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One app URL provides access to all Finance dashboards.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Eliminates confusion caused by multiple report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Improves adoption and ease of use for global users.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000" b="1" dirty="0">
                <a:solidFill>
                  <a:schemeClr val="tx1"/>
                </a:solidFill>
              </a:rPr>
              <a:t>2. Clear, Structured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Logical hierarchy: </a:t>
            </a:r>
            <a:r>
              <a:rPr lang="en-US" sz="1000" b="1" dirty="0">
                <a:solidFill>
                  <a:schemeClr val="tx1"/>
                </a:solidFill>
              </a:rPr>
              <a:t>App → Reports → Pages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Users can quickly navigate between: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Global Sales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Inventory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Spend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Reduces training and support effort.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000" b="1" dirty="0">
                <a:solidFill>
                  <a:schemeClr val="tx1"/>
                </a:solidFill>
              </a:rPr>
              <a:t>3. Centralized 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Permissions managed at the </a:t>
            </a:r>
            <a:r>
              <a:rPr lang="en-US" sz="1000" b="1" dirty="0">
                <a:solidFill>
                  <a:schemeClr val="tx1"/>
                </a:solidFill>
              </a:rPr>
              <a:t>app level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Role-based access (Executives, Finance, Audit)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Region-based visibility (via RLS)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Ensures sensitive financial data is properly governed.</a:t>
            </a:r>
          </a:p>
          <a:p>
            <a:endParaRPr 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74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539704-DD1D-CD37-BD2B-EB4C375B82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Global Daily Sales Reporting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29A012-0311-28A3-D231-AF3E6F7E05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48C41B-817D-1C3E-15A7-48F793EDDD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991191D-F830-6D1B-39A9-7E8C02FDA4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67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236F0B-E854-FF4E-23D9-8C30F0D0EC56}"/>
              </a:ext>
            </a:extLst>
          </p:cNvPr>
          <p:cNvGraphicFramePr>
            <a:graphicFrameLocks noGrp="1"/>
          </p:cNvGraphicFramePr>
          <p:nvPr/>
        </p:nvGraphicFramePr>
        <p:xfrm>
          <a:off x="603038" y="1155054"/>
          <a:ext cx="2272684" cy="4951505"/>
        </p:xfrm>
        <a:graphic>
          <a:graphicData uri="http://schemas.openxmlformats.org/drawingml/2006/table">
            <a:tbl>
              <a:tblPr/>
              <a:tblGrid>
                <a:gridCol w="2272684">
                  <a:extLst>
                    <a:ext uri="{9D8B030D-6E8A-4147-A177-3AD203B41FA5}">
                      <a16:colId xmlns:a16="http://schemas.microsoft.com/office/drawing/2014/main" val="2566898035"/>
                    </a:ext>
                  </a:extLst>
                </a:gridCol>
              </a:tblGrid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company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330167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TType</a:t>
                      </a:r>
                      <a:endParaRPr lang="en-IN" sz="9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631094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Order No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77078"/>
                  </a:ext>
                </a:extLst>
              </a:tr>
              <a:tr h="13374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Order Date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1526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Po No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768443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Customer Order No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526668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Invoice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295641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Date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204161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Item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110856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Item </a:t>
                      </a:r>
                      <a:r>
                        <a:rPr lang="en-IN" sz="9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desc</a:t>
                      </a:r>
                      <a:endParaRPr lang="en-IN" sz="9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033148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Custcode</a:t>
                      </a:r>
                      <a:endParaRPr lang="en-IN" sz="9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301946"/>
                  </a:ext>
                </a:extLst>
              </a:tr>
              <a:tr h="13374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Cust Name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265608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DPST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546489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Dpstname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62388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Area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763240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Areaname</a:t>
                      </a:r>
                      <a:endParaRPr lang="en-IN" sz="9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88167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Organ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665474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Region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471571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User names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4456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Vertical1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6701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Zone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50427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Order Type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592455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sales category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82068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Fin Cust Grp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434079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Delivery Qty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153064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Emp Code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244872"/>
                  </a:ext>
                </a:extLst>
              </a:tr>
              <a:tr h="13374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Emp Name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861211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Currency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154837"/>
                  </a:ext>
                </a:extLst>
              </a:tr>
              <a:tr h="20061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Foreign currency amount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944060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Sales With Out Tax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48946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Tax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963798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Sales With Tax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079140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Taxcode</a:t>
                      </a:r>
                      <a:endParaRPr lang="en-IN" sz="9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262787"/>
                  </a:ext>
                </a:extLst>
              </a:tr>
              <a:tr h="13425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Payment </a:t>
                      </a:r>
                      <a:r>
                        <a:rPr lang="en-IN" sz="9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Desc</a:t>
                      </a:r>
                      <a:endParaRPr lang="en-IN" sz="9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687090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CRM REF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9823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3DCABC-11CA-6E93-A503-C89322F8EB6C}"/>
              </a:ext>
            </a:extLst>
          </p:cNvPr>
          <p:cNvGraphicFramePr>
            <a:graphicFrameLocks noGrp="1"/>
          </p:cNvGraphicFramePr>
          <p:nvPr/>
        </p:nvGraphicFramePr>
        <p:xfrm>
          <a:off x="2984365" y="1155054"/>
          <a:ext cx="4800600" cy="609600"/>
        </p:xfrm>
        <a:graphic>
          <a:graphicData uri="http://schemas.openxmlformats.org/drawingml/2006/table">
            <a:tbl>
              <a:tblPr/>
              <a:tblGrid>
                <a:gridCol w="2044700">
                  <a:extLst>
                    <a:ext uri="{9D8B030D-6E8A-4147-A177-3AD203B41FA5}">
                      <a16:colId xmlns:a16="http://schemas.microsoft.com/office/drawing/2014/main" val="2699920677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12032067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91756331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PG 1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PG 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PG 3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9535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Units/Accessories/Spares/Aftermarket/Service/others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Industrials/Portables/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Disops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/Medicals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DPSAC/LEPSAC/SEPSAC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6540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B11334-8A66-66C3-9386-332B3EF5FF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Key Metrics Required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9FE740-3D9E-3D64-84B5-E80AB7A0FC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CD8199-5D94-9248-1E95-64E5A86EE1C8}"/>
              </a:ext>
            </a:extLst>
          </p:cNvPr>
          <p:cNvGraphicFramePr>
            <a:graphicFrameLocks noGrp="1"/>
          </p:cNvGraphicFramePr>
          <p:nvPr/>
        </p:nvGraphicFramePr>
        <p:xfrm>
          <a:off x="9316278" y="5416964"/>
          <a:ext cx="2272684" cy="279464"/>
        </p:xfrm>
        <a:graphic>
          <a:graphicData uri="http://schemas.openxmlformats.org/drawingml/2006/table">
            <a:tbl>
              <a:tblPr/>
              <a:tblGrid>
                <a:gridCol w="2272684">
                  <a:extLst>
                    <a:ext uri="{9D8B030D-6E8A-4147-A177-3AD203B41FA5}">
                      <a16:colId xmlns:a16="http://schemas.microsoft.com/office/drawing/2014/main" val="1162639498"/>
                    </a:ext>
                  </a:extLst>
                </a:gridCol>
              </a:tblGrid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Must Have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155596"/>
                  </a:ext>
                </a:extLst>
              </a:tr>
              <a:tr h="9773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Optional </a:t>
                      </a:r>
                    </a:p>
                  </a:txBody>
                  <a:tcPr marL="2572" marR="2572" marT="25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138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F4A175-9B85-66E9-F007-713FE8DC3AD1}"/>
              </a:ext>
            </a:extLst>
          </p:cNvPr>
          <p:cNvSpPr txBox="1"/>
          <p:nvPr/>
        </p:nvSpPr>
        <p:spPr>
          <a:xfrm>
            <a:off x="2875722" y="2196345"/>
            <a:ext cx="13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 = Item Code?</a:t>
            </a:r>
          </a:p>
        </p:txBody>
      </p:sp>
    </p:spTree>
    <p:extLst>
      <p:ext uri="{BB962C8B-B14F-4D97-AF65-F5344CB8AC3E}">
        <p14:creationId xmlns:p14="http://schemas.microsoft.com/office/powerpoint/2010/main" val="218030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457F4F-09B1-D7C7-CDAC-75B428A1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D8F169-55F7-F161-F0E9-FD3F680A05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Global Daily Sales Dashboard – Target Architecture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C1799-7219-2DB0-2A19-3B7DD082004A}"/>
              </a:ext>
            </a:extLst>
          </p:cNvPr>
          <p:cNvSpPr/>
          <p:nvPr/>
        </p:nvSpPr>
        <p:spPr>
          <a:xfrm>
            <a:off x="551266" y="1246404"/>
            <a:ext cx="2261233" cy="477708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10D939-7952-ACDE-3104-E7F919D9AE15}"/>
              </a:ext>
            </a:extLst>
          </p:cNvPr>
          <p:cNvSpPr txBox="1"/>
          <p:nvPr/>
        </p:nvSpPr>
        <p:spPr>
          <a:xfrm>
            <a:off x="825030" y="978155"/>
            <a:ext cx="1504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SYSTEMS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07AB18-6415-557E-7010-C44A07F89E5C}"/>
              </a:ext>
            </a:extLst>
          </p:cNvPr>
          <p:cNvSpPr txBox="1"/>
          <p:nvPr/>
        </p:nvSpPr>
        <p:spPr>
          <a:xfrm>
            <a:off x="995789" y="4543481"/>
            <a:ext cx="792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MASTERS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CA18C9-4604-0FAA-9F60-F8811D65225D}"/>
              </a:ext>
            </a:extLst>
          </p:cNvPr>
          <p:cNvGrpSpPr/>
          <p:nvPr/>
        </p:nvGrpSpPr>
        <p:grpSpPr>
          <a:xfrm>
            <a:off x="744418" y="4829302"/>
            <a:ext cx="1546607" cy="688075"/>
            <a:chOff x="563678" y="5031572"/>
            <a:chExt cx="1546607" cy="6880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3286EB6-F61D-9FF6-B155-4D9CDA9569A2}"/>
                </a:ext>
              </a:extLst>
            </p:cNvPr>
            <p:cNvGrpSpPr/>
            <p:nvPr/>
          </p:nvGrpSpPr>
          <p:grpSpPr>
            <a:xfrm>
              <a:off x="563678" y="5031572"/>
              <a:ext cx="1487606" cy="688075"/>
              <a:chOff x="279779" y="4733499"/>
              <a:chExt cx="1487606" cy="68807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711E18C-393E-5254-DB75-B12EF1A180FC}"/>
                  </a:ext>
                </a:extLst>
              </p:cNvPr>
              <p:cNvSpPr/>
              <p:nvPr/>
            </p:nvSpPr>
            <p:spPr>
              <a:xfrm>
                <a:off x="279779" y="4733500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95BA7E4-ECF6-F53B-8857-B621E5448987}"/>
                  </a:ext>
                </a:extLst>
              </p:cNvPr>
              <p:cNvSpPr/>
              <p:nvPr/>
            </p:nvSpPr>
            <p:spPr>
              <a:xfrm>
                <a:off x="279779" y="4733499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Sharepoint</a:t>
                </a:r>
                <a:endPara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052" name="Picture 4" descr="Microsoft Sharepoint Logo transparent ...">
                <a:extLst>
                  <a:ext uri="{FF2B5EF4-FFF2-40B4-BE49-F238E27FC236}">
                    <a16:creationId xmlns:a16="http://schemas.microsoft.com/office/drawing/2014/main" id="{67B7E80D-983A-899A-B8F9-43126F5750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22" t="14570" r="27162" b="14962"/>
              <a:stretch>
                <a:fillRect/>
              </a:stretch>
            </p:blipFill>
            <p:spPr bwMode="auto">
              <a:xfrm>
                <a:off x="302327" y="5010171"/>
                <a:ext cx="331701" cy="319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0377BC-0D7F-4A44-8378-2351EE87D93E}"/>
                </a:ext>
              </a:extLst>
            </p:cNvPr>
            <p:cNvSpPr txBox="1"/>
            <p:nvPr/>
          </p:nvSpPr>
          <p:spPr>
            <a:xfrm>
              <a:off x="895060" y="5293391"/>
              <a:ext cx="6474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Forecast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A9B016-1612-9CAE-E704-FB4F5233B819}"/>
                </a:ext>
              </a:extLst>
            </p:cNvPr>
            <p:cNvSpPr txBox="1"/>
            <p:nvPr/>
          </p:nvSpPr>
          <p:spPr>
            <a:xfrm>
              <a:off x="1368188" y="5271580"/>
              <a:ext cx="74209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Manual JE 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Forex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A7CB1F-981E-73F2-AB4C-9C36CECD595D}"/>
              </a:ext>
            </a:extLst>
          </p:cNvPr>
          <p:cNvGrpSpPr/>
          <p:nvPr/>
        </p:nvGrpSpPr>
        <p:grpSpPr>
          <a:xfrm>
            <a:off x="722066" y="2537263"/>
            <a:ext cx="1487606" cy="706993"/>
            <a:chOff x="611480" y="2749266"/>
            <a:chExt cx="1487606" cy="70699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C484180-201A-BF56-9460-3037AA42040B}"/>
                </a:ext>
              </a:extLst>
            </p:cNvPr>
            <p:cNvGrpSpPr/>
            <p:nvPr/>
          </p:nvGrpSpPr>
          <p:grpSpPr>
            <a:xfrm>
              <a:off x="611480" y="2749266"/>
              <a:ext cx="1487606" cy="688075"/>
              <a:chOff x="279779" y="2566646"/>
              <a:chExt cx="1487606" cy="68807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72FB967-91E0-8786-B775-C5866314CD8F}"/>
                  </a:ext>
                </a:extLst>
              </p:cNvPr>
              <p:cNvSpPr/>
              <p:nvPr/>
            </p:nvSpPr>
            <p:spPr>
              <a:xfrm>
                <a:off x="279779" y="2566647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A3E3ABD-0128-138D-D490-753F61D0B030}"/>
                  </a:ext>
                </a:extLst>
              </p:cNvPr>
              <p:cNvSpPr/>
              <p:nvPr/>
            </p:nvSpPr>
            <p:spPr>
              <a:xfrm>
                <a:off x="279779" y="2566646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LN </a:t>
                </a:r>
                <a:r>
                  <a:rPr kumimoji="0" lang="en-IN" sz="12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</a:t>
                </a:r>
                <a:endPara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1" name="Picture 2" descr="Tarento | Infor ERP Services ...">
                <a:extLst>
                  <a:ext uri="{FF2B5EF4-FFF2-40B4-BE49-F238E27FC236}">
                    <a16:creationId xmlns:a16="http://schemas.microsoft.com/office/drawing/2014/main" id="{49C63BE0-85B7-C974-2AA1-0F2C7E4AAD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934" b="32569"/>
              <a:stretch>
                <a:fillRect/>
              </a:stretch>
            </p:blipFill>
            <p:spPr bwMode="auto">
              <a:xfrm>
                <a:off x="302131" y="2856632"/>
                <a:ext cx="436728" cy="1899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358465-A4B7-6695-1567-938E5E40255C}"/>
                </a:ext>
              </a:extLst>
            </p:cNvPr>
            <p:cNvSpPr txBox="1"/>
            <p:nvPr/>
          </p:nvSpPr>
          <p:spPr>
            <a:xfrm>
              <a:off x="1090961" y="2994594"/>
              <a:ext cx="6474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Europe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Rotair</a:t>
              </a: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BFB698-62FB-5BFA-531E-24D00ED73015}"/>
              </a:ext>
            </a:extLst>
          </p:cNvPr>
          <p:cNvGrpSpPr/>
          <p:nvPr/>
        </p:nvGrpSpPr>
        <p:grpSpPr>
          <a:xfrm>
            <a:off x="722066" y="3683378"/>
            <a:ext cx="1487606" cy="688075"/>
            <a:chOff x="611480" y="3765266"/>
            <a:chExt cx="1487606" cy="68807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2697D42-2A66-7A57-B1F8-8EC64272F9F6}"/>
                </a:ext>
              </a:extLst>
            </p:cNvPr>
            <p:cNvGrpSpPr/>
            <p:nvPr/>
          </p:nvGrpSpPr>
          <p:grpSpPr>
            <a:xfrm>
              <a:off x="611480" y="3765266"/>
              <a:ext cx="1487606" cy="688075"/>
              <a:chOff x="279779" y="3650072"/>
              <a:chExt cx="1487606" cy="68807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2AD21A-56F1-0023-459D-50213311469D}"/>
                  </a:ext>
                </a:extLst>
              </p:cNvPr>
              <p:cNvSpPr/>
              <p:nvPr/>
            </p:nvSpPr>
            <p:spPr>
              <a:xfrm>
                <a:off x="279779" y="3650073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8169AC-A5BE-31AE-0FAA-669ABAB250E7}"/>
                  </a:ext>
                </a:extLst>
              </p:cNvPr>
              <p:cNvSpPr/>
              <p:nvPr/>
            </p:nvSpPr>
            <p:spPr>
              <a:xfrm>
                <a:off x="279779" y="3650072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Navision</a:t>
                </a:r>
              </a:p>
            </p:txBody>
          </p:sp>
          <p:pic>
            <p:nvPicPr>
              <p:cNvPr id="2054" name="Picture 6" descr="Navision Software Vector Logo ...">
                <a:extLst>
                  <a:ext uri="{FF2B5EF4-FFF2-40B4-BE49-F238E27FC236}">
                    <a16:creationId xmlns:a16="http://schemas.microsoft.com/office/drawing/2014/main" id="{E657EA10-988F-39D8-565F-5D4B4C1FDA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010" b="31691"/>
              <a:stretch>
                <a:fillRect/>
              </a:stretch>
            </p:blipFill>
            <p:spPr bwMode="auto">
              <a:xfrm>
                <a:off x="377080" y="3970596"/>
                <a:ext cx="536328" cy="194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A4A5E86-9202-18EF-9E3B-2B4E3D38325E}"/>
                </a:ext>
              </a:extLst>
            </p:cNvPr>
            <p:cNvSpPr txBox="1"/>
            <p:nvPr/>
          </p:nvSpPr>
          <p:spPr>
            <a:xfrm>
              <a:off x="1218770" y="4093238"/>
              <a:ext cx="6474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Pulford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4A2C08-75D0-7473-4211-FE9E884A07AF}"/>
              </a:ext>
            </a:extLst>
          </p:cNvPr>
          <p:cNvGrpSpPr/>
          <p:nvPr/>
        </p:nvGrpSpPr>
        <p:grpSpPr>
          <a:xfrm>
            <a:off x="722066" y="1420568"/>
            <a:ext cx="1797350" cy="760843"/>
            <a:chOff x="611480" y="1733266"/>
            <a:chExt cx="1797350" cy="76084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B7D53BF-FD79-2EF1-D59E-0E5F26DB69B9}"/>
                </a:ext>
              </a:extLst>
            </p:cNvPr>
            <p:cNvGrpSpPr/>
            <p:nvPr/>
          </p:nvGrpSpPr>
          <p:grpSpPr>
            <a:xfrm>
              <a:off x="611480" y="1733266"/>
              <a:ext cx="1487606" cy="688075"/>
              <a:chOff x="279779" y="1685499"/>
              <a:chExt cx="1487606" cy="68807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32E76B-99D4-B9C0-710F-3C711924ED14}"/>
                  </a:ext>
                </a:extLst>
              </p:cNvPr>
              <p:cNvSpPr/>
              <p:nvPr/>
            </p:nvSpPr>
            <p:spPr>
              <a:xfrm>
                <a:off x="279779" y="1685500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FBA644-4304-8AC6-5F59-1FB0F0FC77E6}"/>
                  </a:ext>
                </a:extLst>
              </p:cNvPr>
              <p:cNvSpPr/>
              <p:nvPr/>
            </p:nvSpPr>
            <p:spPr>
              <a:xfrm>
                <a:off x="279779" y="1685499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LN  On Prem</a:t>
                </a:r>
              </a:p>
            </p:txBody>
          </p:sp>
          <p:pic>
            <p:nvPicPr>
              <p:cNvPr id="2050" name="Picture 2" descr="Tarento | Infor ERP Services ...">
                <a:extLst>
                  <a:ext uri="{FF2B5EF4-FFF2-40B4-BE49-F238E27FC236}">
                    <a16:creationId xmlns:a16="http://schemas.microsoft.com/office/drawing/2014/main" id="{AC993958-8600-918C-4260-C076C1218C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934" b="32569"/>
              <a:stretch>
                <a:fillRect/>
              </a:stretch>
            </p:blipFill>
            <p:spPr bwMode="auto">
              <a:xfrm>
                <a:off x="293427" y="1923725"/>
                <a:ext cx="436728" cy="1899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8A54147-097B-BA0F-541D-153C63EF47DB}"/>
                </a:ext>
              </a:extLst>
            </p:cNvPr>
            <p:cNvSpPr txBox="1"/>
            <p:nvPr/>
          </p:nvSpPr>
          <p:spPr>
            <a:xfrm>
              <a:off x="1001488" y="1909334"/>
              <a:ext cx="647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India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Australia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ATS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Brazil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1EE4666-DEB3-DF6A-04BD-14A4A9BA60C2}"/>
                </a:ext>
              </a:extLst>
            </p:cNvPr>
            <p:cNvSpPr txBox="1"/>
            <p:nvPr/>
          </p:nvSpPr>
          <p:spPr>
            <a:xfrm>
              <a:off x="1499779" y="1952849"/>
              <a:ext cx="909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Gulf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Indonesia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Malaysia</a:t>
              </a:r>
            </a:p>
          </p:txBody>
        </p:sp>
      </p:grpSp>
      <p:pic>
        <p:nvPicPr>
          <p:cNvPr id="2056" name="Picture 8" descr="Azure SQL data lineage tool">
            <a:extLst>
              <a:ext uri="{FF2B5EF4-FFF2-40B4-BE49-F238E27FC236}">
                <a16:creationId xmlns:a16="http://schemas.microsoft.com/office/drawing/2014/main" id="{0372C248-DF6D-A032-193F-C8F4A7CDA0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6" t="22776" r="18265" b="19006"/>
          <a:stretch>
            <a:fillRect/>
          </a:stretch>
        </p:blipFill>
        <p:spPr bwMode="auto">
          <a:xfrm>
            <a:off x="3687988" y="3728430"/>
            <a:ext cx="498706" cy="46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F3FF406-C731-9F08-AADD-6474AFC28BED}"/>
              </a:ext>
            </a:extLst>
          </p:cNvPr>
          <p:cNvCxnSpPr>
            <a:cxnSpLocks/>
          </p:cNvCxnSpPr>
          <p:nvPr/>
        </p:nvCxnSpPr>
        <p:spPr>
          <a:xfrm>
            <a:off x="2241103" y="1866168"/>
            <a:ext cx="1251489" cy="39658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DF242DC-123B-C161-EF87-03E8EDEEC7D3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209672" y="2359031"/>
            <a:ext cx="1274730" cy="522270"/>
          </a:xfrm>
          <a:prstGeom prst="bentConnector3">
            <a:avLst>
              <a:gd name="adj1" fmla="val 1359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9745A519-F02C-D9A4-45ED-C7507F878B51}"/>
              </a:ext>
            </a:extLst>
          </p:cNvPr>
          <p:cNvCxnSpPr>
            <a:cxnSpLocks/>
            <a:stCxn id="55" idx="0"/>
          </p:cNvCxnSpPr>
          <p:nvPr/>
        </p:nvCxnSpPr>
        <p:spPr>
          <a:xfrm rot="5400000" flipH="1" flipV="1">
            <a:off x="2462006" y="2855597"/>
            <a:ext cx="1097850" cy="983031"/>
          </a:xfrm>
          <a:prstGeom prst="bentConnector3">
            <a:avLst>
              <a:gd name="adj1" fmla="val 10159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B896AE9-A566-0288-1131-DE418F857E86}"/>
              </a:ext>
            </a:extLst>
          </p:cNvPr>
          <p:cNvCxnSpPr>
            <a:cxnSpLocks/>
            <a:stCxn id="29" idx="3"/>
            <a:endCxn id="42" idx="1"/>
          </p:cNvCxnSpPr>
          <p:nvPr/>
        </p:nvCxnSpPr>
        <p:spPr>
          <a:xfrm flipV="1">
            <a:off x="2291025" y="3652524"/>
            <a:ext cx="1201567" cy="1586063"/>
          </a:xfrm>
          <a:prstGeom prst="bentConnector3">
            <a:avLst>
              <a:gd name="adj1" fmla="val 69852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B3F5B48-E984-8BAC-4BC1-92074D59700D}"/>
              </a:ext>
            </a:extLst>
          </p:cNvPr>
          <p:cNvSpPr txBox="1"/>
          <p:nvPr/>
        </p:nvSpPr>
        <p:spPr>
          <a:xfrm>
            <a:off x="2838528" y="1702716"/>
            <a:ext cx="5677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ADF ETL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72D2DD-2D77-9B2D-D769-6D7A89AA37A9}"/>
              </a:ext>
            </a:extLst>
          </p:cNvPr>
          <p:cNvSpPr txBox="1"/>
          <p:nvPr/>
        </p:nvSpPr>
        <p:spPr>
          <a:xfrm>
            <a:off x="2785203" y="2114150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Pentaho ETL</a:t>
            </a:r>
          </a:p>
        </p:txBody>
      </p:sp>
      <p:pic>
        <p:nvPicPr>
          <p:cNvPr id="2058" name="Picture 10" descr="Upload Data with Power Query — Excel Dashboards VBA">
            <a:extLst>
              <a:ext uri="{FF2B5EF4-FFF2-40B4-BE49-F238E27FC236}">
                <a16:creationId xmlns:a16="http://schemas.microsoft.com/office/drawing/2014/main" id="{C207E253-AECE-B007-7823-71D6650F0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218" y="4307664"/>
            <a:ext cx="389079" cy="38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2" descr="Why can't I access Get Apps icon in Power BI?">
            <a:extLst>
              <a:ext uri="{FF2B5EF4-FFF2-40B4-BE49-F238E27FC236}">
                <a16:creationId xmlns:a16="http://schemas.microsoft.com/office/drawing/2014/main" id="{9E4CA890-83CE-D215-E706-98E2B44A4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91" y="3896037"/>
            <a:ext cx="374050" cy="32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DFCAC6B-3933-DD69-F7E3-C85C74B881F6}"/>
              </a:ext>
            </a:extLst>
          </p:cNvPr>
          <p:cNvCxnSpPr>
            <a:cxnSpLocks/>
            <a:stCxn id="12" idx="3"/>
            <a:endCxn id="55" idx="1"/>
          </p:cNvCxnSpPr>
          <p:nvPr/>
        </p:nvCxnSpPr>
        <p:spPr>
          <a:xfrm>
            <a:off x="2209672" y="4027416"/>
            <a:ext cx="122719" cy="3144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8" name="Picture 10" descr="Upload Data with Power Query — Excel Dashboards VBA">
            <a:extLst>
              <a:ext uri="{FF2B5EF4-FFF2-40B4-BE49-F238E27FC236}">
                <a16:creationId xmlns:a16="http://schemas.microsoft.com/office/drawing/2014/main" id="{755D34E8-69D8-5DCD-97A1-E8417B678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72" y="2643148"/>
            <a:ext cx="389079" cy="38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9" name="TextBox 15368">
            <a:extLst>
              <a:ext uri="{FF2B5EF4-FFF2-40B4-BE49-F238E27FC236}">
                <a16:creationId xmlns:a16="http://schemas.microsoft.com/office/drawing/2014/main" id="{88CFAED5-3CA3-CE66-B02C-86E4EB736555}"/>
              </a:ext>
            </a:extLst>
          </p:cNvPr>
          <p:cNvSpPr txBox="1"/>
          <p:nvPr/>
        </p:nvSpPr>
        <p:spPr>
          <a:xfrm>
            <a:off x="4411135" y="1838064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Immutable Raw Zone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Landing + Bronze</a:t>
            </a:r>
          </a:p>
        </p:txBody>
      </p:sp>
      <p:sp>
        <p:nvSpPr>
          <p:cNvPr id="15370" name="TextBox 15369">
            <a:extLst>
              <a:ext uri="{FF2B5EF4-FFF2-40B4-BE49-F238E27FC236}">
                <a16:creationId xmlns:a16="http://schemas.microsoft.com/office/drawing/2014/main" id="{A028E3DE-2614-A802-7393-6CCEB856D8D6}"/>
              </a:ext>
            </a:extLst>
          </p:cNvPr>
          <p:cNvSpPr txBox="1"/>
          <p:nvPr/>
        </p:nvSpPr>
        <p:spPr>
          <a:xfrm>
            <a:off x="9320555" y="3787147"/>
            <a:ext cx="2372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Sales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on Month View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Dump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 as part of a consolidated streamlined </a:t>
            </a:r>
            <a:r>
              <a:rPr kumimoji="0" lang="en-IN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PowerBI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app</a:t>
            </a:r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7043DC21-DD81-A055-EDE5-651C5070B64C}"/>
              </a:ext>
            </a:extLst>
          </p:cNvPr>
          <p:cNvSpPr/>
          <p:nvPr/>
        </p:nvSpPr>
        <p:spPr>
          <a:xfrm>
            <a:off x="6125892" y="1280377"/>
            <a:ext cx="2799441" cy="4744294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8" name="TextBox 15377">
            <a:extLst>
              <a:ext uri="{FF2B5EF4-FFF2-40B4-BE49-F238E27FC236}">
                <a16:creationId xmlns:a16="http://schemas.microsoft.com/office/drawing/2014/main" id="{30A2242A-A868-5055-E792-D79EC2359A2D}"/>
              </a:ext>
            </a:extLst>
          </p:cNvPr>
          <p:cNvSpPr txBox="1"/>
          <p:nvPr/>
        </p:nvSpPr>
        <p:spPr>
          <a:xfrm>
            <a:off x="6320259" y="4515163"/>
            <a:ext cx="247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PowerBI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Dataset &amp; Data Flows</a:t>
            </a:r>
          </a:p>
        </p:txBody>
      </p:sp>
      <p:sp>
        <p:nvSpPr>
          <p:cNvPr id="15379" name="Rectangle 15378">
            <a:extLst>
              <a:ext uri="{FF2B5EF4-FFF2-40B4-BE49-F238E27FC236}">
                <a16:creationId xmlns:a16="http://schemas.microsoft.com/office/drawing/2014/main" id="{0ED5C235-6B79-AB40-9FB4-F8F18B6E510B}"/>
              </a:ext>
            </a:extLst>
          </p:cNvPr>
          <p:cNvSpPr/>
          <p:nvPr/>
        </p:nvSpPr>
        <p:spPr>
          <a:xfrm>
            <a:off x="9320556" y="1280376"/>
            <a:ext cx="2372689" cy="474429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80" name="TextBox 15379">
            <a:extLst>
              <a:ext uri="{FF2B5EF4-FFF2-40B4-BE49-F238E27FC236}">
                <a16:creationId xmlns:a16="http://schemas.microsoft.com/office/drawing/2014/main" id="{C990D8E8-605C-86DF-D9FF-1263B980BC6C}"/>
              </a:ext>
            </a:extLst>
          </p:cNvPr>
          <p:cNvSpPr txBox="1"/>
          <p:nvPr/>
        </p:nvSpPr>
        <p:spPr>
          <a:xfrm>
            <a:off x="9443646" y="1795105"/>
            <a:ext cx="2042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PowerBi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Service and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FD21A-90CD-FCB2-303A-6B1EB56A6666}"/>
              </a:ext>
            </a:extLst>
          </p:cNvPr>
          <p:cNvSpPr txBox="1"/>
          <p:nvPr/>
        </p:nvSpPr>
        <p:spPr>
          <a:xfrm>
            <a:off x="3551409" y="1010739"/>
            <a:ext cx="2304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INGESTION &amp; STAGING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5BFC2A-80FA-CC56-C85A-6002DBE1C5A9}"/>
              </a:ext>
            </a:extLst>
          </p:cNvPr>
          <p:cNvSpPr txBox="1"/>
          <p:nvPr/>
        </p:nvSpPr>
        <p:spPr>
          <a:xfrm>
            <a:off x="744418" y="5667474"/>
            <a:ext cx="1445450" cy="2308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RLS / DL Master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3DDCB7-3D99-F21A-14E3-A931BCD13E9B}"/>
              </a:ext>
            </a:extLst>
          </p:cNvPr>
          <p:cNvSpPr/>
          <p:nvPr/>
        </p:nvSpPr>
        <p:spPr>
          <a:xfrm>
            <a:off x="3492592" y="1280376"/>
            <a:ext cx="2375118" cy="474429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82" name="TextBox 15381">
            <a:extLst>
              <a:ext uri="{FF2B5EF4-FFF2-40B4-BE49-F238E27FC236}">
                <a16:creationId xmlns:a16="http://schemas.microsoft.com/office/drawing/2014/main" id="{2B1D0823-E918-6655-43D2-D3D16AF5DDD9}"/>
              </a:ext>
            </a:extLst>
          </p:cNvPr>
          <p:cNvSpPr txBox="1"/>
          <p:nvPr/>
        </p:nvSpPr>
        <p:spPr>
          <a:xfrm>
            <a:off x="6044153" y="1022536"/>
            <a:ext cx="3078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WAREHOUSE &amp; SEMANTIC LAYER</a:t>
            </a:r>
          </a:p>
        </p:txBody>
      </p:sp>
      <p:sp>
        <p:nvSpPr>
          <p:cNvPr id="15383" name="TextBox 15382">
            <a:extLst>
              <a:ext uri="{FF2B5EF4-FFF2-40B4-BE49-F238E27FC236}">
                <a16:creationId xmlns:a16="http://schemas.microsoft.com/office/drawing/2014/main" id="{637F9955-A483-A802-2887-876622A65B32}"/>
              </a:ext>
            </a:extLst>
          </p:cNvPr>
          <p:cNvSpPr txBox="1"/>
          <p:nvPr/>
        </p:nvSpPr>
        <p:spPr>
          <a:xfrm>
            <a:off x="9160394" y="1010739"/>
            <a:ext cx="2697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VISUALIZATION &amp; CONSUMPTION</a:t>
            </a:r>
          </a:p>
        </p:txBody>
      </p:sp>
      <p:sp>
        <p:nvSpPr>
          <p:cNvPr id="15392" name="TextBox 15391">
            <a:extLst>
              <a:ext uri="{FF2B5EF4-FFF2-40B4-BE49-F238E27FC236}">
                <a16:creationId xmlns:a16="http://schemas.microsoft.com/office/drawing/2014/main" id="{DDAFC7CC-30F3-7923-41A9-4F5AF8C6F28D}"/>
              </a:ext>
            </a:extLst>
          </p:cNvPr>
          <p:cNvSpPr txBox="1"/>
          <p:nvPr/>
        </p:nvSpPr>
        <p:spPr>
          <a:xfrm>
            <a:off x="4162670" y="3611487"/>
            <a:ext cx="163378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Stored Procedures / Views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Harmonize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Match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 &amp; Logging</a:t>
            </a:r>
          </a:p>
        </p:txBody>
      </p:sp>
      <p:pic>
        <p:nvPicPr>
          <p:cNvPr id="15393" name="Picture 12" descr="Why can't I access Get Apps icon in Power BI?">
            <a:extLst>
              <a:ext uri="{FF2B5EF4-FFF2-40B4-BE49-F238E27FC236}">
                <a16:creationId xmlns:a16="http://schemas.microsoft.com/office/drawing/2014/main" id="{89BA02AB-9C94-9B5D-05FA-F03B2C782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169" y="4923593"/>
            <a:ext cx="581604" cy="5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94" name="TextBox 15393">
            <a:extLst>
              <a:ext uri="{FF2B5EF4-FFF2-40B4-BE49-F238E27FC236}">
                <a16:creationId xmlns:a16="http://schemas.microsoft.com/office/drawing/2014/main" id="{DF455E7B-8DB7-A99A-22E8-D32736EB4E7D}"/>
              </a:ext>
            </a:extLst>
          </p:cNvPr>
          <p:cNvSpPr txBox="1"/>
          <p:nvPr/>
        </p:nvSpPr>
        <p:spPr>
          <a:xfrm>
            <a:off x="7000777" y="4864196"/>
            <a:ext cx="178766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Centralized Business Logic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 DAX, Aggregation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Forex Conversion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 schema, conformed dims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Row Level Security (RLS)</a:t>
            </a:r>
          </a:p>
        </p:txBody>
      </p:sp>
      <p:sp>
        <p:nvSpPr>
          <p:cNvPr id="15402" name="Arrow: Left-Right 15401">
            <a:extLst>
              <a:ext uri="{FF2B5EF4-FFF2-40B4-BE49-F238E27FC236}">
                <a16:creationId xmlns:a16="http://schemas.microsoft.com/office/drawing/2014/main" id="{A5AEAB36-069E-CA5C-1373-14EE77871AA8}"/>
              </a:ext>
            </a:extLst>
          </p:cNvPr>
          <p:cNvSpPr/>
          <p:nvPr/>
        </p:nvSpPr>
        <p:spPr>
          <a:xfrm>
            <a:off x="8682804" y="1556253"/>
            <a:ext cx="880281" cy="365760"/>
          </a:xfrm>
          <a:prstGeom prst="leftRightArrow">
            <a:avLst/>
          </a:prstGeom>
          <a:solidFill>
            <a:srgbClr val="004B8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409" name="Group 15408">
            <a:extLst>
              <a:ext uri="{FF2B5EF4-FFF2-40B4-BE49-F238E27FC236}">
                <a16:creationId xmlns:a16="http://schemas.microsoft.com/office/drawing/2014/main" id="{E55E0BE7-DFFC-7A08-7A82-6106BAAF6C89}"/>
              </a:ext>
            </a:extLst>
          </p:cNvPr>
          <p:cNvGrpSpPr/>
          <p:nvPr/>
        </p:nvGrpSpPr>
        <p:grpSpPr>
          <a:xfrm>
            <a:off x="9411833" y="2188274"/>
            <a:ext cx="1833677" cy="1833677"/>
            <a:chOff x="9530996" y="4119917"/>
            <a:chExt cx="1833677" cy="1833677"/>
          </a:xfrm>
        </p:grpSpPr>
        <p:pic>
          <p:nvPicPr>
            <p:cNvPr id="15404" name="Picture 15403">
              <a:extLst>
                <a:ext uri="{FF2B5EF4-FFF2-40B4-BE49-F238E27FC236}">
                  <a16:creationId xmlns:a16="http://schemas.microsoft.com/office/drawing/2014/main" id="{371A7A4A-56DE-F689-BAA9-7BF326AC1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57725" y="4598479"/>
              <a:ext cx="1114037" cy="685074"/>
            </a:xfrm>
            <a:prstGeom prst="rect">
              <a:avLst/>
            </a:prstGeom>
          </p:spPr>
        </p:pic>
        <p:pic>
          <p:nvPicPr>
            <p:cNvPr id="15408" name="Graphic 15407" descr="Laptop with solid fill">
              <a:extLst>
                <a:ext uri="{FF2B5EF4-FFF2-40B4-BE49-F238E27FC236}">
                  <a16:creationId xmlns:a16="http://schemas.microsoft.com/office/drawing/2014/main" id="{64CBF12C-5EBA-88C9-543E-553285470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530996" y="4119917"/>
              <a:ext cx="1833677" cy="1833677"/>
            </a:xfrm>
            <a:prstGeom prst="rect">
              <a:avLst/>
            </a:prstGeom>
          </p:spPr>
        </p:pic>
      </p:grpSp>
      <p:pic>
        <p:nvPicPr>
          <p:cNvPr id="2060" name="Picture 12" descr="Why can't I access Get Apps icon in Power BI?">
            <a:extLst>
              <a:ext uri="{FF2B5EF4-FFF2-40B4-BE49-F238E27FC236}">
                <a16:creationId xmlns:a16="http://schemas.microsoft.com/office/drawing/2014/main" id="{0CC76998-2FCB-2782-8BF5-F700FEA01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178" y="2852937"/>
            <a:ext cx="419465" cy="36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411" name="Connector: Elbow 15410">
            <a:extLst>
              <a:ext uri="{FF2B5EF4-FFF2-40B4-BE49-F238E27FC236}">
                <a16:creationId xmlns:a16="http://schemas.microsoft.com/office/drawing/2014/main" id="{26A7DF1B-A9D1-1055-D247-84DE1D3BF8FC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2189868" y="5049478"/>
            <a:ext cx="4021744" cy="733412"/>
          </a:xfrm>
          <a:prstGeom prst="bentConnector3">
            <a:avLst>
              <a:gd name="adj1" fmla="val 94794"/>
            </a:avLst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15" name="TextBox 15414">
            <a:extLst>
              <a:ext uri="{FF2B5EF4-FFF2-40B4-BE49-F238E27FC236}">
                <a16:creationId xmlns:a16="http://schemas.microsoft.com/office/drawing/2014/main" id="{F68CEC30-DF56-CF8C-11BF-91F16109160C}"/>
              </a:ext>
            </a:extLst>
          </p:cNvPr>
          <p:cNvSpPr txBox="1"/>
          <p:nvPr/>
        </p:nvSpPr>
        <p:spPr>
          <a:xfrm>
            <a:off x="6756526" y="1758942"/>
            <a:ext cx="1655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Curated Warehouse</a:t>
            </a:r>
          </a:p>
        </p:txBody>
      </p:sp>
      <p:pic>
        <p:nvPicPr>
          <p:cNvPr id="15416" name="Picture 8" descr="Azure SQL data lineage tool">
            <a:extLst>
              <a:ext uri="{FF2B5EF4-FFF2-40B4-BE49-F238E27FC236}">
                <a16:creationId xmlns:a16="http://schemas.microsoft.com/office/drawing/2014/main" id="{823F5DBD-52B3-98C1-4B39-690FF7B7B9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6" t="22776" r="18265" b="19006"/>
          <a:stretch>
            <a:fillRect/>
          </a:stretch>
        </p:blipFill>
        <p:spPr bwMode="auto">
          <a:xfrm>
            <a:off x="6256375" y="1984572"/>
            <a:ext cx="498706" cy="46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17" name="TextBox 15416">
            <a:extLst>
              <a:ext uri="{FF2B5EF4-FFF2-40B4-BE49-F238E27FC236}">
                <a16:creationId xmlns:a16="http://schemas.microsoft.com/office/drawing/2014/main" id="{E2557C6C-D67A-D7D2-D60B-16DF3D2C7B50}"/>
              </a:ext>
            </a:extLst>
          </p:cNvPr>
          <p:cNvSpPr txBox="1"/>
          <p:nvPr/>
        </p:nvSpPr>
        <p:spPr>
          <a:xfrm>
            <a:off x="6756526" y="2144848"/>
            <a:ext cx="16466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Slowly chaining dims (SCD)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 Tables (Calendar)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Reconciliation</a:t>
            </a:r>
          </a:p>
        </p:txBody>
      </p:sp>
      <p:sp>
        <p:nvSpPr>
          <p:cNvPr id="15418" name="Arrow: Down 15417">
            <a:extLst>
              <a:ext uri="{FF2B5EF4-FFF2-40B4-BE49-F238E27FC236}">
                <a16:creationId xmlns:a16="http://schemas.microsoft.com/office/drawing/2014/main" id="{8FF5C14F-5B63-94FF-97F4-31EB5723C0D6}"/>
              </a:ext>
            </a:extLst>
          </p:cNvPr>
          <p:cNvSpPr/>
          <p:nvPr/>
        </p:nvSpPr>
        <p:spPr>
          <a:xfrm>
            <a:off x="7342496" y="3009373"/>
            <a:ext cx="390019" cy="1307768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19" name="TextBox 15418">
            <a:extLst>
              <a:ext uri="{FF2B5EF4-FFF2-40B4-BE49-F238E27FC236}">
                <a16:creationId xmlns:a16="http://schemas.microsoft.com/office/drawing/2014/main" id="{F7F84ED8-2E1B-56DA-11F8-79B502FAC0DC}"/>
              </a:ext>
            </a:extLst>
          </p:cNvPr>
          <p:cNvSpPr txBox="1"/>
          <p:nvPr/>
        </p:nvSpPr>
        <p:spPr>
          <a:xfrm>
            <a:off x="3780963" y="4798204"/>
            <a:ext cx="1985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Metadata Store (</a:t>
            </a:r>
            <a:r>
              <a:rPr kumimoji="0" lang="en-IN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5422" name="TextBox 15421">
            <a:extLst>
              <a:ext uri="{FF2B5EF4-FFF2-40B4-BE49-F238E27FC236}">
                <a16:creationId xmlns:a16="http://schemas.microsoft.com/office/drawing/2014/main" id="{3DD2B7D3-06A5-BA7A-A1A0-95D383A392D4}"/>
              </a:ext>
            </a:extLst>
          </p:cNvPr>
          <p:cNvSpPr txBox="1"/>
          <p:nvPr/>
        </p:nvSpPr>
        <p:spPr>
          <a:xfrm>
            <a:off x="4324573" y="5095557"/>
            <a:ext cx="147187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dictionaries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Lineage + Quality Rules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Config</a:t>
            </a:r>
          </a:p>
        </p:txBody>
      </p:sp>
      <p:sp>
        <p:nvSpPr>
          <p:cNvPr id="15423" name="Arrow: Down 15422">
            <a:extLst>
              <a:ext uri="{FF2B5EF4-FFF2-40B4-BE49-F238E27FC236}">
                <a16:creationId xmlns:a16="http://schemas.microsoft.com/office/drawing/2014/main" id="{6E5623AF-CAFC-1DA3-1F8B-70942D8179BE}"/>
              </a:ext>
            </a:extLst>
          </p:cNvPr>
          <p:cNvSpPr/>
          <p:nvPr/>
        </p:nvSpPr>
        <p:spPr>
          <a:xfrm>
            <a:off x="4472913" y="2677648"/>
            <a:ext cx="392514" cy="653884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D2752DD8-7EC5-DA7B-D699-7A8EFA33E276}"/>
              </a:ext>
            </a:extLst>
          </p:cNvPr>
          <p:cNvSpPr txBox="1"/>
          <p:nvPr/>
        </p:nvSpPr>
        <p:spPr>
          <a:xfrm>
            <a:off x="4304390" y="3353881"/>
            <a:ext cx="729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Staging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A5E1277D-0B48-15FC-816D-4CED5B5EC7A8}"/>
              </a:ext>
            </a:extLst>
          </p:cNvPr>
          <p:cNvSpPr txBox="1"/>
          <p:nvPr/>
        </p:nvSpPr>
        <p:spPr>
          <a:xfrm>
            <a:off x="4312807" y="1406317"/>
            <a:ext cx="747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Storage</a:t>
            </a:r>
          </a:p>
        </p:txBody>
      </p:sp>
      <p:pic>
        <p:nvPicPr>
          <p:cNvPr id="3074" name="Picture 2" descr="Connecting and Reading Data From Azure Data Lake - Analytics ...">
            <a:extLst>
              <a:ext uri="{FF2B5EF4-FFF2-40B4-BE49-F238E27FC236}">
                <a16:creationId xmlns:a16="http://schemas.microsoft.com/office/drawing/2014/main" id="{0B4DEF5A-533B-52BD-520E-E1100C687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196" y="1653927"/>
            <a:ext cx="1005072" cy="56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reate Azure Data Factory Pipeline ...">
            <a:extLst>
              <a:ext uri="{FF2B5EF4-FFF2-40B4-BE49-F238E27FC236}">
                <a16:creationId xmlns:a16="http://schemas.microsoft.com/office/drawing/2014/main" id="{D1DBB23A-145D-09E4-E0E7-5EDEB8938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8" r="19358"/>
          <a:stretch>
            <a:fillRect/>
          </a:stretch>
        </p:blipFill>
        <p:spPr bwMode="auto">
          <a:xfrm>
            <a:off x="3722310" y="5112471"/>
            <a:ext cx="473172" cy="3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4" name="Group 2083">
            <a:extLst>
              <a:ext uri="{FF2B5EF4-FFF2-40B4-BE49-F238E27FC236}">
                <a16:creationId xmlns:a16="http://schemas.microsoft.com/office/drawing/2014/main" id="{0643BFBD-759A-E93F-593E-86A960EE9710}"/>
              </a:ext>
            </a:extLst>
          </p:cNvPr>
          <p:cNvGrpSpPr/>
          <p:nvPr/>
        </p:nvGrpSpPr>
        <p:grpSpPr>
          <a:xfrm>
            <a:off x="1088427" y="6051639"/>
            <a:ext cx="1043876" cy="215444"/>
            <a:chOff x="8735369" y="6023128"/>
            <a:chExt cx="1043876" cy="215444"/>
          </a:xfrm>
        </p:grpSpPr>
        <p:sp>
          <p:nvSpPr>
            <p:cNvPr id="2082" name="TextBox 2081">
              <a:extLst>
                <a:ext uri="{FF2B5EF4-FFF2-40B4-BE49-F238E27FC236}">
                  <a16:creationId xmlns:a16="http://schemas.microsoft.com/office/drawing/2014/main" id="{49F28F76-93E3-C19F-B0D9-E4A91029E48F}"/>
                </a:ext>
              </a:extLst>
            </p:cNvPr>
            <p:cNvSpPr txBox="1"/>
            <p:nvPr/>
          </p:nvSpPr>
          <p:spPr>
            <a:xfrm>
              <a:off x="8735369" y="6023128"/>
              <a:ext cx="10438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Partially Automated</a:t>
              </a:r>
            </a:p>
          </p:txBody>
        </p:sp>
        <p:cxnSp>
          <p:nvCxnSpPr>
            <p:cNvPr id="2080" name="Straight Arrow Connector 2079">
              <a:extLst>
                <a:ext uri="{FF2B5EF4-FFF2-40B4-BE49-F238E27FC236}">
                  <a16:creationId xmlns:a16="http://schemas.microsoft.com/office/drawing/2014/main" id="{419F5ED6-06AB-C005-4BDC-F642B42733EE}"/>
                </a:ext>
              </a:extLst>
            </p:cNvPr>
            <p:cNvCxnSpPr>
              <a:cxnSpLocks/>
            </p:cNvCxnSpPr>
            <p:nvPr/>
          </p:nvCxnSpPr>
          <p:spPr>
            <a:xfrm>
              <a:off x="8850573" y="6196084"/>
              <a:ext cx="791570" cy="0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A8E5BBD4-67B1-6A3E-2687-68642C49CAAF}"/>
              </a:ext>
            </a:extLst>
          </p:cNvPr>
          <p:cNvGrpSpPr/>
          <p:nvPr/>
        </p:nvGrpSpPr>
        <p:grpSpPr>
          <a:xfrm>
            <a:off x="2124382" y="6058430"/>
            <a:ext cx="889987" cy="215444"/>
            <a:chOff x="9764304" y="6095153"/>
            <a:chExt cx="889987" cy="215444"/>
          </a:xfrm>
        </p:grpSpPr>
        <p:cxnSp>
          <p:nvCxnSpPr>
            <p:cNvPr id="2081" name="Straight Arrow Connector 2080">
              <a:extLst>
                <a:ext uri="{FF2B5EF4-FFF2-40B4-BE49-F238E27FC236}">
                  <a16:creationId xmlns:a16="http://schemas.microsoft.com/office/drawing/2014/main" id="{50C7B644-F5BA-2588-4DA8-CA32A00AB0FE}"/>
                </a:ext>
              </a:extLst>
            </p:cNvPr>
            <p:cNvCxnSpPr>
              <a:cxnSpLocks/>
            </p:cNvCxnSpPr>
            <p:nvPr/>
          </p:nvCxnSpPr>
          <p:spPr>
            <a:xfrm>
              <a:off x="9840036" y="6261318"/>
              <a:ext cx="809357" cy="0"/>
            </a:xfrm>
            <a:prstGeom prst="straightConnector1">
              <a:avLst/>
            </a:prstGeom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59EEE8BE-C153-8EBE-CA87-D239FAFB845B}"/>
                </a:ext>
              </a:extLst>
            </p:cNvPr>
            <p:cNvSpPr txBox="1"/>
            <p:nvPr/>
          </p:nvSpPr>
          <p:spPr>
            <a:xfrm>
              <a:off x="9764304" y="6095153"/>
              <a:ext cx="8899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Automated</a:t>
              </a:r>
            </a:p>
          </p:txBody>
        </p:sp>
      </p:grpSp>
      <p:sp>
        <p:nvSpPr>
          <p:cNvPr id="2088" name="TextBox 2087">
            <a:extLst>
              <a:ext uri="{FF2B5EF4-FFF2-40B4-BE49-F238E27FC236}">
                <a16:creationId xmlns:a16="http://schemas.microsoft.com/office/drawing/2014/main" id="{8B6433F4-F5DB-3111-FB83-0DFB99726CD8}"/>
              </a:ext>
            </a:extLst>
          </p:cNvPr>
          <p:cNvSpPr txBox="1"/>
          <p:nvPr/>
        </p:nvSpPr>
        <p:spPr>
          <a:xfrm>
            <a:off x="1224211" y="5341783"/>
            <a:ext cx="1042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1" i="1" u="none" strike="noStrike" kern="120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Owners : Finance</a:t>
            </a:r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08C6198F-26F5-9AB4-00F6-F0A31B3E6E4E}"/>
              </a:ext>
            </a:extLst>
          </p:cNvPr>
          <p:cNvSpPr txBox="1"/>
          <p:nvPr/>
        </p:nvSpPr>
        <p:spPr>
          <a:xfrm>
            <a:off x="10141937" y="3634688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Refresh : Daily 9am IST</a:t>
            </a:r>
          </a:p>
        </p:txBody>
      </p:sp>
    </p:spTree>
    <p:extLst>
      <p:ext uri="{BB962C8B-B14F-4D97-AF65-F5344CB8AC3E}">
        <p14:creationId xmlns:p14="http://schemas.microsoft.com/office/powerpoint/2010/main" val="220741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6495F-D529-7FC2-2455-466DC108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27E161-5060-4C66-8613-CF62B2D24B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Global Daily Sales Dashboard Architecture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C6ED0A-BE1F-3312-8ECE-099099FE7212}"/>
              </a:ext>
            </a:extLst>
          </p:cNvPr>
          <p:cNvSpPr/>
          <p:nvPr/>
        </p:nvSpPr>
        <p:spPr>
          <a:xfrm>
            <a:off x="551266" y="1246404"/>
            <a:ext cx="2261233" cy="477708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96FC6B-B51C-622D-152D-3ECE43694FC5}"/>
              </a:ext>
            </a:extLst>
          </p:cNvPr>
          <p:cNvSpPr txBox="1"/>
          <p:nvPr/>
        </p:nvSpPr>
        <p:spPr>
          <a:xfrm>
            <a:off x="825030" y="978155"/>
            <a:ext cx="1504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SYSTEMS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6F6E5-F69E-368F-8FB7-78C20F53D693}"/>
              </a:ext>
            </a:extLst>
          </p:cNvPr>
          <p:cNvSpPr txBox="1"/>
          <p:nvPr/>
        </p:nvSpPr>
        <p:spPr>
          <a:xfrm>
            <a:off x="995789" y="4543481"/>
            <a:ext cx="792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MASTERS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E7D0A94-558C-DC60-7374-F72FEC1B27EB}"/>
              </a:ext>
            </a:extLst>
          </p:cNvPr>
          <p:cNvGrpSpPr/>
          <p:nvPr/>
        </p:nvGrpSpPr>
        <p:grpSpPr>
          <a:xfrm>
            <a:off x="744418" y="4829302"/>
            <a:ext cx="1546607" cy="688075"/>
            <a:chOff x="563678" y="5031572"/>
            <a:chExt cx="1546607" cy="6880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D58D5A-08E3-7EC8-C3A6-F6D43657C313}"/>
                </a:ext>
              </a:extLst>
            </p:cNvPr>
            <p:cNvGrpSpPr/>
            <p:nvPr/>
          </p:nvGrpSpPr>
          <p:grpSpPr>
            <a:xfrm>
              <a:off x="563678" y="5031572"/>
              <a:ext cx="1487606" cy="688075"/>
              <a:chOff x="279779" y="4733499"/>
              <a:chExt cx="1487606" cy="68807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CBF10B3-5EF7-DDD4-0A37-4CA060315590}"/>
                  </a:ext>
                </a:extLst>
              </p:cNvPr>
              <p:cNvSpPr/>
              <p:nvPr/>
            </p:nvSpPr>
            <p:spPr>
              <a:xfrm>
                <a:off x="279779" y="4733500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576858D-52C3-715B-3331-A6AEC1A39EFE}"/>
                  </a:ext>
                </a:extLst>
              </p:cNvPr>
              <p:cNvSpPr/>
              <p:nvPr/>
            </p:nvSpPr>
            <p:spPr>
              <a:xfrm>
                <a:off x="279779" y="4733499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Sharepoint</a:t>
                </a:r>
                <a:endPara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052" name="Picture 4" descr="Microsoft Sharepoint Logo transparent ...">
                <a:extLst>
                  <a:ext uri="{FF2B5EF4-FFF2-40B4-BE49-F238E27FC236}">
                    <a16:creationId xmlns:a16="http://schemas.microsoft.com/office/drawing/2014/main" id="{1B91AC3D-122D-ADF6-1739-09138631E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122" t="14570" r="27162" b="14962"/>
              <a:stretch>
                <a:fillRect/>
              </a:stretch>
            </p:blipFill>
            <p:spPr bwMode="auto">
              <a:xfrm>
                <a:off x="302327" y="5010171"/>
                <a:ext cx="331701" cy="319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833E92-6D3E-F6C5-896E-E2B4A7FC9A2E}"/>
                </a:ext>
              </a:extLst>
            </p:cNvPr>
            <p:cNvSpPr txBox="1"/>
            <p:nvPr/>
          </p:nvSpPr>
          <p:spPr>
            <a:xfrm>
              <a:off x="895060" y="5293391"/>
              <a:ext cx="6474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Forecast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5476CA-15DF-FEDC-FFC6-1634D4D067E5}"/>
                </a:ext>
              </a:extLst>
            </p:cNvPr>
            <p:cNvSpPr txBox="1"/>
            <p:nvPr/>
          </p:nvSpPr>
          <p:spPr>
            <a:xfrm>
              <a:off x="1368188" y="5271580"/>
              <a:ext cx="74209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Manual JE 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Forex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D54058-801F-07F3-D661-F55A3A7CDD8A}"/>
              </a:ext>
            </a:extLst>
          </p:cNvPr>
          <p:cNvGrpSpPr/>
          <p:nvPr/>
        </p:nvGrpSpPr>
        <p:grpSpPr>
          <a:xfrm>
            <a:off x="722066" y="2537263"/>
            <a:ext cx="1487606" cy="706993"/>
            <a:chOff x="611480" y="2749266"/>
            <a:chExt cx="1487606" cy="70699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E590B9-FEA5-30FB-DB22-4813A37F38AC}"/>
                </a:ext>
              </a:extLst>
            </p:cNvPr>
            <p:cNvGrpSpPr/>
            <p:nvPr/>
          </p:nvGrpSpPr>
          <p:grpSpPr>
            <a:xfrm>
              <a:off x="611480" y="2749266"/>
              <a:ext cx="1487606" cy="688075"/>
              <a:chOff x="279779" y="2566646"/>
              <a:chExt cx="1487606" cy="68807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6B2EE21-E3D8-D1F6-3F9F-49389CD84AF5}"/>
                  </a:ext>
                </a:extLst>
              </p:cNvPr>
              <p:cNvSpPr/>
              <p:nvPr/>
            </p:nvSpPr>
            <p:spPr>
              <a:xfrm>
                <a:off x="279779" y="2566647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5DBD52C-314F-CA5D-8515-5146D327CD65}"/>
                  </a:ext>
                </a:extLst>
              </p:cNvPr>
              <p:cNvSpPr/>
              <p:nvPr/>
            </p:nvSpPr>
            <p:spPr>
              <a:xfrm>
                <a:off x="279779" y="2566646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LN </a:t>
                </a:r>
                <a:r>
                  <a:rPr kumimoji="0" lang="en-IN" sz="12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</a:t>
                </a:r>
                <a:endPara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1" name="Picture 2" descr="Tarento | Infor ERP Services ...">
                <a:extLst>
                  <a:ext uri="{FF2B5EF4-FFF2-40B4-BE49-F238E27FC236}">
                    <a16:creationId xmlns:a16="http://schemas.microsoft.com/office/drawing/2014/main" id="{10CC2A91-498A-65A7-426A-91ECEEA197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934" b="32569"/>
              <a:stretch>
                <a:fillRect/>
              </a:stretch>
            </p:blipFill>
            <p:spPr bwMode="auto">
              <a:xfrm>
                <a:off x="302131" y="2856632"/>
                <a:ext cx="436728" cy="1899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B9FEE06-ED65-1BC3-8D45-3D6325392139}"/>
                </a:ext>
              </a:extLst>
            </p:cNvPr>
            <p:cNvSpPr txBox="1"/>
            <p:nvPr/>
          </p:nvSpPr>
          <p:spPr>
            <a:xfrm>
              <a:off x="1090961" y="2994594"/>
              <a:ext cx="6474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Europe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Rotair</a:t>
              </a: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315D46B-0BF4-9FBB-E93C-86AFE4A21DBC}"/>
              </a:ext>
            </a:extLst>
          </p:cNvPr>
          <p:cNvGrpSpPr/>
          <p:nvPr/>
        </p:nvGrpSpPr>
        <p:grpSpPr>
          <a:xfrm>
            <a:off x="722066" y="3683378"/>
            <a:ext cx="1487606" cy="688075"/>
            <a:chOff x="611480" y="3765266"/>
            <a:chExt cx="1487606" cy="68807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28BA22-1559-F72B-004D-6A7F824B0105}"/>
                </a:ext>
              </a:extLst>
            </p:cNvPr>
            <p:cNvGrpSpPr/>
            <p:nvPr/>
          </p:nvGrpSpPr>
          <p:grpSpPr>
            <a:xfrm>
              <a:off x="611480" y="3765266"/>
              <a:ext cx="1487606" cy="688075"/>
              <a:chOff x="279779" y="3650072"/>
              <a:chExt cx="1487606" cy="68807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FF73B20-9383-CA3C-A047-8E246ED4D895}"/>
                  </a:ext>
                </a:extLst>
              </p:cNvPr>
              <p:cNvSpPr/>
              <p:nvPr/>
            </p:nvSpPr>
            <p:spPr>
              <a:xfrm>
                <a:off x="279779" y="3650073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DEBE3C0-F5AB-049D-AA6A-7A534D1C40A7}"/>
                  </a:ext>
                </a:extLst>
              </p:cNvPr>
              <p:cNvSpPr/>
              <p:nvPr/>
            </p:nvSpPr>
            <p:spPr>
              <a:xfrm>
                <a:off x="279779" y="3650072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Navision</a:t>
                </a:r>
              </a:p>
            </p:txBody>
          </p:sp>
          <p:pic>
            <p:nvPicPr>
              <p:cNvPr id="2054" name="Picture 6" descr="Navision Software Vector Logo ...">
                <a:extLst>
                  <a:ext uri="{FF2B5EF4-FFF2-40B4-BE49-F238E27FC236}">
                    <a16:creationId xmlns:a16="http://schemas.microsoft.com/office/drawing/2014/main" id="{6576E3E1-02A5-7B4E-A2BB-8E9645B0F8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010" b="31691"/>
              <a:stretch>
                <a:fillRect/>
              </a:stretch>
            </p:blipFill>
            <p:spPr bwMode="auto">
              <a:xfrm>
                <a:off x="377080" y="3970596"/>
                <a:ext cx="536328" cy="194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0A566BD-AE6A-DCE5-CC3C-84331024B4E0}"/>
                </a:ext>
              </a:extLst>
            </p:cNvPr>
            <p:cNvSpPr txBox="1"/>
            <p:nvPr/>
          </p:nvSpPr>
          <p:spPr>
            <a:xfrm>
              <a:off x="1218770" y="4093238"/>
              <a:ext cx="6474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Pulford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B24FB5-2560-ACAC-5C43-DB131DDF6B83}"/>
              </a:ext>
            </a:extLst>
          </p:cNvPr>
          <p:cNvGrpSpPr/>
          <p:nvPr/>
        </p:nvGrpSpPr>
        <p:grpSpPr>
          <a:xfrm>
            <a:off x="722066" y="1420568"/>
            <a:ext cx="1797350" cy="760843"/>
            <a:chOff x="611480" y="1733266"/>
            <a:chExt cx="1797350" cy="76084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7F9828A-BBAE-9597-F7D0-4A8CBF21582F}"/>
                </a:ext>
              </a:extLst>
            </p:cNvPr>
            <p:cNvGrpSpPr/>
            <p:nvPr/>
          </p:nvGrpSpPr>
          <p:grpSpPr>
            <a:xfrm>
              <a:off x="611480" y="1733266"/>
              <a:ext cx="1487606" cy="688075"/>
              <a:chOff x="279779" y="1685499"/>
              <a:chExt cx="1487606" cy="68807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B843859-2DF7-2DCC-AC17-135652A02C8F}"/>
                  </a:ext>
                </a:extLst>
              </p:cNvPr>
              <p:cNvSpPr/>
              <p:nvPr/>
            </p:nvSpPr>
            <p:spPr>
              <a:xfrm>
                <a:off x="279779" y="1685500"/>
                <a:ext cx="1487606" cy="68807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E0BE85-0A57-CEC7-55E2-AB3B8FD734F7}"/>
                  </a:ext>
                </a:extLst>
              </p:cNvPr>
              <p:cNvSpPr/>
              <p:nvPr/>
            </p:nvSpPr>
            <p:spPr>
              <a:xfrm>
                <a:off x="279779" y="1685499"/>
                <a:ext cx="1487606" cy="23883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LN  On Prem</a:t>
                </a:r>
              </a:p>
            </p:txBody>
          </p:sp>
          <p:pic>
            <p:nvPicPr>
              <p:cNvPr id="2050" name="Picture 2" descr="Tarento | Infor ERP Services ...">
                <a:extLst>
                  <a:ext uri="{FF2B5EF4-FFF2-40B4-BE49-F238E27FC236}">
                    <a16:creationId xmlns:a16="http://schemas.microsoft.com/office/drawing/2014/main" id="{CCEC2161-F9EF-5E1C-B264-F6E90A9479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934" b="32569"/>
              <a:stretch>
                <a:fillRect/>
              </a:stretch>
            </p:blipFill>
            <p:spPr bwMode="auto">
              <a:xfrm>
                <a:off x="293427" y="1923725"/>
                <a:ext cx="436728" cy="1899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2A385D1-DEEC-57C8-D502-A6007858E849}"/>
                </a:ext>
              </a:extLst>
            </p:cNvPr>
            <p:cNvSpPr txBox="1"/>
            <p:nvPr/>
          </p:nvSpPr>
          <p:spPr>
            <a:xfrm>
              <a:off x="1001488" y="1909334"/>
              <a:ext cx="6474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India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Australia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ATS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Brazil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BD17B2D-58E0-C167-7912-D0381D58F616}"/>
                </a:ext>
              </a:extLst>
            </p:cNvPr>
            <p:cNvSpPr txBox="1"/>
            <p:nvPr/>
          </p:nvSpPr>
          <p:spPr>
            <a:xfrm>
              <a:off x="1499779" y="1952849"/>
              <a:ext cx="909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Gulf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Indonesia</a:t>
              </a:r>
            </a:p>
            <a:p>
              <a:pPr marL="72000" marR="0" lvl="0" indent="-720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Malaysia</a:t>
              </a:r>
            </a:p>
          </p:txBody>
        </p:sp>
      </p:grpSp>
      <p:pic>
        <p:nvPicPr>
          <p:cNvPr id="2056" name="Picture 8" descr="Azure SQL data lineage tool">
            <a:extLst>
              <a:ext uri="{FF2B5EF4-FFF2-40B4-BE49-F238E27FC236}">
                <a16:creationId xmlns:a16="http://schemas.microsoft.com/office/drawing/2014/main" id="{7A27BDE3-BA71-8718-61BF-CCDD2172F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6" t="22776" r="18265" b="19006"/>
          <a:stretch>
            <a:fillRect/>
          </a:stretch>
        </p:blipFill>
        <p:spPr bwMode="auto">
          <a:xfrm>
            <a:off x="3613515" y="3230952"/>
            <a:ext cx="498706" cy="46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E8E8026-5992-F4B7-1F84-381158096B47}"/>
              </a:ext>
            </a:extLst>
          </p:cNvPr>
          <p:cNvCxnSpPr>
            <a:cxnSpLocks/>
          </p:cNvCxnSpPr>
          <p:nvPr/>
        </p:nvCxnSpPr>
        <p:spPr>
          <a:xfrm>
            <a:off x="2241103" y="1866168"/>
            <a:ext cx="1251489" cy="39658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05DEBE1-9B4A-53A8-4928-1F7389C46B1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209672" y="2359031"/>
            <a:ext cx="1274730" cy="522270"/>
          </a:xfrm>
          <a:prstGeom prst="bentConnector3">
            <a:avLst>
              <a:gd name="adj1" fmla="val 1359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E53DD468-4D15-025F-ADE7-D4ACBA495D29}"/>
              </a:ext>
            </a:extLst>
          </p:cNvPr>
          <p:cNvCxnSpPr>
            <a:cxnSpLocks/>
            <a:stCxn id="55" idx="0"/>
          </p:cNvCxnSpPr>
          <p:nvPr/>
        </p:nvCxnSpPr>
        <p:spPr>
          <a:xfrm rot="5400000" flipH="1" flipV="1">
            <a:off x="2462006" y="2855597"/>
            <a:ext cx="1097850" cy="983031"/>
          </a:xfrm>
          <a:prstGeom prst="bentConnector3">
            <a:avLst>
              <a:gd name="adj1" fmla="val 10159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1B8DEA8A-C8C7-F74A-C241-40D229A4901F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2291025" y="5049478"/>
            <a:ext cx="3920587" cy="189109"/>
          </a:xfrm>
          <a:prstGeom prst="bentConnector3">
            <a:avLst>
              <a:gd name="adj1" fmla="val 48956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FC342CF-4D71-ADCC-A422-86A383BCF61E}"/>
              </a:ext>
            </a:extLst>
          </p:cNvPr>
          <p:cNvSpPr txBox="1"/>
          <p:nvPr/>
        </p:nvSpPr>
        <p:spPr>
          <a:xfrm>
            <a:off x="2838528" y="1702716"/>
            <a:ext cx="5677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ADF ETL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9039DD-93F7-E401-2FEA-78BD8F0BD722}"/>
              </a:ext>
            </a:extLst>
          </p:cNvPr>
          <p:cNvSpPr txBox="1"/>
          <p:nvPr/>
        </p:nvSpPr>
        <p:spPr>
          <a:xfrm>
            <a:off x="2785203" y="2114150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Pentaho ETL</a:t>
            </a:r>
          </a:p>
        </p:txBody>
      </p:sp>
      <p:pic>
        <p:nvPicPr>
          <p:cNvPr id="2058" name="Picture 10" descr="Upload Data with Power Query — Excel Dashboards VBA">
            <a:extLst>
              <a:ext uri="{FF2B5EF4-FFF2-40B4-BE49-F238E27FC236}">
                <a16:creationId xmlns:a16="http://schemas.microsoft.com/office/drawing/2014/main" id="{9B8720B1-43D6-AE00-4DFF-53E080EAF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793" y="5091234"/>
            <a:ext cx="389079" cy="38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2" descr="Why can't I access Get Apps icon in Power BI?">
            <a:extLst>
              <a:ext uri="{FF2B5EF4-FFF2-40B4-BE49-F238E27FC236}">
                <a16:creationId xmlns:a16="http://schemas.microsoft.com/office/drawing/2014/main" id="{8A20F5E7-BBA5-0122-F530-09B5B4483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91" y="3896037"/>
            <a:ext cx="374050" cy="32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4EC22CC-78B9-5F59-9573-EA2AA6C4C731}"/>
              </a:ext>
            </a:extLst>
          </p:cNvPr>
          <p:cNvCxnSpPr>
            <a:cxnSpLocks/>
            <a:stCxn id="12" idx="3"/>
            <a:endCxn id="55" idx="1"/>
          </p:cNvCxnSpPr>
          <p:nvPr/>
        </p:nvCxnSpPr>
        <p:spPr>
          <a:xfrm>
            <a:off x="2209672" y="4027416"/>
            <a:ext cx="122719" cy="3144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8" name="Picture 10" descr="Upload Data with Power Query — Excel Dashboards VBA">
            <a:extLst>
              <a:ext uri="{FF2B5EF4-FFF2-40B4-BE49-F238E27FC236}">
                <a16:creationId xmlns:a16="http://schemas.microsoft.com/office/drawing/2014/main" id="{70BBAA0E-1E08-EEA6-61A8-EBDAEC530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72" y="2643148"/>
            <a:ext cx="389079" cy="38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9" name="TextBox 15368">
            <a:extLst>
              <a:ext uri="{FF2B5EF4-FFF2-40B4-BE49-F238E27FC236}">
                <a16:creationId xmlns:a16="http://schemas.microsoft.com/office/drawing/2014/main" id="{B3DA71AF-37C4-0FB8-8CF6-560D58A8C2E4}"/>
              </a:ext>
            </a:extLst>
          </p:cNvPr>
          <p:cNvSpPr txBox="1"/>
          <p:nvPr/>
        </p:nvSpPr>
        <p:spPr>
          <a:xfrm>
            <a:off x="4353778" y="2145058"/>
            <a:ext cx="138531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 Tables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Immutable Raw Zone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Landing + Bronze</a:t>
            </a:r>
          </a:p>
        </p:txBody>
      </p:sp>
      <p:sp>
        <p:nvSpPr>
          <p:cNvPr id="15370" name="TextBox 15369">
            <a:extLst>
              <a:ext uri="{FF2B5EF4-FFF2-40B4-BE49-F238E27FC236}">
                <a16:creationId xmlns:a16="http://schemas.microsoft.com/office/drawing/2014/main" id="{888BDF19-14A8-CABC-48A2-FBD3BCB351FB}"/>
              </a:ext>
            </a:extLst>
          </p:cNvPr>
          <p:cNvSpPr txBox="1"/>
          <p:nvPr/>
        </p:nvSpPr>
        <p:spPr>
          <a:xfrm>
            <a:off x="9320555" y="3787147"/>
            <a:ext cx="2372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Sales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on Month View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Dump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 as part of a consolidated streamlined </a:t>
            </a:r>
            <a:r>
              <a:rPr kumimoji="0" lang="en-IN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PowerBI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app</a:t>
            </a:r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38F3705A-A037-EE4C-C068-5135308A364A}"/>
              </a:ext>
            </a:extLst>
          </p:cNvPr>
          <p:cNvSpPr/>
          <p:nvPr/>
        </p:nvSpPr>
        <p:spPr>
          <a:xfrm>
            <a:off x="6125892" y="1280377"/>
            <a:ext cx="2799441" cy="4744294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8" name="TextBox 15377">
            <a:extLst>
              <a:ext uri="{FF2B5EF4-FFF2-40B4-BE49-F238E27FC236}">
                <a16:creationId xmlns:a16="http://schemas.microsoft.com/office/drawing/2014/main" id="{BD8A376B-AD35-9D46-3F92-24F4024AA53C}"/>
              </a:ext>
            </a:extLst>
          </p:cNvPr>
          <p:cNvSpPr txBox="1"/>
          <p:nvPr/>
        </p:nvSpPr>
        <p:spPr>
          <a:xfrm>
            <a:off x="6294709" y="2956671"/>
            <a:ext cx="247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PowerBI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Dataset &amp; Data Flows</a:t>
            </a:r>
          </a:p>
        </p:txBody>
      </p:sp>
      <p:sp>
        <p:nvSpPr>
          <p:cNvPr id="15379" name="Rectangle 15378">
            <a:extLst>
              <a:ext uri="{FF2B5EF4-FFF2-40B4-BE49-F238E27FC236}">
                <a16:creationId xmlns:a16="http://schemas.microsoft.com/office/drawing/2014/main" id="{7908E149-4E59-2D03-4711-F21AF41279DE}"/>
              </a:ext>
            </a:extLst>
          </p:cNvPr>
          <p:cNvSpPr/>
          <p:nvPr/>
        </p:nvSpPr>
        <p:spPr>
          <a:xfrm>
            <a:off x="9320556" y="1280376"/>
            <a:ext cx="2372689" cy="474429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80" name="TextBox 15379">
            <a:extLst>
              <a:ext uri="{FF2B5EF4-FFF2-40B4-BE49-F238E27FC236}">
                <a16:creationId xmlns:a16="http://schemas.microsoft.com/office/drawing/2014/main" id="{BCC1E0D4-7DA5-B320-FB24-EC0ED564A114}"/>
              </a:ext>
            </a:extLst>
          </p:cNvPr>
          <p:cNvSpPr txBox="1"/>
          <p:nvPr/>
        </p:nvSpPr>
        <p:spPr>
          <a:xfrm>
            <a:off x="9443646" y="1795105"/>
            <a:ext cx="2042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PowerBi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Service and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67480-CB78-7910-0699-BF14A68E9739}"/>
              </a:ext>
            </a:extLst>
          </p:cNvPr>
          <p:cNvSpPr txBox="1"/>
          <p:nvPr/>
        </p:nvSpPr>
        <p:spPr>
          <a:xfrm>
            <a:off x="3551409" y="1010739"/>
            <a:ext cx="2304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INGESTION &amp; STAGING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0CF70C-454B-F024-E82B-B60DCA67FC9F}"/>
              </a:ext>
            </a:extLst>
          </p:cNvPr>
          <p:cNvSpPr txBox="1"/>
          <p:nvPr/>
        </p:nvSpPr>
        <p:spPr>
          <a:xfrm>
            <a:off x="744417" y="5667474"/>
            <a:ext cx="1496685" cy="23883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RLS / DL Master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C095D1-456A-8EDA-2D87-471EB16C0BC5}"/>
              </a:ext>
            </a:extLst>
          </p:cNvPr>
          <p:cNvSpPr/>
          <p:nvPr/>
        </p:nvSpPr>
        <p:spPr>
          <a:xfrm>
            <a:off x="3492592" y="1280376"/>
            <a:ext cx="2375118" cy="47431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82" name="TextBox 15381">
            <a:extLst>
              <a:ext uri="{FF2B5EF4-FFF2-40B4-BE49-F238E27FC236}">
                <a16:creationId xmlns:a16="http://schemas.microsoft.com/office/drawing/2014/main" id="{CAC250DC-E229-BAF5-FDE1-7A843AB61BD9}"/>
              </a:ext>
            </a:extLst>
          </p:cNvPr>
          <p:cNvSpPr txBox="1"/>
          <p:nvPr/>
        </p:nvSpPr>
        <p:spPr>
          <a:xfrm>
            <a:off x="6044153" y="1022536"/>
            <a:ext cx="3078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WAREHOUSE &amp; SEMANTIC LAYER</a:t>
            </a:r>
          </a:p>
        </p:txBody>
      </p:sp>
      <p:sp>
        <p:nvSpPr>
          <p:cNvPr id="15383" name="TextBox 15382">
            <a:extLst>
              <a:ext uri="{FF2B5EF4-FFF2-40B4-BE49-F238E27FC236}">
                <a16:creationId xmlns:a16="http://schemas.microsoft.com/office/drawing/2014/main" id="{7BBFD946-6949-88B5-9C3A-2B37A43F8D92}"/>
              </a:ext>
            </a:extLst>
          </p:cNvPr>
          <p:cNvSpPr txBox="1"/>
          <p:nvPr/>
        </p:nvSpPr>
        <p:spPr>
          <a:xfrm>
            <a:off x="9160394" y="1010739"/>
            <a:ext cx="2697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VISUALIZATION &amp; CONSUMPTION</a:t>
            </a:r>
          </a:p>
        </p:txBody>
      </p:sp>
      <p:sp>
        <p:nvSpPr>
          <p:cNvPr id="15392" name="TextBox 15391">
            <a:extLst>
              <a:ext uri="{FF2B5EF4-FFF2-40B4-BE49-F238E27FC236}">
                <a16:creationId xmlns:a16="http://schemas.microsoft.com/office/drawing/2014/main" id="{B38F8396-D720-1FA2-CB56-5EB36A724F8A}"/>
              </a:ext>
            </a:extLst>
          </p:cNvPr>
          <p:cNvSpPr txBox="1"/>
          <p:nvPr/>
        </p:nvSpPr>
        <p:spPr>
          <a:xfrm>
            <a:off x="4241312" y="3188481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Stored Procedures / Views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Harmonize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Match </a:t>
            </a:r>
          </a:p>
        </p:txBody>
      </p:sp>
      <p:pic>
        <p:nvPicPr>
          <p:cNvPr id="15393" name="Picture 12" descr="Why can't I access Get Apps icon in Power BI?">
            <a:extLst>
              <a:ext uri="{FF2B5EF4-FFF2-40B4-BE49-F238E27FC236}">
                <a16:creationId xmlns:a16="http://schemas.microsoft.com/office/drawing/2014/main" id="{64D1D5CC-6915-A30C-892E-441B9137C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619" y="3365101"/>
            <a:ext cx="581604" cy="5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94" name="TextBox 15393">
            <a:extLst>
              <a:ext uri="{FF2B5EF4-FFF2-40B4-BE49-F238E27FC236}">
                <a16:creationId xmlns:a16="http://schemas.microsoft.com/office/drawing/2014/main" id="{54A54248-D15A-54DC-2B13-FE4F1D25A78A}"/>
              </a:ext>
            </a:extLst>
          </p:cNvPr>
          <p:cNvSpPr txBox="1"/>
          <p:nvPr/>
        </p:nvSpPr>
        <p:spPr>
          <a:xfrm>
            <a:off x="6975227" y="3305704"/>
            <a:ext cx="178766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Centralized Business Logic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 DAX, Aggregation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Forex Conversion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 schema, conformed dims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Row Level Security (RLS)</a:t>
            </a:r>
          </a:p>
        </p:txBody>
      </p:sp>
      <p:sp>
        <p:nvSpPr>
          <p:cNvPr id="15402" name="Arrow: Left-Right 15401">
            <a:extLst>
              <a:ext uri="{FF2B5EF4-FFF2-40B4-BE49-F238E27FC236}">
                <a16:creationId xmlns:a16="http://schemas.microsoft.com/office/drawing/2014/main" id="{191EBDA2-D6B6-ED61-4C44-63C1C1D01FDC}"/>
              </a:ext>
            </a:extLst>
          </p:cNvPr>
          <p:cNvSpPr/>
          <p:nvPr/>
        </p:nvSpPr>
        <p:spPr>
          <a:xfrm>
            <a:off x="8682804" y="1556253"/>
            <a:ext cx="880281" cy="365760"/>
          </a:xfrm>
          <a:prstGeom prst="leftRightArrow">
            <a:avLst/>
          </a:prstGeom>
          <a:solidFill>
            <a:srgbClr val="004B8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409" name="Group 15408">
            <a:extLst>
              <a:ext uri="{FF2B5EF4-FFF2-40B4-BE49-F238E27FC236}">
                <a16:creationId xmlns:a16="http://schemas.microsoft.com/office/drawing/2014/main" id="{CCF92F8F-DCCD-AE0D-9355-2687608472C9}"/>
              </a:ext>
            </a:extLst>
          </p:cNvPr>
          <p:cNvGrpSpPr/>
          <p:nvPr/>
        </p:nvGrpSpPr>
        <p:grpSpPr>
          <a:xfrm>
            <a:off x="9411833" y="2188274"/>
            <a:ext cx="1833677" cy="1833677"/>
            <a:chOff x="9530996" y="4119917"/>
            <a:chExt cx="1833677" cy="1833677"/>
          </a:xfrm>
        </p:grpSpPr>
        <p:pic>
          <p:nvPicPr>
            <p:cNvPr id="15404" name="Picture 15403">
              <a:extLst>
                <a:ext uri="{FF2B5EF4-FFF2-40B4-BE49-F238E27FC236}">
                  <a16:creationId xmlns:a16="http://schemas.microsoft.com/office/drawing/2014/main" id="{1E454DB7-9057-7B76-EE97-DF45BAD40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57725" y="4598479"/>
              <a:ext cx="1114037" cy="685074"/>
            </a:xfrm>
            <a:prstGeom prst="rect">
              <a:avLst/>
            </a:prstGeom>
          </p:spPr>
        </p:pic>
        <p:pic>
          <p:nvPicPr>
            <p:cNvPr id="15408" name="Graphic 15407" descr="Laptop with solid fill">
              <a:extLst>
                <a:ext uri="{FF2B5EF4-FFF2-40B4-BE49-F238E27FC236}">
                  <a16:creationId xmlns:a16="http://schemas.microsoft.com/office/drawing/2014/main" id="{D629C154-F834-3172-DF94-F023E0B1E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530996" y="4119917"/>
              <a:ext cx="1833677" cy="1833677"/>
            </a:xfrm>
            <a:prstGeom prst="rect">
              <a:avLst/>
            </a:prstGeom>
          </p:spPr>
        </p:pic>
      </p:grpSp>
      <p:pic>
        <p:nvPicPr>
          <p:cNvPr id="2060" name="Picture 12" descr="Why can't I access Get Apps icon in Power BI?">
            <a:extLst>
              <a:ext uri="{FF2B5EF4-FFF2-40B4-BE49-F238E27FC236}">
                <a16:creationId xmlns:a16="http://schemas.microsoft.com/office/drawing/2014/main" id="{77D7F013-C1F8-412C-B45F-06F236B5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178" y="2852937"/>
            <a:ext cx="419465" cy="36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411" name="Connector: Elbow 15410">
            <a:extLst>
              <a:ext uri="{FF2B5EF4-FFF2-40B4-BE49-F238E27FC236}">
                <a16:creationId xmlns:a16="http://schemas.microsoft.com/office/drawing/2014/main" id="{1AB15048-000F-24C3-A515-7324A083D27F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2241102" y="5049478"/>
            <a:ext cx="3970510" cy="73741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TextBox 2058">
            <a:extLst>
              <a:ext uri="{FF2B5EF4-FFF2-40B4-BE49-F238E27FC236}">
                <a16:creationId xmlns:a16="http://schemas.microsoft.com/office/drawing/2014/main" id="{9EE757CC-B236-707E-BAB9-4353462CB376}"/>
              </a:ext>
            </a:extLst>
          </p:cNvPr>
          <p:cNvSpPr txBox="1"/>
          <p:nvPr/>
        </p:nvSpPr>
        <p:spPr>
          <a:xfrm>
            <a:off x="4087757" y="2930875"/>
            <a:ext cx="1783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Staging &amp; Warehouse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7C21ACDF-78A1-9B95-C8E8-C27FF08CF95E}"/>
              </a:ext>
            </a:extLst>
          </p:cNvPr>
          <p:cNvSpPr txBox="1"/>
          <p:nvPr/>
        </p:nvSpPr>
        <p:spPr>
          <a:xfrm>
            <a:off x="4312807" y="1870344"/>
            <a:ext cx="747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Storage</a:t>
            </a:r>
          </a:p>
        </p:txBody>
      </p:sp>
      <p:pic>
        <p:nvPicPr>
          <p:cNvPr id="3074" name="Picture 2" descr="Connecting and Reading Data From Azure Data Lake - Analytics ...">
            <a:extLst>
              <a:ext uri="{FF2B5EF4-FFF2-40B4-BE49-F238E27FC236}">
                <a16:creationId xmlns:a16="http://schemas.microsoft.com/office/drawing/2014/main" id="{E6681F6A-400C-518C-C9EB-EC82B4CEB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402" y="2117954"/>
            <a:ext cx="968866" cy="56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4" name="Group 2083">
            <a:extLst>
              <a:ext uri="{FF2B5EF4-FFF2-40B4-BE49-F238E27FC236}">
                <a16:creationId xmlns:a16="http://schemas.microsoft.com/office/drawing/2014/main" id="{14A16882-7772-C1CE-526B-ACCBAA3C4BC4}"/>
              </a:ext>
            </a:extLst>
          </p:cNvPr>
          <p:cNvGrpSpPr/>
          <p:nvPr/>
        </p:nvGrpSpPr>
        <p:grpSpPr>
          <a:xfrm>
            <a:off x="1088427" y="6051639"/>
            <a:ext cx="1043876" cy="215444"/>
            <a:chOff x="8735369" y="6023128"/>
            <a:chExt cx="1043876" cy="215444"/>
          </a:xfrm>
        </p:grpSpPr>
        <p:sp>
          <p:nvSpPr>
            <p:cNvPr id="2082" name="TextBox 2081">
              <a:extLst>
                <a:ext uri="{FF2B5EF4-FFF2-40B4-BE49-F238E27FC236}">
                  <a16:creationId xmlns:a16="http://schemas.microsoft.com/office/drawing/2014/main" id="{CE186AEC-6A11-E4A8-94E3-0E96EE4C16C5}"/>
                </a:ext>
              </a:extLst>
            </p:cNvPr>
            <p:cNvSpPr txBox="1"/>
            <p:nvPr/>
          </p:nvSpPr>
          <p:spPr>
            <a:xfrm>
              <a:off x="8735369" y="6023128"/>
              <a:ext cx="10438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Partially Automated</a:t>
              </a:r>
            </a:p>
          </p:txBody>
        </p:sp>
        <p:cxnSp>
          <p:nvCxnSpPr>
            <p:cNvPr id="2080" name="Straight Arrow Connector 2079">
              <a:extLst>
                <a:ext uri="{FF2B5EF4-FFF2-40B4-BE49-F238E27FC236}">
                  <a16:creationId xmlns:a16="http://schemas.microsoft.com/office/drawing/2014/main" id="{EE32F482-AAF5-8BF5-7882-0246343067F0}"/>
                </a:ext>
              </a:extLst>
            </p:cNvPr>
            <p:cNvCxnSpPr>
              <a:cxnSpLocks/>
            </p:cNvCxnSpPr>
            <p:nvPr/>
          </p:nvCxnSpPr>
          <p:spPr>
            <a:xfrm>
              <a:off x="8850573" y="6196084"/>
              <a:ext cx="791570" cy="0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EA3B2B9A-2797-55B5-D87D-FCC02D69A586}"/>
              </a:ext>
            </a:extLst>
          </p:cNvPr>
          <p:cNvGrpSpPr/>
          <p:nvPr/>
        </p:nvGrpSpPr>
        <p:grpSpPr>
          <a:xfrm>
            <a:off x="2124382" y="6058430"/>
            <a:ext cx="889987" cy="215444"/>
            <a:chOff x="9764304" y="6095153"/>
            <a:chExt cx="889987" cy="215444"/>
          </a:xfrm>
        </p:grpSpPr>
        <p:cxnSp>
          <p:nvCxnSpPr>
            <p:cNvPr id="2081" name="Straight Arrow Connector 2080">
              <a:extLst>
                <a:ext uri="{FF2B5EF4-FFF2-40B4-BE49-F238E27FC236}">
                  <a16:creationId xmlns:a16="http://schemas.microsoft.com/office/drawing/2014/main" id="{B27B77C5-B77B-A811-88F5-D59504B8473A}"/>
                </a:ext>
              </a:extLst>
            </p:cNvPr>
            <p:cNvCxnSpPr>
              <a:cxnSpLocks/>
            </p:cNvCxnSpPr>
            <p:nvPr/>
          </p:nvCxnSpPr>
          <p:spPr>
            <a:xfrm>
              <a:off x="9840036" y="6261318"/>
              <a:ext cx="809357" cy="0"/>
            </a:xfrm>
            <a:prstGeom prst="straightConnector1">
              <a:avLst/>
            </a:prstGeom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260928E3-82CA-7B39-9E75-A3FCCCCA7F7C}"/>
                </a:ext>
              </a:extLst>
            </p:cNvPr>
            <p:cNvSpPr txBox="1"/>
            <p:nvPr/>
          </p:nvSpPr>
          <p:spPr>
            <a:xfrm>
              <a:off x="9764304" y="6095153"/>
              <a:ext cx="8899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Automated</a:t>
              </a:r>
            </a:p>
          </p:txBody>
        </p:sp>
      </p:grpSp>
      <p:sp>
        <p:nvSpPr>
          <p:cNvPr id="2088" name="TextBox 2087">
            <a:extLst>
              <a:ext uri="{FF2B5EF4-FFF2-40B4-BE49-F238E27FC236}">
                <a16:creationId xmlns:a16="http://schemas.microsoft.com/office/drawing/2014/main" id="{177D20C9-7955-C9B6-2D02-DA6AB6EC1401}"/>
              </a:ext>
            </a:extLst>
          </p:cNvPr>
          <p:cNvSpPr txBox="1"/>
          <p:nvPr/>
        </p:nvSpPr>
        <p:spPr>
          <a:xfrm>
            <a:off x="1224211" y="5341783"/>
            <a:ext cx="1042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1" i="1" u="none" strike="noStrike" kern="1200" cap="none" spc="0" normalizeH="0" baseline="0" noProof="0" dirty="0">
                <a:ln>
                  <a:noFill/>
                </a:ln>
                <a:solidFill>
                  <a:srgbClr val="E84C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Owners : Finance</a:t>
            </a:r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2D26F369-4DCB-2D07-2164-133BED25C4D3}"/>
              </a:ext>
            </a:extLst>
          </p:cNvPr>
          <p:cNvSpPr txBox="1"/>
          <p:nvPr/>
        </p:nvSpPr>
        <p:spPr>
          <a:xfrm>
            <a:off x="10141937" y="3634688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Refresh : Daily 9am IST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8C92F-9185-35AA-FC54-4947A982D9DD}"/>
              </a:ext>
            </a:extLst>
          </p:cNvPr>
          <p:cNvSpPr/>
          <p:nvPr/>
        </p:nvSpPr>
        <p:spPr>
          <a:xfrm>
            <a:off x="9484790" y="119423"/>
            <a:ext cx="2372689" cy="848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 Discussion</a:t>
            </a:r>
          </a:p>
        </p:txBody>
      </p:sp>
    </p:spTree>
    <p:extLst>
      <p:ext uri="{BB962C8B-B14F-4D97-AF65-F5344CB8AC3E}">
        <p14:creationId xmlns:p14="http://schemas.microsoft.com/office/powerpoint/2010/main" val="61700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E42FD8-B5AD-1FB9-2886-FAED2783979C}"/>
              </a:ext>
            </a:extLst>
          </p:cNvPr>
          <p:cNvSpPr/>
          <p:nvPr/>
        </p:nvSpPr>
        <p:spPr>
          <a:xfrm rot="16200000">
            <a:off x="5387678" y="-2534248"/>
            <a:ext cx="583057" cy="84199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20CD51-9CF2-ACCB-003B-12A9A6516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Dashboard Wireframe (1/4)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61740-C7A7-7C50-44FE-B7E8A9703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400" b="1" dirty="0">
                <a:latin typeface="+mn-lt"/>
              </a:rPr>
              <a:t>Illustrative:</a:t>
            </a:r>
            <a:r>
              <a:rPr lang="en-US" sz="1400" dirty="0">
                <a:latin typeface="+mn-lt"/>
              </a:rPr>
              <a:t> The following screenshots represent the current Excel-based reports. The corresponding Power BI dashboards will be designed to closely replicate these views, subject to Power BI visualization capabilities, data modeling constraints, and performance considerations.</a:t>
            </a:r>
            <a:endParaRPr lang="en-IN" sz="14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1EA775-FC32-234F-98E4-DFEAACDA4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002" y="2262374"/>
            <a:ext cx="8475986" cy="150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AF7382-0C04-4DA4-7595-DFA541EB9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190" y="3669816"/>
            <a:ext cx="8414981" cy="26253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D5256C-8C8E-B7DF-60EC-725A10C2DD61}"/>
              </a:ext>
            </a:extLst>
          </p:cNvPr>
          <p:cNvSpPr/>
          <p:nvPr/>
        </p:nvSpPr>
        <p:spPr>
          <a:xfrm>
            <a:off x="341194" y="1384188"/>
            <a:ext cx="1128048" cy="47555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400C36-C9EF-41B8-6188-D30FB0F39FB2}"/>
              </a:ext>
            </a:extLst>
          </p:cNvPr>
          <p:cNvSpPr/>
          <p:nvPr/>
        </p:nvSpPr>
        <p:spPr>
          <a:xfrm>
            <a:off x="2870029" y="2026981"/>
            <a:ext cx="547396" cy="2301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A1E834-5695-A843-E297-A3A0DF8B0C66}"/>
              </a:ext>
            </a:extLst>
          </p:cNvPr>
          <p:cNvSpPr/>
          <p:nvPr/>
        </p:nvSpPr>
        <p:spPr>
          <a:xfrm>
            <a:off x="3541833" y="2026980"/>
            <a:ext cx="547396" cy="2301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CB6651-36CC-6F9B-2C99-BF26FC368BC7}"/>
              </a:ext>
            </a:extLst>
          </p:cNvPr>
          <p:cNvSpPr txBox="1"/>
          <p:nvPr/>
        </p:nvSpPr>
        <p:spPr>
          <a:xfrm>
            <a:off x="1531513" y="2010914"/>
            <a:ext cx="1276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Currency Toggles -- 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53527B-C098-61A2-434A-6A0AE97F29B4}"/>
              </a:ext>
            </a:extLst>
          </p:cNvPr>
          <p:cNvSpPr/>
          <p:nvPr/>
        </p:nvSpPr>
        <p:spPr>
          <a:xfrm>
            <a:off x="9941480" y="1665027"/>
            <a:ext cx="2068550" cy="425810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NOTES: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 RLS  : DL User Group Master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408AA2-6268-DC7B-001E-6D0C23D005DC}"/>
              </a:ext>
            </a:extLst>
          </p:cNvPr>
          <p:cNvSpPr txBox="1"/>
          <p:nvPr/>
        </p:nvSpPr>
        <p:spPr>
          <a:xfrm>
            <a:off x="341194" y="2463421"/>
            <a:ext cx="1180531" cy="150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Sales</a:t>
            </a:r>
          </a:p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MoM View</a:t>
            </a:r>
          </a:p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Dump </a:t>
            </a: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SS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49264F9-B098-30BF-7B78-671A6417EA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724"/>
          <a:stretch>
            <a:fillRect/>
          </a:stretch>
        </p:blipFill>
        <p:spPr>
          <a:xfrm>
            <a:off x="341194" y="1384188"/>
            <a:ext cx="1159724" cy="3476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6F463E-9DAB-21CF-EFB8-4D8704FBF0CD}"/>
              </a:ext>
            </a:extLst>
          </p:cNvPr>
          <p:cNvSpPr txBox="1"/>
          <p:nvPr/>
        </p:nvSpPr>
        <p:spPr>
          <a:xfrm>
            <a:off x="7595191" y="1749666"/>
            <a:ext cx="2406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Refresh Frequency : Daily | Data Refreshed on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C0EFC0-EE7A-491B-727D-003776FBB7FE}"/>
              </a:ext>
            </a:extLst>
          </p:cNvPr>
          <p:cNvSpPr txBox="1"/>
          <p:nvPr/>
        </p:nvSpPr>
        <p:spPr>
          <a:xfrm>
            <a:off x="1521550" y="6096376"/>
            <a:ext cx="3523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Budget &amp; Forecast Data : Contact &lt;&gt;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Sales Data : Contact &lt;&gt;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D0763B-1FE6-4335-9C3C-6A7B0FD26C99}"/>
              </a:ext>
            </a:extLst>
          </p:cNvPr>
          <p:cNvSpPr txBox="1"/>
          <p:nvPr/>
        </p:nvSpPr>
        <p:spPr>
          <a:xfrm>
            <a:off x="7473767" y="6132987"/>
            <a:ext cx="25278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Raise Tickets &lt;here&gt; for data issues &amp; change requests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34004-2634-BB25-94F4-1DD38130F506}"/>
              </a:ext>
            </a:extLst>
          </p:cNvPr>
          <p:cNvSpPr txBox="1"/>
          <p:nvPr/>
        </p:nvSpPr>
        <p:spPr>
          <a:xfrm>
            <a:off x="1416933" y="1749666"/>
            <a:ext cx="19704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Sales Data Updated Till : 26/11/2025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11C47-BB33-BBF8-53D1-1721176D829B}"/>
              </a:ext>
            </a:extLst>
          </p:cNvPr>
          <p:cNvSpPr txBox="1"/>
          <p:nvPr/>
        </p:nvSpPr>
        <p:spPr>
          <a:xfrm>
            <a:off x="6546632" y="6132987"/>
            <a:ext cx="7745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Data Source : </a:t>
            </a:r>
          </a:p>
        </p:txBody>
      </p:sp>
    </p:spTree>
    <p:extLst>
      <p:ext uri="{BB962C8B-B14F-4D97-AF65-F5344CB8AC3E}">
        <p14:creationId xmlns:p14="http://schemas.microsoft.com/office/powerpoint/2010/main" val="2063179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18FB-0507-2DCB-1974-5BFA2144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7290E20-E92A-298D-0AA5-9192435CCAF5}"/>
              </a:ext>
            </a:extLst>
          </p:cNvPr>
          <p:cNvSpPr/>
          <p:nvPr/>
        </p:nvSpPr>
        <p:spPr>
          <a:xfrm rot="16200000">
            <a:off x="5387678" y="-2534248"/>
            <a:ext cx="583057" cy="84199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SALES SUMMARY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9D121E-A76A-BF2E-361D-321679CD8F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Dashboard Wireframe (2/4)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F5A39-0C4E-10A6-FDA5-E971E6BC1B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400" b="1" dirty="0">
                <a:latin typeface="+mn-lt"/>
              </a:rPr>
              <a:t>Illustrative:</a:t>
            </a:r>
            <a:r>
              <a:rPr lang="en-US" sz="1400" dirty="0">
                <a:latin typeface="+mn-lt"/>
              </a:rPr>
              <a:t> The following screenshots represent the current Excel-based reports. The corresponding Power BI dashboards will be designed to closely replicate these views, subject to Power BI visualization capabilities, data modeling constraints, and performance considerations.</a:t>
            </a:r>
            <a:endParaRPr lang="en-IN" sz="1400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C8633-F8DB-4B69-1409-68D8DD68B222}"/>
              </a:ext>
            </a:extLst>
          </p:cNvPr>
          <p:cNvSpPr/>
          <p:nvPr/>
        </p:nvSpPr>
        <p:spPr>
          <a:xfrm>
            <a:off x="341194" y="1384188"/>
            <a:ext cx="1128048" cy="47555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010667-2659-48AB-1332-9B59EBF57349}"/>
              </a:ext>
            </a:extLst>
          </p:cNvPr>
          <p:cNvSpPr txBox="1"/>
          <p:nvPr/>
        </p:nvSpPr>
        <p:spPr>
          <a:xfrm>
            <a:off x="7248942" y="1731854"/>
            <a:ext cx="2752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Refresh Frequency : Daily | Data Refreshed on: (UTC)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03416D-C798-E0BD-55DB-69200D5935F6}"/>
              </a:ext>
            </a:extLst>
          </p:cNvPr>
          <p:cNvSpPr/>
          <p:nvPr/>
        </p:nvSpPr>
        <p:spPr>
          <a:xfrm>
            <a:off x="9941480" y="1665027"/>
            <a:ext cx="2068550" cy="425810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NOTES: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 RLS  : DL User Group Master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Drilldown – expand all  as in excel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Filter Month: Default to be published per latest date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 tool tips for definitions and calculations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A7B6B-EA9D-D6C6-F7ED-FF4785E6F388}"/>
              </a:ext>
            </a:extLst>
          </p:cNvPr>
          <p:cNvSpPr txBox="1"/>
          <p:nvPr/>
        </p:nvSpPr>
        <p:spPr>
          <a:xfrm>
            <a:off x="341194" y="2463421"/>
            <a:ext cx="1180531" cy="150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Daily Sales</a:t>
            </a:r>
          </a:p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MoM View</a:t>
            </a:r>
          </a:p>
          <a:p>
            <a:pPr marL="144000" marR="0" lvl="0" indent="-14400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Dump for 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92D40-071E-F7B6-3CC8-BC697D7BA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50" y="3046479"/>
            <a:ext cx="5249398" cy="29850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FECAEF-1232-ECD3-8FA7-C46C74B7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256" y="3127527"/>
            <a:ext cx="3065741" cy="27956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837B4E9-67DE-E0C5-CE4C-AFE4326E9760}"/>
              </a:ext>
            </a:extLst>
          </p:cNvPr>
          <p:cNvSpPr txBox="1"/>
          <p:nvPr/>
        </p:nvSpPr>
        <p:spPr>
          <a:xfrm>
            <a:off x="1423108" y="2387200"/>
            <a:ext cx="1204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Tiles for Total in INR -- &gt;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D8E4073-FCB8-1E11-8934-71635C8A6FE4}"/>
              </a:ext>
            </a:extLst>
          </p:cNvPr>
          <p:cNvSpPr/>
          <p:nvPr/>
        </p:nvSpPr>
        <p:spPr>
          <a:xfrm>
            <a:off x="2490364" y="2034691"/>
            <a:ext cx="547396" cy="2301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0BDAEF-506D-5066-9092-B3857F9C1C30}"/>
              </a:ext>
            </a:extLst>
          </p:cNvPr>
          <p:cNvSpPr txBox="1"/>
          <p:nvPr/>
        </p:nvSpPr>
        <p:spPr>
          <a:xfrm>
            <a:off x="1467639" y="2018624"/>
            <a:ext cx="960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Local Filter -- &gt;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A557853-DD06-92B0-6A52-95096F2AE2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724"/>
          <a:stretch>
            <a:fillRect/>
          </a:stretch>
        </p:blipFill>
        <p:spPr>
          <a:xfrm>
            <a:off x="341194" y="1384188"/>
            <a:ext cx="1159724" cy="347666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38A7425-251D-386E-DF1B-D855A936F468}"/>
              </a:ext>
            </a:extLst>
          </p:cNvPr>
          <p:cNvGraphicFramePr>
            <a:graphicFrameLocks noGrp="1"/>
          </p:cNvGraphicFramePr>
          <p:nvPr/>
        </p:nvGraphicFramePr>
        <p:xfrm>
          <a:off x="4639774" y="2336129"/>
          <a:ext cx="1041400" cy="583058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755785832"/>
                    </a:ext>
                  </a:extLst>
                </a:gridCol>
              </a:tblGrid>
              <a:tr h="5830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MTD</a:t>
                      </a:r>
                      <a:b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Nov-25</a:t>
                      </a:r>
                      <a:b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3,161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21469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CBF9B97-7F50-9271-BFA8-D333A23F23C8}"/>
              </a:ext>
            </a:extLst>
          </p:cNvPr>
          <p:cNvGraphicFramePr>
            <a:graphicFrameLocks noGrp="1"/>
          </p:cNvGraphicFramePr>
          <p:nvPr/>
        </p:nvGraphicFramePr>
        <p:xfrm>
          <a:off x="5717406" y="2336129"/>
          <a:ext cx="2578100" cy="599123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8920078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19890431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368971245"/>
                    </a:ext>
                  </a:extLst>
                </a:gridCol>
              </a:tblGrid>
              <a:tr h="558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MTD vs Budget%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97%</a:t>
                      </a:r>
                    </a:p>
                  </a:txBody>
                  <a:tcPr marL="4763" marR="4763" marT="47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MTD vs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PY%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111%</a:t>
                      </a:r>
                    </a:p>
                  </a:txBody>
                  <a:tcPr marL="4763" marR="4763" marT="476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MTD vs Forecast%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98%</a:t>
                      </a:r>
                    </a:p>
                  </a:txBody>
                  <a:tcPr marL="4763" marR="4763" marT="4763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39918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06E4E76-D220-76AD-8756-1E98BBD393F8}"/>
              </a:ext>
            </a:extLst>
          </p:cNvPr>
          <p:cNvSpPr txBox="1"/>
          <p:nvPr/>
        </p:nvSpPr>
        <p:spPr>
          <a:xfrm>
            <a:off x="7164046" y="3027136"/>
            <a:ext cx="2474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Day 1 – Day 30 Monthly Collapsible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298862-382D-BA42-A2F6-66114A57079E}"/>
              </a:ext>
            </a:extLst>
          </p:cNvPr>
          <p:cNvSpPr txBox="1"/>
          <p:nvPr/>
        </p:nvSpPr>
        <p:spPr>
          <a:xfrm>
            <a:off x="1521550" y="5970482"/>
            <a:ext cx="3523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Budget &amp; Forecast Data : Contact &lt;&gt;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Sales Data : Contact &lt;&gt;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22EBD3-26ED-6B94-B4DE-10DE2C00B5F4}"/>
              </a:ext>
            </a:extLst>
          </p:cNvPr>
          <p:cNvSpPr txBox="1"/>
          <p:nvPr/>
        </p:nvSpPr>
        <p:spPr>
          <a:xfrm>
            <a:off x="7473767" y="6007093"/>
            <a:ext cx="25278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Raise Tickets &lt;here&gt; for data issues &amp; change requests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0B2E879-20C0-2194-3F3B-7A3C6E2433BC}"/>
              </a:ext>
            </a:extLst>
          </p:cNvPr>
          <p:cNvGraphicFramePr>
            <a:graphicFrameLocks noGrp="1"/>
          </p:cNvGraphicFramePr>
          <p:nvPr/>
        </p:nvGraphicFramePr>
        <p:xfrm>
          <a:off x="2639558" y="2336129"/>
          <a:ext cx="1941411" cy="567583"/>
        </p:xfrm>
        <a:graphic>
          <a:graphicData uri="http://schemas.openxmlformats.org/drawingml/2006/table">
            <a:tbl>
              <a:tblPr/>
              <a:tblGrid>
                <a:gridCol w="1001620">
                  <a:extLst>
                    <a:ext uri="{9D8B030D-6E8A-4147-A177-3AD203B41FA5}">
                      <a16:colId xmlns:a16="http://schemas.microsoft.com/office/drawing/2014/main" val="2389550143"/>
                    </a:ext>
                  </a:extLst>
                </a:gridCol>
                <a:gridCol w="939791">
                  <a:extLst>
                    <a:ext uri="{9D8B030D-6E8A-4147-A177-3AD203B41FA5}">
                      <a16:colId xmlns:a16="http://schemas.microsoft.com/office/drawing/2014/main" val="3815292127"/>
                    </a:ext>
                  </a:extLst>
                </a:gridCol>
              </a:tblGrid>
              <a:tr h="567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Budget</a:t>
                      </a:r>
                      <a:b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Nov-25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3,244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P.Year</a:t>
                      </a:r>
                      <a:b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Nov-24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2,839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11470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92889700-CB32-C575-92B9-AE21365B6525}"/>
              </a:ext>
            </a:extLst>
          </p:cNvPr>
          <p:cNvSpPr txBox="1"/>
          <p:nvPr/>
        </p:nvSpPr>
        <p:spPr>
          <a:xfrm>
            <a:off x="1416933" y="1749666"/>
            <a:ext cx="19704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Sales Data Updated Till : 26/11/2025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744C13-3E6C-CE73-0395-7DC4403033E2}"/>
              </a:ext>
            </a:extLst>
          </p:cNvPr>
          <p:cNvSpPr txBox="1"/>
          <p:nvPr/>
        </p:nvSpPr>
        <p:spPr>
          <a:xfrm>
            <a:off x="6546632" y="6007093"/>
            <a:ext cx="7745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Data Source : 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5FC29B26-778D-A7D5-7C03-89338FDE7929}"/>
              </a:ext>
            </a:extLst>
          </p:cNvPr>
          <p:cNvGraphicFramePr>
            <a:graphicFrameLocks noGrp="1"/>
          </p:cNvGraphicFramePr>
          <p:nvPr/>
        </p:nvGraphicFramePr>
        <p:xfrm>
          <a:off x="8347814" y="2320064"/>
          <a:ext cx="1529041" cy="599123"/>
        </p:xfrm>
        <a:graphic>
          <a:graphicData uri="http://schemas.openxmlformats.org/drawingml/2006/table">
            <a:tbl>
              <a:tblPr/>
              <a:tblGrid>
                <a:gridCol w="794153">
                  <a:extLst>
                    <a:ext uri="{9D8B030D-6E8A-4147-A177-3AD203B41FA5}">
                      <a16:colId xmlns:a16="http://schemas.microsoft.com/office/drawing/2014/main" val="2629645860"/>
                    </a:ext>
                  </a:extLst>
                </a:gridCol>
                <a:gridCol w="734888">
                  <a:extLst>
                    <a:ext uri="{9D8B030D-6E8A-4147-A177-3AD203B41FA5}">
                      <a16:colId xmlns:a16="http://schemas.microsoft.com/office/drawing/2014/main" val="3671702275"/>
                    </a:ext>
                  </a:extLst>
                </a:gridCol>
              </a:tblGrid>
              <a:tr h="558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Calendar Prop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4763" marR="4763" marT="476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Achievement %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97%</a:t>
                      </a:r>
                    </a:p>
                  </a:txBody>
                  <a:tcPr marL="4763" marR="4763" marT="476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417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29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B33D-4D5A-3607-AE50-5675EA3C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7DCC455-0C01-FCBD-1AA2-9988E24CDB62}"/>
              </a:ext>
            </a:extLst>
          </p:cNvPr>
          <p:cNvSpPr/>
          <p:nvPr/>
        </p:nvSpPr>
        <p:spPr>
          <a:xfrm rot="16200000">
            <a:off x="5387678" y="-2534248"/>
            <a:ext cx="583057" cy="84199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on Month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DD63A4-8B10-22C8-610C-5BEC732B8D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Dashboard Wireframe (3/4)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9A92E-E3FA-7807-AF54-1D8E58E376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400" b="1" dirty="0">
                <a:latin typeface="+mn-lt"/>
              </a:rPr>
              <a:t>Illustrative:</a:t>
            </a:r>
            <a:r>
              <a:rPr lang="en-US" sz="1400" dirty="0">
                <a:latin typeface="+mn-lt"/>
              </a:rPr>
              <a:t> The following screenshots represent the current Excel-based reports. The corresponding Power BI dashboards will be designed to closely replicate these views, subject to Power BI visualization capabilities, data modeling constraints, and performance considerations.</a:t>
            </a:r>
            <a:endParaRPr lang="en-IN" sz="1400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F405DB-90EA-E39E-DB75-48C4676F897D}"/>
              </a:ext>
            </a:extLst>
          </p:cNvPr>
          <p:cNvSpPr/>
          <p:nvPr/>
        </p:nvSpPr>
        <p:spPr>
          <a:xfrm>
            <a:off x="341194" y="1384188"/>
            <a:ext cx="1128048" cy="47555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52A9C-CD83-4F98-848E-4F3485F7E3B4}"/>
              </a:ext>
            </a:extLst>
          </p:cNvPr>
          <p:cNvSpPr txBox="1"/>
          <p:nvPr/>
        </p:nvSpPr>
        <p:spPr>
          <a:xfrm>
            <a:off x="7595191" y="1749666"/>
            <a:ext cx="2406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Refresh Frequency : Daily | Data Refreshed 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844A1-9F72-F8FE-036E-5D40EE8818C0}"/>
              </a:ext>
            </a:extLst>
          </p:cNvPr>
          <p:cNvSpPr txBox="1"/>
          <p:nvPr/>
        </p:nvSpPr>
        <p:spPr>
          <a:xfrm>
            <a:off x="341194" y="2463421"/>
            <a:ext cx="1180531" cy="127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Sales</a:t>
            </a:r>
          </a:p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MoM View</a:t>
            </a:r>
          </a:p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Dump for SS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34AB55-0F67-7B2A-731D-E69540E89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24"/>
          <a:stretch>
            <a:fillRect/>
          </a:stretch>
        </p:blipFill>
        <p:spPr>
          <a:xfrm>
            <a:off x="341194" y="1384188"/>
            <a:ext cx="1159724" cy="3476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35C7183-2A8D-0171-E757-2715F2CDE065}"/>
              </a:ext>
            </a:extLst>
          </p:cNvPr>
          <p:cNvSpPr txBox="1"/>
          <p:nvPr/>
        </p:nvSpPr>
        <p:spPr>
          <a:xfrm>
            <a:off x="1521550" y="5970482"/>
            <a:ext cx="3523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Budget &amp; Forecast Data : Contact &lt;&gt;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Sales Data : Contact &lt;&gt;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0F4E96-7603-BFB9-7757-CD04635B0729}"/>
              </a:ext>
            </a:extLst>
          </p:cNvPr>
          <p:cNvSpPr txBox="1"/>
          <p:nvPr/>
        </p:nvSpPr>
        <p:spPr>
          <a:xfrm>
            <a:off x="7473767" y="6007093"/>
            <a:ext cx="25278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Raise Tickets &lt;here&gt; for data issues &amp; change requests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6D8574-F906-D871-BF6D-DB031F187BF3}"/>
              </a:ext>
            </a:extLst>
          </p:cNvPr>
          <p:cNvSpPr txBox="1"/>
          <p:nvPr/>
        </p:nvSpPr>
        <p:spPr>
          <a:xfrm>
            <a:off x="1416933" y="1749666"/>
            <a:ext cx="19704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Sales Data Updated Till : 26/11/2025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CCB687-4EA8-B50D-A827-5506241A6F56}"/>
              </a:ext>
            </a:extLst>
          </p:cNvPr>
          <p:cNvSpPr txBox="1"/>
          <p:nvPr/>
        </p:nvSpPr>
        <p:spPr>
          <a:xfrm>
            <a:off x="6546632" y="6007093"/>
            <a:ext cx="7745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Data Source :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F0FC4B-075F-C002-1984-C82A9DB64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51" y="2515072"/>
            <a:ext cx="8296830" cy="221433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953A485-C367-6CF3-348A-7795E93DB7B2}"/>
              </a:ext>
            </a:extLst>
          </p:cNvPr>
          <p:cNvSpPr/>
          <p:nvPr/>
        </p:nvSpPr>
        <p:spPr>
          <a:xfrm>
            <a:off x="9941480" y="1665027"/>
            <a:ext cx="2068550" cy="425810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NOTES: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IN" sz="1400" dirty="0">
                <a:solidFill>
                  <a:srgbClr val="C00000"/>
                </a:solidFill>
                <a:latin typeface="Calibri" panose="020F0502020204030204"/>
              </a:rPr>
              <a:t>MoM view – Running </a:t>
            </a:r>
            <a:r>
              <a:rPr lang="en-IN" sz="1400">
                <a:solidFill>
                  <a:srgbClr val="C00000"/>
                </a:solidFill>
                <a:latin typeface="Calibri" panose="020F0502020204030204"/>
              </a:rPr>
              <a:t>12 months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 if this can be accommodated in the daily sales view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692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F26F-681C-C4DF-5954-313121FC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F5F4B1C-AACE-9E9F-4382-3F2330A82254}"/>
              </a:ext>
            </a:extLst>
          </p:cNvPr>
          <p:cNvSpPr/>
          <p:nvPr/>
        </p:nvSpPr>
        <p:spPr>
          <a:xfrm rot="16200000">
            <a:off x="5387678" y="-2534248"/>
            <a:ext cx="583057" cy="84199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DATA DUMP FOR SELF SERVICE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B386CB-9C21-522B-BE40-2E5043901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Dashboard Wireframe (4/4)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868B8-9C2E-8412-4977-07A9AFCB28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400" b="1" dirty="0">
                <a:latin typeface="+mn-lt"/>
              </a:rPr>
              <a:t>Illustrative:</a:t>
            </a:r>
            <a:r>
              <a:rPr lang="en-US" sz="1400" dirty="0">
                <a:latin typeface="+mn-lt"/>
              </a:rPr>
              <a:t> The following screenshots represent the current Excel-based reports. The corresponding Power BI dashboards will be designed to closely replicate these views, subject to Power BI visualization capabilities, data modeling constraints, and performance considerations.</a:t>
            </a:r>
            <a:endParaRPr lang="en-IN" sz="1400" dirty="0"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F656E-4A3B-9A7B-2749-B5B5366FBF41}"/>
              </a:ext>
            </a:extLst>
          </p:cNvPr>
          <p:cNvSpPr/>
          <p:nvPr/>
        </p:nvSpPr>
        <p:spPr>
          <a:xfrm>
            <a:off x="341194" y="1384188"/>
            <a:ext cx="1128048" cy="47555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012C1B-1C2A-806B-3A90-CE303E369A92}"/>
              </a:ext>
            </a:extLst>
          </p:cNvPr>
          <p:cNvSpPr txBox="1"/>
          <p:nvPr/>
        </p:nvSpPr>
        <p:spPr>
          <a:xfrm>
            <a:off x="7595191" y="1749666"/>
            <a:ext cx="2406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Refresh Frequency : Daily | Data Refreshed 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A7A7FA-416C-9C50-5E12-009AD2633A42}"/>
              </a:ext>
            </a:extLst>
          </p:cNvPr>
          <p:cNvSpPr/>
          <p:nvPr/>
        </p:nvSpPr>
        <p:spPr>
          <a:xfrm>
            <a:off x="9941480" y="1665027"/>
            <a:ext cx="2068550" cy="425810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NOTES: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– daily ( 1 day)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 – should include option for “ all ‘”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1022A8-6AA9-BADC-B5F6-2ED2B92E312E}"/>
              </a:ext>
            </a:extLst>
          </p:cNvPr>
          <p:cNvSpPr txBox="1"/>
          <p:nvPr/>
        </p:nvSpPr>
        <p:spPr>
          <a:xfrm>
            <a:off x="341194" y="2463421"/>
            <a:ext cx="1180531" cy="127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Daily Sales</a:t>
            </a:r>
          </a:p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Budget vs Forecas</a:t>
            </a: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</a:p>
          <a:p>
            <a:pPr marL="144000" marR="0" lvl="0" indent="-1440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Daily Dump for 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078FEE-6404-C77B-A356-35B317C7CCA7}"/>
              </a:ext>
            </a:extLst>
          </p:cNvPr>
          <p:cNvSpPr/>
          <p:nvPr/>
        </p:nvSpPr>
        <p:spPr>
          <a:xfrm>
            <a:off x="2490363" y="2158736"/>
            <a:ext cx="643775" cy="1995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96E590-4D5F-5ED2-084E-7ACD3B788530}"/>
              </a:ext>
            </a:extLst>
          </p:cNvPr>
          <p:cNvSpPr txBox="1"/>
          <p:nvPr/>
        </p:nvSpPr>
        <p:spPr>
          <a:xfrm>
            <a:off x="1458816" y="2096644"/>
            <a:ext cx="960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Local Filter -- &gt;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1B2C9B-2C08-A9BD-7891-6F108CBB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24"/>
          <a:stretch>
            <a:fillRect/>
          </a:stretch>
        </p:blipFill>
        <p:spPr>
          <a:xfrm>
            <a:off x="341194" y="1384188"/>
            <a:ext cx="1159724" cy="3476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6777FA8-1747-AA29-7BF7-55DE5C947686}"/>
              </a:ext>
            </a:extLst>
          </p:cNvPr>
          <p:cNvSpPr txBox="1"/>
          <p:nvPr/>
        </p:nvSpPr>
        <p:spPr>
          <a:xfrm>
            <a:off x="1521550" y="5970482"/>
            <a:ext cx="3523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Budget &amp; Forecast Data : Contact &lt;&gt;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For Sales Data : Contact &lt;&gt;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D71F6B-0ADC-5260-E65D-452DD461CCEA}"/>
              </a:ext>
            </a:extLst>
          </p:cNvPr>
          <p:cNvSpPr txBox="1"/>
          <p:nvPr/>
        </p:nvSpPr>
        <p:spPr>
          <a:xfrm>
            <a:off x="7473767" y="6007093"/>
            <a:ext cx="25278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Raise Tickets &lt;here&gt; for data issues &amp; change requests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02FBE0-86C7-C549-CF8B-9EBC33B5A224}"/>
              </a:ext>
            </a:extLst>
          </p:cNvPr>
          <p:cNvSpPr txBox="1"/>
          <p:nvPr/>
        </p:nvSpPr>
        <p:spPr>
          <a:xfrm>
            <a:off x="1416933" y="1749666"/>
            <a:ext cx="19704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Sales Data Updated Till : 26/11/2025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C6381F-6C99-9234-CADF-D43766FC3258}"/>
              </a:ext>
            </a:extLst>
          </p:cNvPr>
          <p:cNvSpPr txBox="1"/>
          <p:nvPr/>
        </p:nvSpPr>
        <p:spPr>
          <a:xfrm>
            <a:off x="6546632" y="6007093"/>
            <a:ext cx="7745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Data Source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FA656-3D16-E092-65EB-FC512F37C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033" y="2563021"/>
            <a:ext cx="8332293" cy="3175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A488E2-F1BA-BBAC-8C6A-460F4898E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344" y="2081468"/>
            <a:ext cx="51911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78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88B4C5-A667-1381-8968-CF38C217F9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Annexure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26947-7D7A-BF63-1B32-FAA93E98E2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350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82D493-DD1F-78E2-909B-D77654AB08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Global Sales Reporting – Data Ingestion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DD6D1-6BBA-7D39-1F23-035A37A328FC}"/>
              </a:ext>
            </a:extLst>
          </p:cNvPr>
          <p:cNvGraphicFramePr>
            <a:graphicFrameLocks noGrp="1"/>
          </p:cNvGraphicFramePr>
          <p:nvPr/>
        </p:nvGraphicFramePr>
        <p:xfrm>
          <a:off x="504394" y="808384"/>
          <a:ext cx="11164146" cy="5398723"/>
        </p:xfrm>
        <a:graphic>
          <a:graphicData uri="http://schemas.openxmlformats.org/drawingml/2006/table">
            <a:tbl>
              <a:tblPr/>
              <a:tblGrid>
                <a:gridCol w="1548778">
                  <a:extLst>
                    <a:ext uri="{9D8B030D-6E8A-4147-A177-3AD203B41FA5}">
                      <a16:colId xmlns:a16="http://schemas.microsoft.com/office/drawing/2014/main" val="1147655419"/>
                    </a:ext>
                  </a:extLst>
                </a:gridCol>
                <a:gridCol w="1247655">
                  <a:extLst>
                    <a:ext uri="{9D8B030D-6E8A-4147-A177-3AD203B41FA5}">
                      <a16:colId xmlns:a16="http://schemas.microsoft.com/office/drawing/2014/main" val="1816744179"/>
                    </a:ext>
                  </a:extLst>
                </a:gridCol>
                <a:gridCol w="941656">
                  <a:extLst>
                    <a:ext uri="{9D8B030D-6E8A-4147-A177-3AD203B41FA5}">
                      <a16:colId xmlns:a16="http://schemas.microsoft.com/office/drawing/2014/main" val="3149246043"/>
                    </a:ext>
                  </a:extLst>
                </a:gridCol>
                <a:gridCol w="3798272">
                  <a:extLst>
                    <a:ext uri="{9D8B030D-6E8A-4147-A177-3AD203B41FA5}">
                      <a16:colId xmlns:a16="http://schemas.microsoft.com/office/drawing/2014/main" val="4077608551"/>
                    </a:ext>
                  </a:extLst>
                </a:gridCol>
                <a:gridCol w="506897">
                  <a:extLst>
                    <a:ext uri="{9D8B030D-6E8A-4147-A177-3AD203B41FA5}">
                      <a16:colId xmlns:a16="http://schemas.microsoft.com/office/drawing/2014/main" val="2723619648"/>
                    </a:ext>
                  </a:extLst>
                </a:gridCol>
                <a:gridCol w="848139">
                  <a:extLst>
                    <a:ext uri="{9D8B030D-6E8A-4147-A177-3AD203B41FA5}">
                      <a16:colId xmlns:a16="http://schemas.microsoft.com/office/drawing/2014/main" val="2643841985"/>
                    </a:ext>
                  </a:extLst>
                </a:gridCol>
                <a:gridCol w="1075803">
                  <a:extLst>
                    <a:ext uri="{9D8B030D-6E8A-4147-A177-3AD203B41FA5}">
                      <a16:colId xmlns:a16="http://schemas.microsoft.com/office/drawing/2014/main" val="3308418373"/>
                    </a:ext>
                  </a:extLst>
                </a:gridCol>
                <a:gridCol w="1196946">
                  <a:extLst>
                    <a:ext uri="{9D8B030D-6E8A-4147-A177-3AD203B41FA5}">
                      <a16:colId xmlns:a16="http://schemas.microsoft.com/office/drawing/2014/main" val="3631937409"/>
                    </a:ext>
                  </a:extLst>
                </a:gridCol>
              </a:tblGrid>
              <a:tr h="382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Entity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Data Source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Periodicity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Action Item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Requested On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Requested By Date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IT Resource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383053"/>
                  </a:ext>
                </a:extLst>
              </a:tr>
              <a:tr h="2194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Elgi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India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IT Feeds from LN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to create data frames as per requirement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Vasanth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783956"/>
                  </a:ext>
                </a:extLst>
              </a:tr>
              <a:tr h="388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America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Prakash – GL session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Nicole – BRs / match sales numbers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03153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Prakash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752477"/>
                  </a:ext>
                </a:extLst>
              </a:tr>
              <a:tr h="5481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Rotair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IT Feeds from LN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to build the data feeds based on the LN procedures shared by Luca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Prakash is working on the LN procedures 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03153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Prakash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69208"/>
                  </a:ext>
                </a:extLst>
              </a:tr>
              <a:tr h="6128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Europe Industrials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IN" sz="10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option – once NA LN logic is build, replicate for Europe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IN" sz="10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nd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option – place existing files on </a:t>
                      </a: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sharepoint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and link to PBI – Vasanth 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03153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Option 1 : </a:t>
                      </a: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Prakash</a:t>
                      </a:r>
                    </a:p>
                    <a:p>
                      <a:pPr marL="72000" indent="-72000" algn="l" defTabSz="903153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Option 2 : Vasanth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192396"/>
                  </a:ext>
                </a:extLst>
              </a:tr>
              <a:tr h="388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Pulford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Navison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Dependency 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Krishna to setup connects - Dipali and Ishwetha on BRs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 parallel, Get dataset and report access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-72000" algn="l" defTabSz="903153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Steve (Dipali)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529164"/>
                  </a:ext>
                </a:extLst>
              </a:tr>
              <a:tr h="2194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Elgi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Australia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IT Feeds from LN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to create data frames as per requirement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 with Deepa – local currency vs INR ( </a:t>
                      </a: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Malaysia)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72000" indent="-72000" algn="l" defTabSz="903153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Vasanth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165760"/>
                  </a:ext>
                </a:extLst>
              </a:tr>
              <a:tr h="2194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ATS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IT Feeds from LN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66917"/>
                  </a:ext>
                </a:extLst>
              </a:tr>
              <a:tr h="2194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Brazil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IT Feeds from LN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025490"/>
                  </a:ext>
                </a:extLst>
              </a:tr>
              <a:tr h="2194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Gulf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IT Feeds from LN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082535"/>
                  </a:ext>
                </a:extLst>
              </a:tr>
              <a:tr h="2194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Indonesia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IT Feeds from LN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992351"/>
                  </a:ext>
                </a:extLst>
              </a:tr>
              <a:tr h="2194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Elgi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Malaysia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IT Feeds from LN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Daily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040477"/>
                  </a:ext>
                </a:extLst>
              </a:tr>
              <a:tr h="388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– 2 years ( Monthly)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 File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Time - </a:t>
                      </a: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BoY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to give the format for the static file – created &amp; aligned with BU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Finance to update and own refresh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Vasanth</a:t>
                      </a:r>
                      <a:endParaRPr kumimoji="0" lang="en-I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278637"/>
                  </a:ext>
                </a:extLst>
              </a:tr>
              <a:tr h="388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Forecast –  Monthly (YTD – with 3 revisions)  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 File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Monthly 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to give the format for the static file – created &amp; aligned with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Finance to update and own refresh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Vasanth</a:t>
                      </a:r>
                      <a:endParaRPr kumimoji="0" lang="en-I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924642"/>
                  </a:ext>
                </a:extLst>
              </a:tr>
              <a:tr h="382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Fx</a:t>
                      </a: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Rate Calculator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 File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Time - </a:t>
                      </a:r>
                      <a:r>
                        <a:rPr lang="en-IN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to give the format for the static file – created &amp; aligned with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Finance to update and own refresh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Vasanth</a:t>
                      </a:r>
                      <a:endParaRPr kumimoji="0" lang="en-I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952628"/>
                  </a:ext>
                </a:extLst>
              </a:tr>
              <a:tr h="382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 – User Group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 File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 Required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 to give the format for the static file – created &amp; aligned with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Finance to update and own refresh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Vasanth</a:t>
                      </a:r>
                    </a:p>
                  </a:txBody>
                  <a:tcPr marL="4763" marR="4763" marT="47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99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872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BF662C8E6B1B4FB44BD71793BD93DB" ma:contentTypeVersion="13" ma:contentTypeDescription="Create a new document." ma:contentTypeScope="" ma:versionID="513358677d6129c030b60c4b13cc02ec">
  <xsd:schema xmlns:xsd="http://www.w3.org/2001/XMLSchema" xmlns:xs="http://www.w3.org/2001/XMLSchema" xmlns:p="http://schemas.microsoft.com/office/2006/metadata/properties" xmlns:ns2="567ba4dc-eaa4-4764-9078-86fe8f265db1" xmlns:ns3="7819852d-30be-49c4-8858-6cbc4a1ff376" targetNamespace="http://schemas.microsoft.com/office/2006/metadata/properties" ma:root="true" ma:fieldsID="fc7efebb46a19e871c1e7f9a87b17625" ns2:_="" ns3:_="">
    <xsd:import namespace="567ba4dc-eaa4-4764-9078-86fe8f265db1"/>
    <xsd:import namespace="7819852d-30be-49c4-8858-6cbc4a1ff3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ProjectLea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ba4dc-eaa4-4764-9078-86fe8f265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f1a0d83-9611-4640-8550-972b60db5c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ProjectLead" ma:index="20" nillable="true" ma:displayName="Project Lead" ma:format="Dropdown" ma:list="UserInfo" ma:SharePointGroup="0" ma:internalName="ProjectLead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9852d-30be-49c4-8858-6cbc4a1ff3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b2544d4-0065-4ae2-a6d8-b9fecf82731d}" ma:internalName="TaxCatchAll" ma:showField="CatchAllData" ma:web="7819852d-30be-49c4-8858-6cbc4a1ff3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19852d-30be-49c4-8858-6cbc4a1ff376" xsi:nil="true"/>
    <lcf76f155ced4ddcb4097134ff3c332f xmlns="567ba4dc-eaa4-4764-9078-86fe8f265db1">
      <Terms xmlns="http://schemas.microsoft.com/office/infopath/2007/PartnerControls"/>
    </lcf76f155ced4ddcb4097134ff3c332f>
    <ProjectLead xmlns="567ba4dc-eaa4-4764-9078-86fe8f265db1">
      <UserInfo>
        <DisplayName/>
        <AccountId xsi:nil="true"/>
        <AccountType/>
      </UserInfo>
    </ProjectLead>
  </documentManagement>
</p:properties>
</file>

<file path=customXml/itemProps1.xml><?xml version="1.0" encoding="utf-8"?>
<ds:datastoreItem xmlns:ds="http://schemas.openxmlformats.org/officeDocument/2006/customXml" ds:itemID="{C8CB5F7A-63C7-44B7-B1AC-EA7E50CE7EED}"/>
</file>

<file path=customXml/itemProps2.xml><?xml version="1.0" encoding="utf-8"?>
<ds:datastoreItem xmlns:ds="http://schemas.openxmlformats.org/officeDocument/2006/customXml" ds:itemID="{5664770D-E9D6-4258-8084-A612FFC59C28}"/>
</file>

<file path=customXml/itemProps3.xml><?xml version="1.0" encoding="utf-8"?>
<ds:datastoreItem xmlns:ds="http://schemas.openxmlformats.org/officeDocument/2006/customXml" ds:itemID="{5A551773-13EC-4B76-BFAD-C914E2F88349}"/>
</file>

<file path=docMetadata/LabelInfo.xml><?xml version="1.0" encoding="utf-8"?>
<clbl:labelList xmlns:clbl="http://schemas.microsoft.com/office/2020/mipLabelMetadata">
  <clbl:label id="{1b5d643d-5daa-4182-b4ec-05c4e602cf56}" enabled="1" method="Privileged" siteId="{50f40674-931c-4d09-ae8a-bb8fde36b91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1462</Words>
  <Application>Microsoft Office PowerPoint</Application>
  <PresentationFormat>Widescreen</PresentationFormat>
  <Paragraphs>379</Paragraphs>
  <Slides>11</Slides>
  <Notes>3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Verdana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Raha</dc:creator>
  <cp:lastModifiedBy>Vasanth Kumar</cp:lastModifiedBy>
  <cp:revision>4</cp:revision>
  <dcterms:created xsi:type="dcterms:W3CDTF">2026-01-02T06:28:56Z</dcterms:created>
  <dcterms:modified xsi:type="dcterms:W3CDTF">2026-03-12T08:35:23Z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0x01010055BF662C8E6B1B4FB44BD71793BD93DB</vt:lpwstr>
  </property>
</Properties>
</file>